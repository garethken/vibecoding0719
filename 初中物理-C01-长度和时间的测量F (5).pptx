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2" r:id="rId2"/>
  </p:sldMasterIdLst>
  <p:notesMasterIdLst>
    <p:notesMasterId r:id="rId25"/>
  </p:notesMasterIdLst>
  <p:sldIdLst>
    <p:sldId id="256" r:id="rId3"/>
    <p:sldId id="257" r:id="rId4"/>
    <p:sldId id="258" r:id="rId5"/>
    <p:sldId id="278" r:id="rId6"/>
    <p:sldId id="277" r:id="rId7"/>
    <p:sldId id="260" r:id="rId8"/>
    <p:sldId id="279" r:id="rId9"/>
    <p:sldId id="28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31141" autoAdjust="0"/>
  </p:normalViewPr>
  <p:slideViewPr>
    <p:cSldViewPr snapToGrid="0" snapToObjects="1">
      <p:cViewPr varScale="1">
        <p:scale>
          <a:sx n="27" d="100"/>
          <a:sy n="27" d="100"/>
        </p:scale>
        <p:origin x="2232" y="36"/>
      </p:cViewPr>
      <p:guideLst/>
    </p:cSldViewPr>
  </p:slideViewPr>
  <p:notesTextViewPr>
    <p:cViewPr>
      <p:scale>
        <a:sx n="1" d="1"/>
        <a:sy n="1" d="1"/>
      </p:scale>
      <p:origin x="0" y="-1951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0614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r>
              <a:rPr lang="zh-CN" altLang="en-US" dirty="0"/>
              <a:t>同学们，请先来看几个身边的现象：</a:t>
            </a:r>
          </a:p>
          <a:p>
            <a:r>
              <a:rPr lang="zh-CN" altLang="en-US" dirty="0"/>
              <a:t>雨过天晴，天空出现彩虹；一颗苹果，从树上掉下来，总是落向地面，不会往上飞；桌上的磁铁，没有碰到铁钉，却能把它隔空吸起来；一壶水烧开了，壶口不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断冒出白气。</a:t>
            </a:r>
            <a:r>
              <a:rPr lang="en-US" altLang="zh-CN" dirty="0"/>
              <a:t>【</a:t>
            </a:r>
            <a:r>
              <a:rPr lang="zh-CN" altLang="en-US" dirty="0"/>
              <a:t>停顿一秒</a:t>
            </a:r>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你有没有想过</a:t>
            </a:r>
            <a:r>
              <a:rPr lang="zh-CN" altLang="en-US" dirty="0"/>
              <a:t>：彩虹为什么总是弯的？苹果为什么一定往下掉，不往旁边飞？磁铁为什么能隔空吸铁？水烧开了冒的那团白气，到底是什么？</a:t>
            </a:r>
            <a:endParaRPr lang="en-US" altLang="zh-CN" dirty="0"/>
          </a:p>
          <a:p>
            <a:r>
              <a:rPr lang="zh-CN" altLang="en-US" dirty="0"/>
              <a:t>这四件事，看起来一点关系都没有</a:t>
            </a:r>
            <a:r>
              <a:rPr lang="en-US" altLang="zh-CN" dirty="0"/>
              <a:t>——</a:t>
            </a:r>
            <a:r>
              <a:rPr lang="zh-CN" altLang="en-US" dirty="0"/>
              <a:t>一个天上的、一个地上的、一个是磁的、一个是热的。</a:t>
            </a:r>
          </a:p>
          <a:p>
            <a:r>
              <a:rPr lang="zh-CN" altLang="en-US" dirty="0"/>
              <a:t>这些</a:t>
            </a:r>
            <a:r>
              <a:rPr lang="en-US" altLang="zh-CN" dirty="0"/>
              <a:t>“</a:t>
            </a:r>
            <a:r>
              <a:rPr lang="zh-CN" altLang="en-US" dirty="0"/>
              <a:t>为什么</a:t>
            </a:r>
            <a:r>
              <a:rPr lang="en-US" altLang="zh-CN" dirty="0"/>
              <a:t>”</a:t>
            </a:r>
            <a:r>
              <a:rPr lang="zh-CN" altLang="en-US" dirty="0"/>
              <a:t>的背后，其实都藏着一样东西</a:t>
            </a:r>
            <a:r>
              <a:rPr lang="en-US" altLang="zh-CN" dirty="0"/>
              <a:t>——</a:t>
            </a:r>
            <a:r>
              <a:rPr lang="zh-CN" altLang="en-US" b="1" dirty="0"/>
              <a:t>规律。</a:t>
            </a:r>
            <a:r>
              <a:rPr lang="zh-CN" altLang="en-US" dirty="0"/>
              <a:t>而</a:t>
            </a:r>
            <a:r>
              <a:rPr lang="zh-CN" altLang="en-US" b="1" dirty="0"/>
              <a:t>专门研究这些规律的</a:t>
            </a:r>
            <a:r>
              <a:rPr lang="zh-CN" altLang="en-US" dirty="0"/>
              <a:t>，就是同一门学科？</a:t>
            </a:r>
          </a:p>
          <a:p>
            <a:endParaRPr lang="zh-CN" altLang="en-US" dirty="0"/>
          </a:p>
        </p:txBody>
      </p:sp>
    </p:spTree>
    <p:extLst>
      <p:ext uri="{BB962C8B-B14F-4D97-AF65-F5344CB8AC3E}">
        <p14:creationId xmlns:p14="http://schemas.microsoft.com/office/powerpoint/2010/main" val="2756981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r>
              <a:rPr lang="en-US" altLang="zh-CN" dirty="0"/>
              <a:t>“</a:t>
            </a:r>
            <a:r>
              <a:rPr lang="zh-CN" altLang="en-US" dirty="0"/>
              <a:t>声光热力电</a:t>
            </a:r>
            <a:r>
              <a:rPr lang="en-US" altLang="zh-CN" dirty="0"/>
              <a:t>”</a:t>
            </a:r>
            <a:r>
              <a:rPr lang="zh-CN" altLang="en-US" dirty="0"/>
              <a:t>是</a:t>
            </a:r>
            <a:r>
              <a:rPr lang="zh-CN" altLang="en-US" b="1" dirty="0"/>
              <a:t>现象的分类</a:t>
            </a:r>
            <a:r>
              <a:rPr lang="zh-CN" altLang="en-US" dirty="0"/>
              <a:t>，而</a:t>
            </a:r>
            <a:r>
              <a:rPr lang="en-US" altLang="zh-CN" dirty="0"/>
              <a:t>“</a:t>
            </a:r>
            <a:r>
              <a:rPr lang="zh-CN" altLang="en-US" dirty="0"/>
              <a:t>运动</a:t>
            </a:r>
            <a:r>
              <a:rPr lang="en-US" altLang="zh-CN" dirty="0"/>
              <a:t>”</a:t>
            </a:r>
            <a:r>
              <a:rPr lang="zh-CN" altLang="en-US" dirty="0"/>
              <a:t>不是一种现象，是</a:t>
            </a:r>
            <a:r>
              <a:rPr lang="zh-CN" altLang="en-US" b="1" dirty="0"/>
              <a:t>贯穿所有现象的一个视角</a:t>
            </a:r>
            <a:r>
              <a:rPr lang="zh-CN" altLang="en-US" dirty="0"/>
              <a:t>（力学里研究物体怎么动，热学里研究分子怎么动，光学里研究光怎么传播），所以运动和</a:t>
            </a:r>
            <a:r>
              <a:rPr lang="en-US" altLang="zh-CN" dirty="0"/>
              <a:t>"</a:t>
            </a:r>
            <a:r>
              <a:rPr lang="zh-CN" altLang="en-US" dirty="0"/>
              <a:t>声光热力电</a:t>
            </a:r>
            <a:r>
              <a:rPr lang="en-US" altLang="zh-CN" dirty="0"/>
              <a:t>"</a:t>
            </a:r>
            <a:r>
              <a:rPr lang="zh-CN" altLang="en-US" dirty="0"/>
              <a:t>不在一个层级上</a:t>
            </a:r>
          </a:p>
        </p:txBody>
      </p:sp>
    </p:spTree>
    <p:extLst>
      <p:ext uri="{BB962C8B-B14F-4D97-AF65-F5344CB8AC3E}">
        <p14:creationId xmlns:p14="http://schemas.microsoft.com/office/powerpoint/2010/main" val="1136571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1" dirty="0"/>
              <a:t>Ponzo</a:t>
            </a:r>
            <a:r>
              <a:rPr lang="zh-CN" altLang="en-US" b="1" dirty="0"/>
              <a:t>（庞佐错觉，</a:t>
            </a:r>
            <a:r>
              <a:rPr lang="en-US" altLang="zh-CN" b="1" dirty="0"/>
              <a:t>Ponzo illusion</a:t>
            </a:r>
            <a:r>
              <a:rPr lang="zh-CN" altLang="en-US" b="1" dirty="0"/>
              <a:t>）是一种经典的视觉错觉</a:t>
            </a:r>
            <a:r>
              <a:rPr lang="zh-CN" altLang="en-US" dirty="0"/>
              <a:t>，说明人的大脑会利用</a:t>
            </a:r>
            <a:r>
              <a:rPr lang="zh-CN" altLang="en-US" b="1" dirty="0"/>
              <a:t>周围环境线索来判断物体的大小和距离</a:t>
            </a:r>
            <a:r>
              <a:rPr lang="zh-CN" altLang="en-US" dirty="0"/>
              <a:t>。</a:t>
            </a:r>
          </a:p>
          <a:p>
            <a:endParaRPr lang="zh-CN" altLang="en-US" dirty="0"/>
          </a:p>
        </p:txBody>
      </p:sp>
    </p:spTree>
    <p:extLst>
      <p:ext uri="{BB962C8B-B14F-4D97-AF65-F5344CB8AC3E}">
        <p14:creationId xmlns:p14="http://schemas.microsoft.com/office/powerpoint/2010/main" val="4068101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备注占位符 2"/>
          <p:cNvSpPr>
            <a:spLocks noGrp="1"/>
          </p:cNvSpPr>
          <p:nvPr>
            <p:ph type="body" idx="1"/>
          </p:nvPr>
        </p:nvSpPr>
        <p:spPr>
          <a:xfrm>
            <a:off x="514350" y="4400550"/>
            <a:ext cx="4114800" cy="3600450"/>
          </a:xfrm>
          <a:prstGeom prst="rect">
            <a:avLst/>
          </a:prstGeom>
        </p:spPr>
        <p:txBody>
          <a:bodyPr/>
          <a:lstStyle/>
          <a:p>
            <a:r>
              <a:rPr lang="zh-CN" altLang="en-US" b="1" dirty="0"/>
              <a:t>第一次：</a:t>
            </a:r>
            <a:r>
              <a:rPr lang="en-US" altLang="zh-CN" b="1" dirty="0"/>
              <a:t>1791 </a:t>
            </a:r>
            <a:r>
              <a:rPr lang="zh-CN" altLang="en-US" b="1" dirty="0"/>
              <a:t>年 </a:t>
            </a:r>
            <a:r>
              <a:rPr lang="en-US" altLang="zh-CN" b="1" dirty="0"/>
              <a:t>—— </a:t>
            </a:r>
            <a:r>
              <a:rPr lang="zh-CN" altLang="en-US" b="1" dirty="0"/>
              <a:t>用地球定义</a:t>
            </a:r>
          </a:p>
          <a:p>
            <a:r>
              <a:rPr lang="zh-CN" altLang="en-US" b="1" dirty="0"/>
              <a:t>精确表述</a:t>
            </a:r>
            <a:r>
              <a:rPr lang="zh-CN" altLang="en-US" dirty="0"/>
              <a:t>：</a:t>
            </a:r>
            <a:r>
              <a:rPr lang="en-US" altLang="zh-CN" dirty="0"/>
              <a:t>1 </a:t>
            </a:r>
            <a:r>
              <a:rPr lang="zh-CN" altLang="en-US" dirty="0"/>
              <a:t>米 </a:t>
            </a:r>
            <a:r>
              <a:rPr lang="en-US" altLang="zh-CN" dirty="0"/>
              <a:t>= </a:t>
            </a:r>
            <a:r>
              <a:rPr lang="zh-CN" altLang="en-US" dirty="0"/>
              <a:t>通过巴黎的</a:t>
            </a:r>
            <a:r>
              <a:rPr lang="zh-CN" altLang="en-US" b="1" dirty="0"/>
              <a:t>子午线</a:t>
            </a:r>
            <a:r>
              <a:rPr lang="zh-CN" altLang="en-US" dirty="0"/>
              <a:t>，从</a:t>
            </a:r>
            <a:r>
              <a:rPr lang="zh-CN" altLang="en-US" b="1" dirty="0"/>
              <a:t>北极点到赤道</a:t>
            </a:r>
            <a:r>
              <a:rPr lang="zh-CN" altLang="en-US" dirty="0"/>
              <a:t>这段弧长的</a:t>
            </a:r>
            <a:r>
              <a:rPr lang="zh-CN" altLang="en-US" b="1" dirty="0"/>
              <a:t>一千万分之一</a:t>
            </a:r>
            <a:r>
              <a:rPr lang="zh-CN" altLang="en-US" dirty="0"/>
              <a:t>。</a:t>
            </a:r>
          </a:p>
          <a:p>
            <a:r>
              <a:rPr lang="zh-CN" altLang="en-US" b="1" dirty="0"/>
              <a:t>背景</a:t>
            </a:r>
            <a:r>
              <a:rPr lang="zh-CN" altLang="en-US" dirty="0"/>
              <a:t>：法国大革命时期，科学家想造一个</a:t>
            </a:r>
            <a:r>
              <a:rPr lang="en-US" altLang="zh-CN" dirty="0"/>
              <a:t>"</a:t>
            </a:r>
            <a:r>
              <a:rPr lang="zh-CN" altLang="en-US" dirty="0"/>
              <a:t>属于全人类、不属于任何国王</a:t>
            </a:r>
            <a:r>
              <a:rPr lang="en-US" altLang="zh-CN" dirty="0"/>
              <a:t>"</a:t>
            </a:r>
            <a:r>
              <a:rPr lang="zh-CN" altLang="en-US" dirty="0"/>
              <a:t>的单位，于是选了地球本身</a:t>
            </a:r>
            <a:r>
              <a:rPr lang="en-US" altLang="zh-CN" dirty="0"/>
              <a:t>——</a:t>
            </a:r>
            <a:r>
              <a:rPr lang="zh-CN" altLang="en-US" dirty="0"/>
              <a:t>因为地球</a:t>
            </a:r>
            <a:r>
              <a:rPr lang="en-US" altLang="zh-CN" dirty="0"/>
              <a:t>"</a:t>
            </a:r>
            <a:r>
              <a:rPr lang="zh-CN" altLang="en-US" dirty="0"/>
              <a:t>人人都有份</a:t>
            </a:r>
            <a:r>
              <a:rPr lang="en-US" altLang="zh-CN" dirty="0"/>
              <a:t>"</a:t>
            </a:r>
            <a:r>
              <a:rPr lang="zh-CN" altLang="en-US" dirty="0"/>
              <a:t>。他们派测量队实地测量了法国敦刻尔克到西班牙巴塞罗那的一段子午线弧长，再推算出整条子午线，取千万分之一。</a:t>
            </a:r>
          </a:p>
          <a:p>
            <a:r>
              <a:rPr lang="zh-CN" altLang="en-US" b="1" dirty="0"/>
              <a:t>为什么后来不用了</a:t>
            </a:r>
            <a:r>
              <a:rPr lang="zh-CN" altLang="en-US" dirty="0"/>
              <a:t>：</a:t>
            </a:r>
          </a:p>
          <a:p>
            <a:r>
              <a:rPr lang="zh-CN" altLang="en-US" dirty="0"/>
              <a:t>地球</a:t>
            </a:r>
            <a:r>
              <a:rPr lang="zh-CN" altLang="en-US" b="1" dirty="0"/>
              <a:t>根本不是完美的球</a:t>
            </a:r>
            <a:r>
              <a:rPr lang="zh-CN" altLang="en-US" dirty="0"/>
              <a:t>，子午线长度各处略有差异，测量本身有误差</a:t>
            </a:r>
          </a:p>
          <a:p>
            <a:r>
              <a:rPr lang="zh-CN" altLang="en-US" dirty="0"/>
              <a:t>你没法把</a:t>
            </a:r>
            <a:r>
              <a:rPr lang="en-US" altLang="zh-CN" dirty="0"/>
              <a:t>"</a:t>
            </a:r>
            <a:r>
              <a:rPr lang="zh-CN" altLang="en-US" dirty="0"/>
              <a:t>地球的四千万分之一</a:t>
            </a:r>
            <a:r>
              <a:rPr lang="en-US" altLang="zh-CN" dirty="0"/>
              <a:t>"</a:t>
            </a:r>
            <a:r>
              <a:rPr lang="zh-CN" altLang="en-US" dirty="0"/>
              <a:t>随身带着用，实际使用还得靠复制品</a:t>
            </a:r>
          </a:p>
          <a:p>
            <a:r>
              <a:rPr lang="zh-CN" altLang="en-US" dirty="0"/>
              <a:t>后来发现当年的测量结果有约 </a:t>
            </a:r>
            <a:r>
              <a:rPr lang="en-US" altLang="zh-CN" dirty="0"/>
              <a:t>0.2 </a:t>
            </a:r>
            <a:r>
              <a:rPr lang="zh-CN" altLang="en-US" dirty="0"/>
              <a:t>毫米的偏差</a:t>
            </a:r>
          </a:p>
          <a:p>
            <a:r>
              <a:rPr lang="zh-CN" altLang="en-US" dirty="0"/>
              <a:t>上课可讲的点：</a:t>
            </a:r>
            <a:r>
              <a:rPr lang="en-US" altLang="zh-CN" dirty="0"/>
              <a:t>"</a:t>
            </a:r>
            <a:r>
              <a:rPr lang="zh-CN" altLang="en-US" dirty="0"/>
              <a:t>他们想找一个最公平、最大的东西当尺子</a:t>
            </a:r>
            <a:r>
              <a:rPr lang="en-US" altLang="zh-CN" dirty="0"/>
              <a:t>——</a:t>
            </a:r>
            <a:r>
              <a:rPr lang="zh-CN" altLang="en-US" dirty="0"/>
              <a:t>结果选了地球。想法很浪漫，但地球其实量不准。</a:t>
            </a:r>
            <a:r>
              <a:rPr lang="en-US" altLang="zh-CN" dirty="0"/>
              <a:t>"</a:t>
            </a:r>
          </a:p>
          <a:p>
            <a:endParaRPr lang="en-US" altLang="zh-CN" dirty="0"/>
          </a:p>
          <a:p>
            <a:r>
              <a:rPr lang="zh-CN" altLang="en-US" dirty="0">
                <a:effectLst/>
              </a:rPr>
              <a:t>改下我看看</a:t>
            </a:r>
          </a:p>
          <a:p>
            <a:r>
              <a:rPr lang="zh-CN" altLang="en-US" dirty="0">
                <a:effectLst/>
              </a:rPr>
              <a:t>好，把上面 </a:t>
            </a:r>
            <a:r>
              <a:rPr lang="en-US" altLang="zh-CN" dirty="0">
                <a:effectLst/>
              </a:rPr>
              <a:t>5 </a:t>
            </a:r>
            <a:r>
              <a:rPr lang="zh-CN" altLang="en-US" dirty="0">
                <a:effectLst/>
              </a:rPr>
              <a:t>处都改了。</a:t>
            </a:r>
          </a:p>
          <a:p>
            <a:r>
              <a:rPr lang="en-US" altLang="zh-CN" dirty="0">
                <a:effectLst/>
              </a:rPr>
              <a:t>Enumerate exact runs on slides 3,4,5</a:t>
            </a:r>
          </a:p>
          <a:p>
            <a:r>
              <a:rPr lang="en-US" altLang="zh-CN" dirty="0">
                <a:effectLst/>
              </a:rPr>
              <a:t>Enumerate exact runs on slides 3,4,5</a:t>
            </a:r>
          </a:p>
          <a:p>
            <a:r>
              <a:rPr lang="zh-CN" altLang="en-US" dirty="0">
                <a:effectLst/>
              </a:rPr>
              <a:t>现在我看清楚了每一处 </a:t>
            </a:r>
            <a:r>
              <a:rPr lang="en-US" altLang="zh-CN" dirty="0">
                <a:effectLst/>
              </a:rPr>
              <a:t>run</a:t>
            </a:r>
            <a:r>
              <a:rPr lang="zh-CN" altLang="en-US" dirty="0">
                <a:effectLst/>
              </a:rPr>
              <a:t>。开始改：</a:t>
            </a:r>
          </a:p>
          <a:p>
            <a:r>
              <a:rPr lang="en-US" altLang="zh-CN" dirty="0">
                <a:effectLst/>
              </a:rPr>
              <a:t>Apply all 5 fixes surgically</a:t>
            </a:r>
          </a:p>
          <a:p>
            <a:r>
              <a:rPr lang="en-US" altLang="zh-CN" dirty="0">
                <a:effectLst/>
              </a:rPr>
              <a:t>Apply all 5 fixes surgically</a:t>
            </a:r>
          </a:p>
          <a:p>
            <a:r>
              <a:rPr lang="zh-CN" altLang="en-US" dirty="0">
                <a:effectLst/>
              </a:rPr>
              <a:t>所有 </a:t>
            </a:r>
            <a:r>
              <a:rPr lang="en-US" altLang="zh-CN" dirty="0">
                <a:effectLst/>
              </a:rPr>
              <a:t>5 </a:t>
            </a:r>
            <a:r>
              <a:rPr lang="zh-CN" altLang="en-US" dirty="0">
                <a:effectLst/>
              </a:rPr>
              <a:t>处都改好了，通过校验。渲染 </a:t>
            </a:r>
            <a:r>
              <a:rPr lang="en-US" altLang="zh-CN" dirty="0">
                <a:effectLst/>
              </a:rPr>
              <a:t>QA </a:t>
            </a:r>
            <a:r>
              <a:rPr lang="zh-CN" altLang="en-US" dirty="0">
                <a:effectLst/>
              </a:rPr>
              <a:t>三页看效果。</a:t>
            </a:r>
          </a:p>
          <a:p>
            <a:r>
              <a:rPr lang="en-US" altLang="zh-CN" dirty="0">
                <a:effectLst/>
              </a:rPr>
              <a:t>Ran 2 commands, viewed a file</a:t>
            </a:r>
          </a:p>
          <a:p>
            <a:r>
              <a:rPr lang="en-US" altLang="zh-CN" dirty="0">
                <a:effectLst/>
              </a:rPr>
              <a:t>Ran 2 commands, viewed a file</a:t>
            </a:r>
          </a:p>
          <a:p>
            <a:r>
              <a:rPr lang="zh-CN" altLang="en-US" dirty="0">
                <a:effectLst/>
              </a:rPr>
              <a:t>全部改到位：</a:t>
            </a:r>
          </a:p>
          <a:p>
            <a:r>
              <a:rPr lang="en-US" altLang="zh-CN" b="1" dirty="0">
                <a:effectLst/>
              </a:rPr>
              <a:t>P3</a:t>
            </a:r>
            <a:r>
              <a:rPr lang="zh-CN" altLang="en-US" dirty="0">
                <a:effectLst/>
              </a:rPr>
              <a:t>：定义收在</a:t>
            </a:r>
            <a:r>
              <a:rPr lang="en-US" altLang="zh-CN" dirty="0">
                <a:effectLst/>
              </a:rPr>
              <a:t>"</a:t>
            </a:r>
            <a:r>
              <a:rPr lang="zh-CN" altLang="en-US" dirty="0">
                <a:effectLst/>
              </a:rPr>
              <a:t>涉及声光热力电等自然现象</a:t>
            </a:r>
            <a:r>
              <a:rPr lang="en-US" altLang="zh-CN" dirty="0">
                <a:effectLst/>
              </a:rPr>
              <a:t>"</a:t>
            </a:r>
            <a:r>
              <a:rPr lang="zh-CN" altLang="en-US" dirty="0">
                <a:effectLst/>
              </a:rPr>
              <a:t>；映射卡片只剩 </a:t>
            </a:r>
            <a:r>
              <a:rPr lang="en-US" altLang="zh-CN" dirty="0">
                <a:effectLst/>
              </a:rPr>
              <a:t>4 </a:t>
            </a:r>
            <a:r>
              <a:rPr lang="zh-CN" altLang="en-US" dirty="0">
                <a:effectLst/>
              </a:rPr>
              <a:t>个（彩虹</a:t>
            </a:r>
            <a:r>
              <a:rPr lang="en-US" altLang="zh-CN" dirty="0">
                <a:effectLst/>
              </a:rPr>
              <a:t>/</a:t>
            </a:r>
            <a:r>
              <a:rPr lang="zh-CN" altLang="en-US" dirty="0">
                <a:effectLst/>
              </a:rPr>
              <a:t>苹果</a:t>
            </a:r>
            <a:r>
              <a:rPr lang="en-US" altLang="zh-CN" dirty="0">
                <a:effectLst/>
              </a:rPr>
              <a:t>/</a:t>
            </a:r>
            <a:r>
              <a:rPr lang="zh-CN" altLang="en-US" dirty="0">
                <a:effectLst/>
              </a:rPr>
              <a:t>磁铁</a:t>
            </a:r>
            <a:r>
              <a:rPr lang="en-US" altLang="zh-CN" dirty="0">
                <a:effectLst/>
              </a:rPr>
              <a:t>/</a:t>
            </a:r>
            <a:r>
              <a:rPr lang="zh-CN" altLang="en-US" dirty="0">
                <a:effectLst/>
              </a:rPr>
              <a:t>水开），去掉了</a:t>
            </a:r>
            <a:r>
              <a:rPr lang="en-US" altLang="zh-CN" dirty="0">
                <a:effectLst/>
              </a:rPr>
              <a:t>"</a:t>
            </a:r>
            <a:r>
              <a:rPr lang="zh-CN" altLang="en-US" dirty="0">
                <a:effectLst/>
              </a:rPr>
              <a:t>回声</a:t>
            </a:r>
            <a:r>
              <a:rPr lang="en-US" altLang="zh-CN" dirty="0">
                <a:effectLst/>
              </a:rPr>
              <a:t>"</a:t>
            </a:r>
            <a:r>
              <a:rPr lang="zh-CN" altLang="en-US" dirty="0">
                <a:effectLst/>
              </a:rPr>
              <a:t>这个 </a:t>
            </a:r>
            <a:r>
              <a:rPr lang="en-US" altLang="zh-CN" dirty="0">
                <a:effectLst/>
              </a:rPr>
              <a:t>P2 </a:t>
            </a:r>
            <a:r>
              <a:rPr lang="zh-CN" altLang="en-US" dirty="0">
                <a:effectLst/>
              </a:rPr>
              <a:t>没铺垫过的多余项。</a:t>
            </a:r>
          </a:p>
          <a:p>
            <a:r>
              <a:rPr lang="en-US" altLang="zh-CN" b="1" dirty="0">
                <a:effectLst/>
              </a:rPr>
              <a:t>P4</a:t>
            </a:r>
            <a:r>
              <a:rPr lang="zh-CN" altLang="en-US" dirty="0">
                <a:effectLst/>
              </a:rPr>
              <a:t>：两位科学家名下多了红色小标签</a:t>
            </a:r>
            <a:r>
              <a:rPr lang="en-US" altLang="zh-CN" dirty="0">
                <a:effectLst/>
              </a:rPr>
              <a:t>"</a:t>
            </a:r>
            <a:r>
              <a:rPr lang="zh-CN" altLang="en-US" dirty="0">
                <a:effectLst/>
              </a:rPr>
              <a:t>力学</a:t>
            </a:r>
            <a:r>
              <a:rPr lang="en-US" altLang="zh-CN" dirty="0">
                <a:effectLst/>
              </a:rPr>
              <a:t>""</a:t>
            </a:r>
            <a:r>
              <a:rPr lang="zh-CN" altLang="en-US" dirty="0">
                <a:effectLst/>
              </a:rPr>
              <a:t>电学</a:t>
            </a:r>
            <a:r>
              <a:rPr lang="en-US" altLang="zh-CN" dirty="0">
                <a:effectLst/>
              </a:rPr>
              <a:t>"</a:t>
            </a:r>
            <a:r>
              <a:rPr lang="zh-CN" altLang="en-US" dirty="0">
                <a:effectLst/>
              </a:rPr>
              <a:t>，跟 </a:t>
            </a:r>
            <a:r>
              <a:rPr lang="en-US" altLang="zh-CN" dirty="0">
                <a:effectLst/>
              </a:rPr>
              <a:t>P3 </a:t>
            </a:r>
            <a:r>
              <a:rPr lang="zh-CN" altLang="en-US" dirty="0">
                <a:effectLst/>
              </a:rPr>
              <a:t>的分支形成呼应；四个 </a:t>
            </a:r>
            <a:r>
              <a:rPr lang="en-US" altLang="zh-CN" dirty="0">
                <a:effectLst/>
              </a:rPr>
              <a:t>tofu </a:t>
            </a:r>
            <a:r>
              <a:rPr lang="zh-CN" altLang="en-US" dirty="0">
                <a:effectLst/>
              </a:rPr>
              <a:t>修复项（重</a:t>
            </a:r>
            <a:r>
              <a:rPr lang="en-US" altLang="zh-CN" dirty="0">
                <a:effectLst/>
              </a:rPr>
              <a:t>/</a:t>
            </a:r>
            <a:r>
              <a:rPr lang="zh-CN" altLang="en-US" dirty="0">
                <a:effectLst/>
              </a:rPr>
              <a:t>轻</a:t>
            </a:r>
            <a:r>
              <a:rPr lang="en-US" altLang="zh-CN" dirty="0">
                <a:effectLst/>
              </a:rPr>
              <a:t>/</a:t>
            </a:r>
            <a:r>
              <a:rPr lang="zh-CN" altLang="en-US" dirty="0">
                <a:effectLst/>
              </a:rPr>
              <a:t>同时落地</a:t>
            </a:r>
            <a:r>
              <a:rPr lang="en-US" altLang="zh-CN" dirty="0">
                <a:effectLst/>
              </a:rPr>
              <a:t>/</a:t>
            </a:r>
            <a:r>
              <a:rPr lang="zh-CN" altLang="en-US" dirty="0">
                <a:effectLst/>
              </a:rPr>
              <a:t>欧姆定律）都在。</a:t>
            </a:r>
          </a:p>
          <a:p>
            <a:r>
              <a:rPr lang="en-US" altLang="zh-CN" b="1" dirty="0">
                <a:effectLst/>
              </a:rPr>
              <a:t>P5</a:t>
            </a:r>
            <a:r>
              <a:rPr lang="zh-CN" altLang="en-US" dirty="0">
                <a:effectLst/>
              </a:rPr>
              <a:t>：提问改成</a:t>
            </a:r>
            <a:r>
              <a:rPr lang="en-US" altLang="zh-CN" dirty="0">
                <a:effectLst/>
              </a:rPr>
              <a:t>"A </a:t>
            </a:r>
            <a:r>
              <a:rPr lang="zh-CN" altLang="en-US" dirty="0">
                <a:effectLst/>
              </a:rPr>
              <a:t>和 </a:t>
            </a:r>
            <a:r>
              <a:rPr lang="en-US" altLang="zh-CN" dirty="0">
                <a:effectLst/>
              </a:rPr>
              <a:t>B</a:t>
            </a:r>
            <a:r>
              <a:rPr lang="zh-CN" altLang="en-US" dirty="0">
                <a:effectLst/>
              </a:rPr>
              <a:t>，哪个圆更大？</a:t>
            </a:r>
            <a:r>
              <a:rPr lang="en-US" altLang="zh-CN" dirty="0">
                <a:effectLst/>
              </a:rPr>
              <a:t>"</a:t>
            </a:r>
            <a:r>
              <a:rPr lang="zh-CN" altLang="en-US" dirty="0">
                <a:effectLst/>
              </a:rPr>
              <a:t>；收束改成</a:t>
            </a:r>
            <a:r>
              <a:rPr lang="en-US" altLang="zh-CN" dirty="0">
                <a:effectLst/>
              </a:rPr>
              <a:t>"</a:t>
            </a:r>
            <a:r>
              <a:rPr lang="zh-CN" altLang="en-US" dirty="0">
                <a:effectLst/>
              </a:rPr>
              <a:t>其实一样大！</a:t>
            </a:r>
            <a:r>
              <a:rPr lang="en-US" altLang="zh-CN" dirty="0">
                <a:effectLst/>
              </a:rPr>
              <a:t>"</a:t>
            </a:r>
            <a:r>
              <a:rPr lang="zh-CN" altLang="en-US" dirty="0">
                <a:effectLst/>
              </a:rPr>
              <a:t>；最后一句直接</a:t>
            </a:r>
            <a:r>
              <a:rPr lang="en-US" altLang="zh-CN" dirty="0">
                <a:effectLst/>
              </a:rPr>
              <a:t>"</a:t>
            </a:r>
            <a:r>
              <a:rPr lang="zh-CN" altLang="en-US" dirty="0">
                <a:effectLst/>
              </a:rPr>
              <a:t>感觉不可靠→测量</a:t>
            </a:r>
            <a:r>
              <a:rPr lang="en-US" altLang="zh-CN" dirty="0">
                <a:effectLst/>
              </a:rPr>
              <a:t>"</a:t>
            </a:r>
            <a:r>
              <a:rPr lang="zh-CN" altLang="en-US" dirty="0">
                <a:effectLst/>
              </a:rPr>
              <a:t>，不再绕道实验。</a:t>
            </a:r>
          </a:p>
          <a:p>
            <a:r>
              <a:rPr lang="en-US" altLang="zh-CN" dirty="0">
                <a:effectLst/>
              </a:rPr>
              <a:t>Ran 2 commands, viewed a file</a:t>
            </a:r>
          </a:p>
          <a:p>
            <a:r>
              <a:rPr lang="en-US" altLang="zh-CN" dirty="0">
                <a:effectLst/>
              </a:rPr>
              <a:t>Ran 2 commands, viewed a file</a:t>
            </a:r>
          </a:p>
          <a:p>
            <a:r>
              <a:rPr lang="zh-CN" altLang="en-US" dirty="0">
                <a:effectLst/>
              </a:rPr>
              <a:t>果然</a:t>
            </a:r>
            <a:r>
              <a:rPr lang="en-US" altLang="zh-CN" dirty="0">
                <a:effectLst/>
              </a:rPr>
              <a:t>——</a:t>
            </a:r>
            <a:r>
              <a:rPr lang="zh-CN" altLang="en-US" dirty="0">
                <a:effectLst/>
              </a:rPr>
              <a:t>去掉第 </a:t>
            </a:r>
            <a:r>
              <a:rPr lang="en-US" altLang="zh-CN" dirty="0">
                <a:effectLst/>
              </a:rPr>
              <a:t>5 </a:t>
            </a:r>
            <a:r>
              <a:rPr lang="zh-CN" altLang="en-US" dirty="0">
                <a:effectLst/>
              </a:rPr>
              <a:t>张卡后，剩下 </a:t>
            </a:r>
            <a:r>
              <a:rPr lang="en-US" altLang="zh-CN" dirty="0">
                <a:effectLst/>
              </a:rPr>
              <a:t>4 </a:t>
            </a:r>
            <a:r>
              <a:rPr lang="zh-CN" altLang="en-US" dirty="0">
                <a:effectLst/>
              </a:rPr>
              <a:t>张明显偏左（左边 </a:t>
            </a:r>
            <a:r>
              <a:rPr lang="en-US" altLang="zh-CN" dirty="0">
                <a:effectLst/>
              </a:rPr>
              <a:t>0.67 </a:t>
            </a:r>
            <a:r>
              <a:rPr lang="zh-CN" altLang="en-US" dirty="0">
                <a:effectLst/>
              </a:rPr>
              <a:t>英寸边距，右边 </a:t>
            </a:r>
            <a:r>
              <a:rPr lang="en-US" altLang="zh-CN" dirty="0">
                <a:effectLst/>
              </a:rPr>
              <a:t>2.43 </a:t>
            </a:r>
            <a:r>
              <a:rPr lang="zh-CN" altLang="en-US" dirty="0">
                <a:effectLst/>
              </a:rPr>
              <a:t>英寸边距）。让我把 </a:t>
            </a:r>
            <a:r>
              <a:rPr lang="en-US" altLang="zh-CN" dirty="0">
                <a:effectLst/>
              </a:rPr>
              <a:t>4 </a:t>
            </a:r>
            <a:r>
              <a:rPr lang="zh-CN" altLang="en-US" dirty="0">
                <a:effectLst/>
              </a:rPr>
              <a:t>张卡整体右移居中。</a:t>
            </a:r>
          </a:p>
          <a:p>
            <a:r>
              <a:rPr lang="en-US" altLang="zh-CN" dirty="0">
                <a:effectLst/>
              </a:rPr>
              <a:t>Center 4 mapping cards horizontally</a:t>
            </a:r>
          </a:p>
          <a:p>
            <a:r>
              <a:rPr lang="en-US" altLang="zh-CN" dirty="0">
                <a:effectLst/>
              </a:rPr>
              <a:t>Center 4 mapping cards horizontally</a:t>
            </a:r>
          </a:p>
          <a:p>
            <a:r>
              <a:rPr lang="zh-CN" altLang="en-US" dirty="0">
                <a:effectLst/>
              </a:rPr>
              <a:t>只搬了 </a:t>
            </a:r>
            <a:r>
              <a:rPr lang="en-US" altLang="zh-CN" dirty="0">
                <a:effectLst/>
              </a:rPr>
              <a:t>8 </a:t>
            </a:r>
            <a:r>
              <a:rPr lang="zh-CN" altLang="en-US" dirty="0">
                <a:effectLst/>
              </a:rPr>
              <a:t>个（</a:t>
            </a:r>
            <a:r>
              <a:rPr lang="en-US" altLang="zh-CN" dirty="0">
                <a:effectLst/>
              </a:rPr>
              <a:t>4 </a:t>
            </a:r>
            <a:r>
              <a:rPr lang="zh-CN" altLang="en-US" dirty="0">
                <a:effectLst/>
              </a:rPr>
              <a:t>张卡的文字），没搬到卡片背景色块。让我检查一下 </a:t>
            </a:r>
            <a:r>
              <a:rPr lang="en-US" altLang="zh-CN" dirty="0">
                <a:effectLst/>
              </a:rPr>
              <a:t>—— </a:t>
            </a:r>
            <a:r>
              <a:rPr lang="zh-CN" altLang="en-US" dirty="0">
                <a:effectLst/>
              </a:rPr>
              <a:t>可能是背景 </a:t>
            </a:r>
            <a:r>
              <a:rPr lang="en-US" altLang="zh-CN" dirty="0" err="1">
                <a:effectLst/>
              </a:rPr>
              <a:t>rect</a:t>
            </a:r>
            <a:r>
              <a:rPr lang="en-US" altLang="zh-CN" dirty="0">
                <a:effectLst/>
              </a:rPr>
              <a:t> </a:t>
            </a:r>
            <a:r>
              <a:rPr lang="zh-CN" altLang="en-US" dirty="0">
                <a:effectLst/>
              </a:rPr>
              <a:t>的位置判定不够宽松。</a:t>
            </a:r>
          </a:p>
          <a:p>
            <a:r>
              <a:rPr lang="en-US" altLang="zh-CN" dirty="0">
                <a:effectLst/>
              </a:rPr>
              <a:t>Diagnose slide 3 shape layout</a:t>
            </a:r>
          </a:p>
          <a:p>
            <a:r>
              <a:rPr lang="en-US" altLang="zh-CN" dirty="0">
                <a:effectLst/>
              </a:rPr>
              <a:t>Diagnose slide 3 shape layout</a:t>
            </a:r>
          </a:p>
          <a:p>
            <a:r>
              <a:rPr lang="zh-CN" altLang="en-US" dirty="0">
                <a:effectLst/>
              </a:rPr>
              <a:t>问题定位：</a:t>
            </a:r>
          </a:p>
          <a:p>
            <a:r>
              <a:rPr lang="zh-CN" altLang="en-US" dirty="0">
                <a:effectLst/>
              </a:rPr>
              <a:t>文字已经搬了（</a:t>
            </a:r>
            <a:r>
              <a:rPr lang="zh-CN" altLang="en-US" sz="1200" kern="1200" dirty="0">
                <a:solidFill>
                  <a:schemeClr val="tx1"/>
                </a:solidFill>
                <a:effectLst/>
                <a:latin typeface="+mn-lt"/>
                <a:ea typeface="+mn-ea"/>
                <a:cs typeface="+mn-cs"/>
              </a:rPr>
              <a:t>彩虹</a:t>
            </a:r>
            <a:r>
              <a:rPr lang="zh-CN" altLang="en-US" dirty="0">
                <a:effectLst/>
              </a:rPr>
              <a:t> 从 </a:t>
            </a:r>
            <a:r>
              <a:rPr lang="en-US" altLang="zh-CN" dirty="0">
                <a:effectLst/>
              </a:rPr>
              <a:t>0.67→1.55 ✓</a:t>
            </a:r>
            <a:r>
              <a:rPr lang="zh-CN" altLang="en-US" dirty="0">
                <a:effectLst/>
              </a:rPr>
              <a:t>）但</a:t>
            </a:r>
            <a:r>
              <a:rPr lang="zh-CN" altLang="en-US" b="1" dirty="0">
                <a:effectLst/>
              </a:rPr>
              <a:t>背景 </a:t>
            </a:r>
            <a:r>
              <a:rPr lang="en-US" altLang="zh-CN" b="1" dirty="0" err="1">
                <a:effectLst/>
              </a:rPr>
              <a:t>rect</a:t>
            </a:r>
            <a:r>
              <a:rPr lang="en-US" altLang="zh-CN" b="1" dirty="0">
                <a:effectLst/>
              </a:rPr>
              <a:t> </a:t>
            </a:r>
            <a:r>
              <a:rPr lang="zh-CN" altLang="en-US" b="1" dirty="0">
                <a:effectLst/>
              </a:rPr>
              <a:t>还留在原位</a:t>
            </a:r>
            <a:r>
              <a:rPr lang="zh-CN" altLang="en-US" dirty="0">
                <a:effectLst/>
              </a:rPr>
              <a:t>（</a:t>
            </a:r>
            <a:r>
              <a:rPr lang="en-US" altLang="zh-CN" sz="1200" kern="1200" dirty="0">
                <a:solidFill>
                  <a:schemeClr val="tx1"/>
                </a:solidFill>
                <a:effectLst/>
                <a:latin typeface="+mn-lt"/>
                <a:ea typeface="+mn-ea"/>
                <a:cs typeface="+mn-cs"/>
              </a:rPr>
              <a:t>Rounded Rectangle 6</a:t>
            </a:r>
            <a:r>
              <a:rPr lang="en-US" altLang="zh-CN" dirty="0">
                <a:effectLst/>
              </a:rPr>
              <a:t> </a:t>
            </a:r>
            <a:r>
              <a:rPr lang="zh-CN" altLang="en-US" dirty="0">
                <a:effectLst/>
              </a:rPr>
              <a:t>还在 </a:t>
            </a:r>
            <a:r>
              <a:rPr lang="en-US" altLang="zh-CN" dirty="0">
                <a:effectLst/>
              </a:rPr>
              <a:t>L=0.67</a:t>
            </a:r>
            <a:r>
              <a:rPr lang="zh-CN" altLang="en-US" dirty="0">
                <a:effectLst/>
              </a:rPr>
              <a:t>）</a:t>
            </a:r>
          </a:p>
          <a:p>
            <a:r>
              <a:rPr lang="zh-CN" altLang="en-US" dirty="0">
                <a:effectLst/>
              </a:rPr>
              <a:t>有一个</a:t>
            </a:r>
            <a:r>
              <a:rPr lang="zh-CN" altLang="en-US" b="1" dirty="0">
                <a:effectLst/>
              </a:rPr>
              <a:t>孤儿 </a:t>
            </a:r>
            <a:r>
              <a:rPr lang="en-US" altLang="zh-CN" b="1" dirty="0" err="1">
                <a:effectLst/>
              </a:rPr>
              <a:t>rect</a:t>
            </a:r>
            <a:r>
              <a:rPr lang="en-US" altLang="zh-CN" dirty="0">
                <a:effectLst/>
              </a:rPr>
              <a:t> </a:t>
            </a:r>
            <a:r>
              <a:rPr lang="en-US" altLang="zh-CN" sz="1200" kern="1200" dirty="0">
                <a:solidFill>
                  <a:schemeClr val="tx1"/>
                </a:solidFill>
                <a:effectLst/>
                <a:latin typeface="+mn-lt"/>
                <a:ea typeface="+mn-ea"/>
                <a:cs typeface="+mn-cs"/>
              </a:rPr>
              <a:t>#17</a:t>
            </a:r>
            <a:r>
              <a:rPr lang="en-US" altLang="zh-CN" dirty="0">
                <a:effectLst/>
              </a:rPr>
              <a:t> </a:t>
            </a:r>
            <a:r>
              <a:rPr lang="zh-CN" altLang="en-US" dirty="0">
                <a:effectLst/>
              </a:rPr>
              <a:t>在 </a:t>
            </a:r>
            <a:r>
              <a:rPr lang="en-US" altLang="zh-CN" dirty="0">
                <a:effectLst/>
              </a:rPr>
              <a:t>L=7.71</a:t>
            </a:r>
            <a:r>
              <a:rPr lang="zh-CN" altLang="en-US" dirty="0">
                <a:effectLst/>
              </a:rPr>
              <a:t>（原本 </a:t>
            </a:r>
            <a:r>
              <a:rPr lang="en-US" altLang="zh-CN" dirty="0">
                <a:effectLst/>
              </a:rPr>
              <a:t>5 </a:t>
            </a:r>
            <a:r>
              <a:rPr lang="zh-CN" altLang="en-US" dirty="0">
                <a:effectLst/>
              </a:rPr>
              <a:t>号卡</a:t>
            </a:r>
            <a:r>
              <a:rPr lang="en-US" altLang="zh-CN" dirty="0">
                <a:effectLst/>
              </a:rPr>
              <a:t>"</a:t>
            </a:r>
            <a:r>
              <a:rPr lang="zh-CN" altLang="en-US" dirty="0">
                <a:effectLst/>
              </a:rPr>
              <a:t>回声</a:t>
            </a:r>
            <a:r>
              <a:rPr lang="en-US" altLang="zh-CN" dirty="0">
                <a:effectLst/>
              </a:rPr>
              <a:t>/</a:t>
            </a:r>
            <a:r>
              <a:rPr lang="zh-CN" altLang="en-US" dirty="0">
                <a:effectLst/>
              </a:rPr>
              <a:t>声学</a:t>
            </a:r>
            <a:r>
              <a:rPr lang="en-US" altLang="zh-CN" dirty="0">
                <a:effectLst/>
              </a:rPr>
              <a:t>"</a:t>
            </a:r>
            <a:r>
              <a:rPr lang="zh-CN" altLang="en-US" dirty="0">
                <a:effectLst/>
              </a:rPr>
              <a:t>的背景，忘记删了！）</a:t>
            </a:r>
          </a:p>
          <a:p>
            <a:r>
              <a:rPr lang="zh-CN" altLang="en-US" dirty="0">
                <a:effectLst/>
              </a:rPr>
              <a:t>修：删掉孤儿，把 </a:t>
            </a:r>
            <a:r>
              <a:rPr lang="en-US" altLang="zh-CN" dirty="0">
                <a:effectLst/>
              </a:rPr>
              <a:t>4 </a:t>
            </a:r>
            <a:r>
              <a:rPr lang="zh-CN" altLang="en-US" dirty="0">
                <a:effectLst/>
              </a:rPr>
              <a:t>个背景 </a:t>
            </a:r>
            <a:r>
              <a:rPr lang="en-US" altLang="zh-CN" dirty="0" err="1">
                <a:effectLst/>
              </a:rPr>
              <a:t>rect</a:t>
            </a:r>
            <a:r>
              <a:rPr lang="en-US" altLang="zh-CN" dirty="0">
                <a:effectLst/>
              </a:rPr>
              <a:t> </a:t>
            </a:r>
            <a:r>
              <a:rPr lang="zh-CN" altLang="en-US" dirty="0">
                <a:effectLst/>
              </a:rPr>
              <a:t>也一起搬。</a:t>
            </a:r>
          </a:p>
          <a:p>
            <a:r>
              <a:rPr lang="en-US" altLang="zh-CN" dirty="0">
                <a:effectLst/>
              </a:rPr>
              <a:t>Ran 3 commands, viewed a file</a:t>
            </a:r>
          </a:p>
          <a:p>
            <a:r>
              <a:rPr lang="en-US" altLang="zh-CN" dirty="0">
                <a:effectLst/>
              </a:rPr>
              <a:t>Ran 3 commands, viewed a file</a:t>
            </a:r>
          </a:p>
          <a:p>
            <a:r>
              <a:rPr lang="zh-CN" altLang="en-US" dirty="0">
                <a:effectLst/>
              </a:rPr>
              <a:t>卡片位置正确了：</a:t>
            </a:r>
            <a:r>
              <a:rPr lang="en-US" altLang="zh-CN" dirty="0">
                <a:effectLst/>
              </a:rPr>
              <a:t>4 </a:t>
            </a:r>
            <a:r>
              <a:rPr lang="zh-CN" altLang="en-US" dirty="0">
                <a:effectLst/>
              </a:rPr>
              <a:t>张卡分别在 </a:t>
            </a:r>
            <a:r>
              <a:rPr lang="en-US" altLang="zh-CN" dirty="0">
                <a:effectLst/>
              </a:rPr>
              <a:t>L=1.51</a:t>
            </a:r>
            <a:r>
              <a:rPr lang="zh-CN" altLang="en-US" dirty="0">
                <a:effectLst/>
              </a:rPr>
              <a:t>、</a:t>
            </a:r>
            <a:r>
              <a:rPr lang="en-US" altLang="zh-CN" dirty="0">
                <a:effectLst/>
              </a:rPr>
              <a:t>L=3.31</a:t>
            </a:r>
            <a:r>
              <a:rPr lang="zh-CN" altLang="en-US" dirty="0">
                <a:effectLst/>
              </a:rPr>
              <a:t>（合并成 </a:t>
            </a:r>
            <a:r>
              <a:rPr lang="en-US" altLang="zh-CN" dirty="0">
                <a:effectLst/>
              </a:rPr>
              <a:t>244 </a:t>
            </a:r>
            <a:r>
              <a:rPr lang="zh-CN" altLang="en-US" dirty="0">
                <a:effectLst/>
              </a:rPr>
              <a:t>宽因中间被文字撑开）、</a:t>
            </a:r>
            <a:r>
              <a:rPr lang="en-US" altLang="zh-CN" dirty="0">
                <a:effectLst/>
              </a:rPr>
              <a:t>L=5.07 </a:t>
            </a:r>
            <a:r>
              <a:rPr lang="zh-CN" altLang="en-US" dirty="0">
                <a:effectLst/>
              </a:rPr>
              <a:t>附近、</a:t>
            </a:r>
            <a:r>
              <a:rPr lang="en-US" altLang="zh-CN" dirty="0">
                <a:effectLst/>
              </a:rPr>
              <a:t>L=6.83——</a:t>
            </a:r>
            <a:r>
              <a:rPr lang="zh-CN" altLang="en-US" dirty="0">
                <a:effectLst/>
              </a:rPr>
              <a:t>恰好左右居中（左右各留约 </a:t>
            </a:r>
            <a:r>
              <a:rPr lang="en-US" altLang="zh-CN" dirty="0">
                <a:effectLst/>
              </a:rPr>
              <a:t>1.55 </a:t>
            </a:r>
            <a:r>
              <a:rPr lang="zh-CN" altLang="en-US" dirty="0">
                <a:effectLst/>
              </a:rPr>
              <a:t>空白）。渲染 </a:t>
            </a:r>
            <a:r>
              <a:rPr lang="en-US" altLang="zh-CN" dirty="0">
                <a:effectLst/>
              </a:rPr>
              <a:t>OK</a:t>
            </a:r>
            <a:r>
              <a:rPr lang="zh-CN" altLang="en-US" dirty="0">
                <a:effectLst/>
              </a:rPr>
              <a:t>。</a:t>
            </a:r>
          </a:p>
          <a:p>
            <a:r>
              <a:rPr lang="en-US" altLang="zh-CN" dirty="0">
                <a:effectLst/>
              </a:rPr>
              <a:t>Viewed a file, ran a command</a:t>
            </a:r>
          </a:p>
          <a:p>
            <a:r>
              <a:rPr lang="en-US" altLang="zh-CN" dirty="0">
                <a:effectLst/>
              </a:rPr>
              <a:t>Viewed a file, ran a command</a:t>
            </a:r>
          </a:p>
          <a:p>
            <a:r>
              <a:rPr lang="zh-CN" altLang="en-US" dirty="0">
                <a:effectLst/>
              </a:rPr>
              <a:t>两个红色标签都渲染出来了（左 </a:t>
            </a:r>
            <a:r>
              <a:rPr lang="en-US" altLang="zh-CN" dirty="0">
                <a:effectLst/>
              </a:rPr>
              <a:t>536 </a:t>
            </a:r>
            <a:r>
              <a:rPr lang="zh-CN" altLang="en-US" dirty="0">
                <a:effectLst/>
              </a:rPr>
              <a:t>红像素 </a:t>
            </a:r>
            <a:r>
              <a:rPr lang="en-US" altLang="zh-CN" dirty="0">
                <a:effectLst/>
              </a:rPr>
              <a:t>+ 74 </a:t>
            </a:r>
            <a:r>
              <a:rPr lang="zh-CN" altLang="en-US" dirty="0">
                <a:effectLst/>
              </a:rPr>
              <a:t>白字 </a:t>
            </a:r>
            <a:r>
              <a:rPr lang="en-US" altLang="zh-CN" dirty="0">
                <a:effectLst/>
              </a:rPr>
              <a:t>= </a:t>
            </a:r>
            <a:r>
              <a:rPr lang="zh-CN" altLang="en-US" dirty="0">
                <a:effectLst/>
              </a:rPr>
              <a:t>力学；右 </a:t>
            </a:r>
            <a:r>
              <a:rPr lang="en-US" altLang="zh-CN" dirty="0">
                <a:effectLst/>
              </a:rPr>
              <a:t>508 </a:t>
            </a:r>
            <a:r>
              <a:rPr lang="zh-CN" altLang="en-US" dirty="0">
                <a:effectLst/>
              </a:rPr>
              <a:t>红 </a:t>
            </a:r>
            <a:r>
              <a:rPr lang="en-US" altLang="zh-CN" dirty="0">
                <a:effectLst/>
              </a:rPr>
              <a:t>+ 83 </a:t>
            </a:r>
            <a:r>
              <a:rPr lang="zh-CN" altLang="en-US" dirty="0">
                <a:effectLst/>
              </a:rPr>
              <a:t>白 </a:t>
            </a:r>
            <a:r>
              <a:rPr lang="en-US" altLang="zh-CN" dirty="0">
                <a:effectLst/>
              </a:rPr>
              <a:t>= </a:t>
            </a:r>
            <a:r>
              <a:rPr lang="zh-CN" altLang="en-US" dirty="0">
                <a:effectLst/>
              </a:rPr>
              <a:t>电学）。</a:t>
            </a:r>
          </a:p>
          <a:p>
            <a:r>
              <a:rPr lang="en-US" altLang="zh-CN" dirty="0">
                <a:effectLst/>
              </a:rPr>
              <a:t>Viewed a file, ran a command, read a file</a:t>
            </a:r>
          </a:p>
          <a:p>
            <a:r>
              <a:rPr lang="en-US" altLang="zh-CN" dirty="0">
                <a:effectLst/>
              </a:rPr>
              <a:t>Viewed a file, ran a command, read a file</a:t>
            </a:r>
          </a:p>
          <a:p>
            <a:r>
              <a:rPr lang="zh-CN" altLang="en-US" dirty="0">
                <a:effectLst/>
              </a:rPr>
              <a:t>五处全改好了：</a:t>
            </a:r>
          </a:p>
          <a:p>
            <a:r>
              <a:rPr lang="en-US" altLang="zh-CN" b="1" dirty="0">
                <a:effectLst/>
              </a:rPr>
              <a:t>P3 · </a:t>
            </a:r>
            <a:r>
              <a:rPr lang="zh-CN" altLang="en-US" b="1" dirty="0">
                <a:effectLst/>
              </a:rPr>
              <a:t>物理学定义</a:t>
            </a:r>
            <a:endParaRPr lang="zh-CN" altLang="en-US" dirty="0">
              <a:effectLst/>
            </a:endParaRPr>
          </a:p>
          <a:p>
            <a:r>
              <a:rPr lang="zh-CN" altLang="en-US" dirty="0">
                <a:effectLst/>
              </a:rPr>
              <a:t>定义收在</a:t>
            </a:r>
            <a:r>
              <a:rPr lang="en-US" altLang="zh-CN" dirty="0">
                <a:effectLst/>
              </a:rPr>
              <a:t>"</a:t>
            </a:r>
            <a:r>
              <a:rPr lang="zh-CN" altLang="en-US" dirty="0">
                <a:effectLst/>
              </a:rPr>
              <a:t>涉及声、光、热、力、电等自然现象</a:t>
            </a:r>
            <a:r>
              <a:rPr lang="en-US" altLang="zh-CN" dirty="0">
                <a:effectLst/>
              </a:rPr>
              <a:t>"</a:t>
            </a:r>
            <a:r>
              <a:rPr lang="zh-CN" altLang="en-US" dirty="0">
                <a:effectLst/>
              </a:rPr>
              <a:t>，删掉了没铺垫的</a:t>
            </a:r>
            <a:r>
              <a:rPr lang="en-US" altLang="zh-CN" dirty="0">
                <a:effectLst/>
              </a:rPr>
              <a:t>"</a:t>
            </a:r>
            <a:r>
              <a:rPr lang="zh-CN" altLang="en-US" dirty="0">
                <a:effectLst/>
              </a:rPr>
              <a:t>原子、分子等微观世界</a:t>
            </a:r>
            <a:r>
              <a:rPr lang="en-US" altLang="zh-CN" dirty="0">
                <a:effectLst/>
              </a:rPr>
              <a:t>"</a:t>
            </a:r>
          </a:p>
          <a:p>
            <a:r>
              <a:rPr lang="zh-CN" altLang="en-US" dirty="0">
                <a:effectLst/>
              </a:rPr>
              <a:t>删除</a:t>
            </a:r>
            <a:r>
              <a:rPr lang="en-US" altLang="zh-CN" dirty="0">
                <a:effectLst/>
              </a:rPr>
              <a:t>"</a:t>
            </a:r>
            <a:r>
              <a:rPr lang="zh-CN" altLang="en-US" dirty="0">
                <a:effectLst/>
              </a:rPr>
              <a:t>回声→声学</a:t>
            </a:r>
            <a:r>
              <a:rPr lang="en-US" altLang="zh-CN" dirty="0">
                <a:effectLst/>
              </a:rPr>
              <a:t>"</a:t>
            </a:r>
            <a:r>
              <a:rPr lang="zh-CN" altLang="en-US" dirty="0">
                <a:effectLst/>
              </a:rPr>
              <a:t>卡片（</a:t>
            </a:r>
            <a:r>
              <a:rPr lang="en-US" altLang="zh-CN" dirty="0">
                <a:effectLst/>
              </a:rPr>
              <a:t>P2 </a:t>
            </a:r>
            <a:r>
              <a:rPr lang="zh-CN" altLang="en-US" dirty="0">
                <a:effectLst/>
              </a:rPr>
              <a:t>没提到过），</a:t>
            </a:r>
            <a:r>
              <a:rPr lang="en-US" altLang="zh-CN" dirty="0">
                <a:effectLst/>
              </a:rPr>
              <a:t>4 </a:t>
            </a:r>
            <a:r>
              <a:rPr lang="zh-CN" altLang="en-US" dirty="0">
                <a:effectLst/>
              </a:rPr>
              <a:t>张卡片整体右移居中</a:t>
            </a:r>
          </a:p>
          <a:p>
            <a:r>
              <a:rPr lang="en-US" altLang="zh-CN" b="1" dirty="0">
                <a:effectLst/>
              </a:rPr>
              <a:t>P4 · </a:t>
            </a:r>
            <a:r>
              <a:rPr lang="zh-CN" altLang="en-US" b="1" dirty="0">
                <a:effectLst/>
              </a:rPr>
              <a:t>实验为基础</a:t>
            </a:r>
            <a:endParaRPr lang="zh-CN" altLang="en-US" dirty="0">
              <a:effectLst/>
            </a:endParaRPr>
          </a:p>
          <a:p>
            <a:r>
              <a:rPr lang="zh-CN" altLang="en-US" dirty="0">
                <a:effectLst/>
              </a:rPr>
              <a:t>伽利略卡片下方加了红色小标签 </a:t>
            </a:r>
            <a:r>
              <a:rPr lang="zh-CN" altLang="en-US" b="1" dirty="0">
                <a:effectLst/>
              </a:rPr>
              <a:t>力学</a:t>
            </a:r>
            <a:endParaRPr lang="zh-CN" altLang="en-US" dirty="0">
              <a:effectLst/>
            </a:endParaRPr>
          </a:p>
          <a:p>
            <a:r>
              <a:rPr lang="zh-CN" altLang="en-US" dirty="0">
                <a:effectLst/>
              </a:rPr>
              <a:t>欧姆卡片下方加了红色小标签 </a:t>
            </a:r>
            <a:r>
              <a:rPr lang="zh-CN" altLang="en-US" b="1" dirty="0">
                <a:effectLst/>
              </a:rPr>
              <a:t>电学</a:t>
            </a:r>
            <a:endParaRPr lang="zh-CN" altLang="en-US" dirty="0">
              <a:effectLst/>
            </a:endParaRPr>
          </a:p>
          <a:p>
            <a:r>
              <a:rPr lang="zh-CN" altLang="en-US" dirty="0">
                <a:effectLst/>
              </a:rPr>
              <a:t>和 </a:t>
            </a:r>
            <a:r>
              <a:rPr lang="en-US" altLang="zh-CN" dirty="0">
                <a:effectLst/>
              </a:rPr>
              <a:t>P3 </a:t>
            </a:r>
            <a:r>
              <a:rPr lang="zh-CN" altLang="en-US" dirty="0">
                <a:effectLst/>
              </a:rPr>
              <a:t>的分支形成呼应</a:t>
            </a:r>
          </a:p>
          <a:p>
            <a:r>
              <a:rPr lang="en-US" altLang="zh-CN" b="1" dirty="0">
                <a:effectLst/>
              </a:rPr>
              <a:t>P5 · </a:t>
            </a:r>
            <a:r>
              <a:rPr lang="zh-CN" altLang="en-US" b="1" dirty="0">
                <a:effectLst/>
              </a:rPr>
              <a:t>视错觉</a:t>
            </a:r>
            <a:endParaRPr lang="zh-CN" altLang="en-US" dirty="0">
              <a:effectLst/>
            </a:endParaRPr>
          </a:p>
          <a:p>
            <a:r>
              <a:rPr lang="en-US" altLang="zh-CN" dirty="0">
                <a:effectLst/>
              </a:rPr>
              <a:t>"</a:t>
            </a:r>
            <a:r>
              <a:rPr lang="zh-CN" altLang="en-US" dirty="0">
                <a:effectLst/>
              </a:rPr>
              <a:t>哪条线更长</a:t>
            </a:r>
            <a:r>
              <a:rPr lang="en-US" altLang="zh-CN" dirty="0">
                <a:effectLst/>
              </a:rPr>
              <a:t>" → "</a:t>
            </a:r>
            <a:r>
              <a:rPr lang="en-US" altLang="zh-CN" b="1" dirty="0">
                <a:effectLst/>
              </a:rPr>
              <a:t>A </a:t>
            </a:r>
            <a:r>
              <a:rPr lang="zh-CN" altLang="en-US" b="1" dirty="0">
                <a:effectLst/>
              </a:rPr>
              <a:t>和 </a:t>
            </a:r>
            <a:r>
              <a:rPr lang="en-US" altLang="zh-CN" b="1" dirty="0">
                <a:effectLst/>
              </a:rPr>
              <a:t>B</a:t>
            </a:r>
            <a:r>
              <a:rPr lang="zh-CN" altLang="en-US" b="1" dirty="0">
                <a:effectLst/>
              </a:rPr>
              <a:t>，哪个圆更大？</a:t>
            </a:r>
            <a:r>
              <a:rPr lang="en-US" altLang="zh-CN" dirty="0">
                <a:effectLst/>
              </a:rPr>
              <a:t>"</a:t>
            </a:r>
            <a:r>
              <a:rPr lang="zh-CN" altLang="en-US" dirty="0">
                <a:effectLst/>
              </a:rPr>
              <a:t>（跟 </a:t>
            </a:r>
            <a:r>
              <a:rPr lang="en-US" altLang="zh-CN" dirty="0">
                <a:effectLst/>
              </a:rPr>
              <a:t>Ebbinghaus </a:t>
            </a:r>
            <a:r>
              <a:rPr lang="zh-CN" altLang="en-US" dirty="0">
                <a:effectLst/>
              </a:rPr>
              <a:t>圆圈图对上了）</a:t>
            </a:r>
          </a:p>
          <a:p>
            <a:r>
              <a:rPr lang="en-US" altLang="zh-CN" dirty="0">
                <a:effectLst/>
              </a:rPr>
              <a:t>"</a:t>
            </a:r>
            <a:r>
              <a:rPr lang="zh-CN" altLang="en-US" dirty="0">
                <a:effectLst/>
              </a:rPr>
              <a:t>一样长</a:t>
            </a:r>
            <a:r>
              <a:rPr lang="en-US" altLang="zh-CN" dirty="0">
                <a:effectLst/>
              </a:rPr>
              <a:t>" → "</a:t>
            </a:r>
            <a:r>
              <a:rPr lang="zh-CN" altLang="en-US" b="1" dirty="0">
                <a:effectLst/>
              </a:rPr>
              <a:t>一样大</a:t>
            </a:r>
            <a:r>
              <a:rPr lang="en-US" altLang="zh-CN" dirty="0">
                <a:effectLst/>
              </a:rPr>
              <a:t>"</a:t>
            </a:r>
          </a:p>
          <a:p>
            <a:r>
              <a:rPr lang="zh-CN" altLang="en-US" dirty="0">
                <a:effectLst/>
              </a:rPr>
              <a:t>底部收束句从</a:t>
            </a:r>
            <a:r>
              <a:rPr lang="en-US" altLang="zh-CN" dirty="0">
                <a:effectLst/>
              </a:rPr>
              <a:t>"</a:t>
            </a:r>
            <a:r>
              <a:rPr lang="zh-CN" altLang="en-US" dirty="0">
                <a:effectLst/>
              </a:rPr>
              <a:t>不能靠感觉，而要靠实验说话，就离不开测量</a:t>
            </a:r>
            <a:r>
              <a:rPr lang="en-US" altLang="zh-CN" dirty="0">
                <a:effectLst/>
              </a:rPr>
              <a:t>"</a:t>
            </a:r>
            <a:r>
              <a:rPr lang="zh-CN" altLang="en-US" dirty="0">
                <a:effectLst/>
              </a:rPr>
              <a:t>（绕道实验）改成 </a:t>
            </a:r>
            <a:r>
              <a:rPr lang="en-US" altLang="zh-CN" b="1" dirty="0">
                <a:effectLst/>
              </a:rPr>
              <a:t>"</a:t>
            </a:r>
            <a:r>
              <a:rPr lang="zh-CN" altLang="en-US" b="1" dirty="0">
                <a:effectLst/>
              </a:rPr>
              <a:t>要弄清楚一件事的真相，不能靠感觉，要靠测量说话</a:t>
            </a:r>
            <a:r>
              <a:rPr lang="en-US" altLang="zh-CN" b="1" dirty="0">
                <a:effectLst/>
              </a:rPr>
              <a:t>"</a:t>
            </a:r>
            <a:r>
              <a:rPr lang="zh-CN" altLang="en-US" dirty="0">
                <a:effectLst/>
              </a:rPr>
              <a:t>（直接落点）</a:t>
            </a:r>
          </a:p>
          <a:p>
            <a:r>
              <a:rPr lang="zh-CN" altLang="en-US" dirty="0">
                <a:effectLst/>
              </a:rPr>
              <a:t>现在这五页的知识主线是：</a:t>
            </a:r>
            <a:r>
              <a:rPr lang="zh-CN" altLang="en-US" b="1" dirty="0">
                <a:effectLst/>
              </a:rPr>
              <a:t>现象观察 → 学科定义（</a:t>
            </a:r>
            <a:r>
              <a:rPr lang="en-US" altLang="zh-CN" b="1" dirty="0">
                <a:effectLst/>
              </a:rPr>
              <a:t>+</a:t>
            </a:r>
            <a:r>
              <a:rPr lang="zh-CN" altLang="en-US" b="1" dirty="0">
                <a:effectLst/>
              </a:rPr>
              <a:t>分支）→ 实验建立定律（呼应分支）→ 感觉不可靠 → 测量登场</a:t>
            </a:r>
            <a:r>
              <a:rPr lang="zh-CN" altLang="en-US" dirty="0">
                <a:effectLst/>
              </a:rPr>
              <a:t>，每一页各司其职、不重复不打架，可以接下去讲测量的具体内容。</a:t>
            </a:r>
          </a:p>
          <a:p>
            <a:r>
              <a:rPr lang="zh-CN" altLang="en-US" dirty="0">
                <a:effectLst/>
              </a:rPr>
              <a:t>初中物理 </a:t>
            </a:r>
            <a:r>
              <a:rPr lang="en-US" altLang="zh-CN" dirty="0">
                <a:effectLst/>
              </a:rPr>
              <a:t>c01 </a:t>
            </a:r>
            <a:r>
              <a:rPr lang="zh-CN" altLang="en-US" dirty="0">
                <a:effectLst/>
              </a:rPr>
              <a:t>长度和时间的测量</a:t>
            </a:r>
            <a:r>
              <a:rPr lang="en-US" altLang="zh-CN" dirty="0">
                <a:effectLst/>
              </a:rPr>
              <a:t>f</a:t>
            </a:r>
          </a:p>
          <a:p>
            <a:r>
              <a:rPr lang="en-US" altLang="zh-CN" dirty="0">
                <a:effectLst/>
              </a:rPr>
              <a:t>Presentation · PPTX </a:t>
            </a:r>
          </a:p>
          <a:p>
            <a:r>
              <a:rPr lang="zh-CN" altLang="en-US" dirty="0">
                <a:effectLst/>
              </a:rPr>
              <a:t>关于测量的概念，是否可以增加一个配图，然后下一页加一个国际标准量及基本单位，之后单独一页讲一下标准单位中米的定义，以及其他单位和他的关系，同时说明其他单位不是基本单位，只是认为定义的换算关系</a:t>
            </a:r>
          </a:p>
          <a:p>
            <a:r>
              <a:rPr lang="zh-CN" altLang="en-US" dirty="0">
                <a:effectLst/>
              </a:rPr>
              <a:t>明白，你要在</a:t>
            </a:r>
            <a:r>
              <a:rPr lang="zh-CN" altLang="en-US" b="1" dirty="0">
                <a:effectLst/>
              </a:rPr>
              <a:t>测量的本质</a:t>
            </a:r>
            <a:r>
              <a:rPr lang="zh-CN" altLang="en-US" dirty="0">
                <a:effectLst/>
              </a:rPr>
              <a:t>这里做一次系统展开</a:t>
            </a:r>
            <a:r>
              <a:rPr lang="en-US" altLang="zh-CN" dirty="0">
                <a:effectLst/>
              </a:rPr>
              <a:t>——</a:t>
            </a:r>
            <a:r>
              <a:rPr lang="zh-CN" altLang="en-US" dirty="0">
                <a:effectLst/>
              </a:rPr>
              <a:t>从</a:t>
            </a:r>
            <a:r>
              <a:rPr lang="en-US" altLang="zh-CN" dirty="0">
                <a:effectLst/>
              </a:rPr>
              <a:t>"</a:t>
            </a:r>
            <a:r>
              <a:rPr lang="zh-CN" altLang="en-US" dirty="0">
                <a:effectLst/>
              </a:rPr>
              <a:t>测量</a:t>
            </a:r>
            <a:r>
              <a:rPr lang="en-US" altLang="zh-CN" dirty="0">
                <a:effectLst/>
              </a:rPr>
              <a:t>=</a:t>
            </a:r>
            <a:r>
              <a:rPr lang="zh-CN" altLang="en-US" dirty="0">
                <a:effectLst/>
              </a:rPr>
              <a:t>比较</a:t>
            </a:r>
            <a:r>
              <a:rPr lang="en-US" altLang="zh-CN" dirty="0">
                <a:effectLst/>
              </a:rPr>
              <a:t>"</a:t>
            </a:r>
            <a:r>
              <a:rPr lang="zh-CN" altLang="en-US" dirty="0">
                <a:effectLst/>
              </a:rPr>
              <a:t>讲到</a:t>
            </a:r>
            <a:r>
              <a:rPr lang="en-US" altLang="zh-CN" dirty="0">
                <a:effectLst/>
              </a:rPr>
              <a:t>"</a:t>
            </a:r>
            <a:r>
              <a:rPr lang="zh-CN" altLang="en-US" dirty="0">
                <a:effectLst/>
              </a:rPr>
              <a:t>公认标准量</a:t>
            </a:r>
            <a:r>
              <a:rPr lang="en-US" altLang="zh-CN" dirty="0">
                <a:effectLst/>
              </a:rPr>
              <a:t>"</a:t>
            </a:r>
            <a:r>
              <a:rPr lang="zh-CN" altLang="en-US" dirty="0">
                <a:effectLst/>
              </a:rPr>
              <a:t>，再到</a:t>
            </a:r>
            <a:r>
              <a:rPr lang="en-US" altLang="zh-CN" dirty="0">
                <a:effectLst/>
              </a:rPr>
              <a:t>"</a:t>
            </a:r>
            <a:r>
              <a:rPr lang="zh-CN" altLang="en-US" dirty="0">
                <a:effectLst/>
              </a:rPr>
              <a:t>米的定义</a:t>
            </a:r>
            <a:r>
              <a:rPr lang="en-US" altLang="zh-CN" dirty="0">
                <a:effectLst/>
              </a:rPr>
              <a:t>"</a:t>
            </a:r>
            <a:r>
              <a:rPr lang="zh-CN" altLang="en-US" dirty="0">
                <a:effectLst/>
              </a:rPr>
              <a:t>，再到</a:t>
            </a:r>
            <a:r>
              <a:rPr lang="en-US" altLang="zh-CN" dirty="0">
                <a:effectLst/>
              </a:rPr>
              <a:t>"</a:t>
            </a:r>
            <a:r>
              <a:rPr lang="zh-CN" altLang="en-US" dirty="0">
                <a:effectLst/>
              </a:rPr>
              <a:t>其他单位是米的十进制换算</a:t>
            </a:r>
            <a:r>
              <a:rPr lang="en-US" altLang="zh-CN" dirty="0">
                <a:effectLst/>
              </a:rPr>
              <a:t>"</a:t>
            </a:r>
            <a:r>
              <a:rPr lang="zh-CN" altLang="en-US" dirty="0">
                <a:effectLst/>
              </a:rPr>
              <a:t>。这个思路是对的，因为学生对</a:t>
            </a:r>
            <a:r>
              <a:rPr lang="en-US" altLang="zh-CN" dirty="0">
                <a:effectLst/>
              </a:rPr>
              <a:t>"</a:t>
            </a:r>
            <a:r>
              <a:rPr lang="zh-CN" altLang="en-US" dirty="0">
                <a:effectLst/>
              </a:rPr>
              <a:t>为什么米是基本的、厘米不是</a:t>
            </a:r>
            <a:r>
              <a:rPr lang="en-US" altLang="zh-CN" dirty="0">
                <a:effectLst/>
              </a:rPr>
              <a:t>"</a:t>
            </a:r>
            <a:r>
              <a:rPr lang="zh-CN" altLang="en-US" dirty="0">
                <a:effectLst/>
              </a:rPr>
              <a:t>这件事其实很懵，讲清楚了后面处理单位就顺了。</a:t>
            </a:r>
          </a:p>
          <a:p>
            <a:r>
              <a:rPr lang="zh-CN" altLang="en-US" dirty="0">
                <a:effectLst/>
              </a:rPr>
              <a:t>先看看现在 </a:t>
            </a:r>
            <a:r>
              <a:rPr lang="en-US" altLang="zh-CN" dirty="0">
                <a:effectLst/>
              </a:rPr>
              <a:t>P6</a:t>
            </a:r>
            <a:r>
              <a:rPr lang="zh-CN" altLang="en-US" dirty="0">
                <a:effectLst/>
              </a:rPr>
              <a:t>（测量的本质）以及原本 </a:t>
            </a:r>
            <a:r>
              <a:rPr lang="en-US" altLang="zh-CN" dirty="0">
                <a:effectLst/>
              </a:rPr>
              <a:t>P7</a:t>
            </a:r>
            <a:r>
              <a:rPr lang="zh-CN" altLang="en-US" dirty="0">
                <a:effectLst/>
              </a:rPr>
              <a:t>（长度的单位）的状态，再规划要新增哪几页、每页放什么。</a:t>
            </a:r>
          </a:p>
          <a:p>
            <a:r>
              <a:rPr lang="en-US" altLang="zh-CN" dirty="0">
                <a:effectLst/>
              </a:rPr>
              <a:t>Read current slides 6-8 to plan the expansion</a:t>
            </a:r>
          </a:p>
          <a:p>
            <a:r>
              <a:rPr lang="en-US" altLang="zh-CN" dirty="0">
                <a:effectLst/>
              </a:rPr>
              <a:t>Read current slides 6-8 to plan the expansion</a:t>
            </a:r>
          </a:p>
          <a:p>
            <a:r>
              <a:rPr lang="zh-CN" altLang="en-US" dirty="0">
                <a:effectLst/>
              </a:rPr>
              <a:t>看清楚了。你要的加入方式，我先说清楚规划再动手。</a:t>
            </a:r>
          </a:p>
          <a:p>
            <a:r>
              <a:rPr lang="zh-CN" altLang="en-US" b="1" dirty="0">
                <a:effectLst/>
              </a:rPr>
              <a:t>规划</a:t>
            </a:r>
          </a:p>
          <a:p>
            <a:r>
              <a:rPr lang="zh-CN" altLang="en-US" dirty="0">
                <a:effectLst/>
              </a:rPr>
              <a:t>现在的顺序是：</a:t>
            </a:r>
            <a:r>
              <a:rPr lang="en-US" altLang="zh-CN" b="1" dirty="0">
                <a:effectLst/>
              </a:rPr>
              <a:t>P6 </a:t>
            </a:r>
            <a:r>
              <a:rPr lang="zh-CN" altLang="en-US" b="1" dirty="0">
                <a:effectLst/>
              </a:rPr>
              <a:t>测量本质 → </a:t>
            </a:r>
            <a:r>
              <a:rPr lang="en-US" altLang="zh-CN" b="1" dirty="0">
                <a:effectLst/>
              </a:rPr>
              <a:t>P7 </a:t>
            </a:r>
            <a:r>
              <a:rPr lang="zh-CN" altLang="en-US" b="1" dirty="0">
                <a:effectLst/>
              </a:rPr>
              <a:t>长度单位（换算链</a:t>
            </a:r>
            <a:r>
              <a:rPr lang="en-US" altLang="zh-CN" b="1" dirty="0">
                <a:effectLst/>
              </a:rPr>
              <a:t>+</a:t>
            </a:r>
            <a:r>
              <a:rPr lang="zh-CN" altLang="en-US" b="1" dirty="0">
                <a:effectLst/>
              </a:rPr>
              <a:t>常识）→ </a:t>
            </a:r>
            <a:r>
              <a:rPr lang="en-US" altLang="zh-CN" b="1" dirty="0">
                <a:effectLst/>
              </a:rPr>
              <a:t>P8 </a:t>
            </a:r>
            <a:r>
              <a:rPr lang="zh-CN" altLang="en-US" b="1" dirty="0">
                <a:effectLst/>
              </a:rPr>
              <a:t>刻度尺</a:t>
            </a:r>
            <a:endParaRPr lang="zh-CN" altLang="en-US" dirty="0">
              <a:effectLst/>
            </a:endParaRPr>
          </a:p>
          <a:p>
            <a:r>
              <a:rPr lang="zh-CN" altLang="en-US" dirty="0">
                <a:effectLst/>
              </a:rPr>
              <a:t>按你的想法，要拆成 </a:t>
            </a:r>
            <a:r>
              <a:rPr lang="en-US" altLang="zh-CN" b="1" dirty="0">
                <a:effectLst/>
              </a:rPr>
              <a:t>4 </a:t>
            </a:r>
            <a:r>
              <a:rPr lang="zh-CN" altLang="en-US" b="1" dirty="0">
                <a:effectLst/>
              </a:rPr>
              <a:t>页</a:t>
            </a:r>
            <a:r>
              <a:rPr lang="zh-CN" altLang="en-US" dirty="0">
                <a:effectLst/>
              </a:rPr>
              <a:t>：</a:t>
            </a:r>
          </a:p>
          <a:p>
            <a:r>
              <a:rPr lang="en-US" altLang="zh-CN" dirty="0">
                <a:effectLst/>
              </a:rPr>
              <a:t>#</a:t>
            </a:r>
            <a:r>
              <a:rPr lang="zh-CN" altLang="en-US" dirty="0">
                <a:effectLst/>
              </a:rPr>
              <a:t>页承担的知识点</a:t>
            </a:r>
            <a:r>
              <a:rPr lang="en-US" altLang="zh-CN" dirty="0">
                <a:effectLst/>
              </a:rPr>
              <a:t>P6</a:t>
            </a:r>
            <a:r>
              <a:rPr lang="zh-CN" altLang="en-US" dirty="0">
                <a:effectLst/>
              </a:rPr>
              <a:t>测量的本质：比较定义 </a:t>
            </a:r>
            <a:r>
              <a:rPr lang="en-US" altLang="zh-CN" dirty="0">
                <a:effectLst/>
              </a:rPr>
              <a:t>+ </a:t>
            </a:r>
            <a:r>
              <a:rPr lang="zh-CN" altLang="en-US" dirty="0">
                <a:effectLst/>
              </a:rPr>
              <a:t>一张概念配图</a:t>
            </a:r>
            <a:r>
              <a:rPr lang="en-US" altLang="zh-CN" dirty="0">
                <a:effectLst/>
              </a:rPr>
              <a:t>P7</a:t>
            </a:r>
            <a:r>
              <a:rPr lang="zh-CN" altLang="en-US" dirty="0">
                <a:effectLst/>
              </a:rPr>
              <a:t>（新）国际单位制与七个基本量</a:t>
            </a:r>
            <a:r>
              <a:rPr lang="en-US" altLang="zh-CN" dirty="0">
                <a:effectLst/>
              </a:rPr>
              <a:t>SI </a:t>
            </a:r>
            <a:r>
              <a:rPr lang="zh-CN" altLang="en-US" dirty="0">
                <a:effectLst/>
              </a:rPr>
              <a:t>是什么、七个基本量 </a:t>
            </a:r>
            <a:r>
              <a:rPr lang="en-US" altLang="zh-CN" dirty="0">
                <a:effectLst/>
              </a:rPr>
              <a:t>&amp; </a:t>
            </a:r>
            <a:r>
              <a:rPr lang="zh-CN" altLang="en-US" dirty="0">
                <a:effectLst/>
              </a:rPr>
              <a:t>基本单位、点出</a:t>
            </a:r>
            <a:r>
              <a:rPr lang="en-US" altLang="zh-CN" dirty="0">
                <a:effectLst/>
              </a:rPr>
              <a:t>"</a:t>
            </a:r>
            <a:r>
              <a:rPr lang="zh-CN" altLang="en-US" dirty="0">
                <a:effectLst/>
              </a:rPr>
              <a:t>长度</a:t>
            </a:r>
            <a:r>
              <a:rPr lang="en-US" altLang="zh-CN" dirty="0">
                <a:effectLst/>
              </a:rPr>
              <a:t>=</a:t>
            </a:r>
            <a:r>
              <a:rPr lang="zh-CN" altLang="en-US" dirty="0">
                <a:effectLst/>
              </a:rPr>
              <a:t>米、时间</a:t>
            </a:r>
            <a:r>
              <a:rPr lang="en-US" altLang="zh-CN" dirty="0">
                <a:effectLst/>
              </a:rPr>
              <a:t>=</a:t>
            </a:r>
            <a:r>
              <a:rPr lang="zh-CN" altLang="en-US" dirty="0">
                <a:effectLst/>
              </a:rPr>
              <a:t>秒</a:t>
            </a:r>
            <a:r>
              <a:rPr lang="en-US" altLang="zh-CN" dirty="0">
                <a:effectLst/>
              </a:rPr>
              <a:t>"P8</a:t>
            </a:r>
            <a:r>
              <a:rPr lang="zh-CN" altLang="en-US" dirty="0">
                <a:effectLst/>
              </a:rPr>
              <a:t>（新）米是怎么定义的米的历史→今天用光速定义、说明</a:t>
            </a:r>
            <a:r>
              <a:rPr lang="en-US" altLang="zh-CN" dirty="0">
                <a:effectLst/>
              </a:rPr>
              <a:t>"1 </a:t>
            </a:r>
            <a:r>
              <a:rPr lang="zh-CN" altLang="en-US" dirty="0">
                <a:effectLst/>
              </a:rPr>
              <a:t>米就是这么长</a:t>
            </a:r>
            <a:r>
              <a:rPr lang="en-US" altLang="zh-CN" dirty="0">
                <a:effectLst/>
              </a:rPr>
              <a:t>"P9</a:t>
            </a:r>
            <a:r>
              <a:rPr lang="zh-CN" altLang="en-US" dirty="0">
                <a:effectLst/>
              </a:rPr>
              <a:t>（原 </a:t>
            </a:r>
            <a:r>
              <a:rPr lang="en-US" altLang="zh-CN" dirty="0">
                <a:effectLst/>
              </a:rPr>
              <a:t>P7 </a:t>
            </a:r>
            <a:r>
              <a:rPr lang="zh-CN" altLang="en-US" dirty="0">
                <a:effectLst/>
              </a:rPr>
              <a:t>改造）其他长度单位换算链 </a:t>
            </a:r>
            <a:r>
              <a:rPr lang="en-US" altLang="zh-CN" dirty="0">
                <a:effectLst/>
              </a:rPr>
              <a:t>+ </a:t>
            </a:r>
            <a:r>
              <a:rPr lang="zh-CN" altLang="en-US" dirty="0">
                <a:effectLst/>
              </a:rPr>
              <a:t>常识 </a:t>
            </a:r>
            <a:r>
              <a:rPr lang="en-US" altLang="zh-CN" dirty="0">
                <a:effectLst/>
              </a:rPr>
              <a:t>+ </a:t>
            </a:r>
            <a:r>
              <a:rPr lang="zh-CN" altLang="en-US" b="1" dirty="0">
                <a:effectLst/>
              </a:rPr>
              <a:t>一句关键</a:t>
            </a:r>
            <a:r>
              <a:rPr lang="zh-CN" altLang="en-US" dirty="0">
                <a:effectLst/>
              </a:rPr>
              <a:t>：其他单位都是人为定的换算，不是新的</a:t>
            </a:r>
            <a:r>
              <a:rPr lang="en-US" altLang="zh-CN" dirty="0">
                <a:effectLst/>
              </a:rPr>
              <a:t>"</a:t>
            </a:r>
            <a:r>
              <a:rPr lang="zh-CN" altLang="en-US" dirty="0">
                <a:effectLst/>
              </a:rPr>
              <a:t>基本</a:t>
            </a:r>
            <a:r>
              <a:rPr lang="en-US" altLang="zh-CN" dirty="0">
                <a:effectLst/>
              </a:rPr>
              <a:t>"</a:t>
            </a:r>
          </a:p>
          <a:p>
            <a:r>
              <a:rPr lang="zh-CN" altLang="en-US" b="1" dirty="0">
                <a:effectLst/>
              </a:rPr>
              <a:t>关于新页的知识内容和处理</a:t>
            </a:r>
          </a:p>
          <a:p>
            <a:r>
              <a:rPr lang="en-US" altLang="zh-CN" b="1" dirty="0">
                <a:effectLst/>
              </a:rPr>
              <a:t>P6 </a:t>
            </a:r>
            <a:r>
              <a:rPr lang="zh-CN" altLang="en-US" b="1" dirty="0">
                <a:effectLst/>
              </a:rPr>
              <a:t>加配图</a:t>
            </a:r>
            <a:r>
              <a:rPr lang="zh-CN" altLang="en-US" dirty="0">
                <a:effectLst/>
              </a:rPr>
              <a:t>：概念图最合适。左边一根待测物（比如一根木棍），右边一根 </a:t>
            </a:r>
            <a:r>
              <a:rPr lang="en-US" altLang="zh-CN" dirty="0">
                <a:effectLst/>
              </a:rPr>
              <a:t>1 </a:t>
            </a:r>
            <a:r>
              <a:rPr lang="zh-CN" altLang="en-US" dirty="0">
                <a:effectLst/>
              </a:rPr>
              <a:t>米的</a:t>
            </a:r>
            <a:r>
              <a:rPr lang="en-US" altLang="zh-CN" dirty="0">
                <a:effectLst/>
              </a:rPr>
              <a:t>"</a:t>
            </a:r>
            <a:r>
              <a:rPr lang="zh-CN" altLang="en-US" dirty="0">
                <a:effectLst/>
              </a:rPr>
              <a:t>标准量</a:t>
            </a:r>
            <a:r>
              <a:rPr lang="en-US" altLang="zh-CN" dirty="0">
                <a:effectLst/>
              </a:rPr>
              <a:t>"</a:t>
            </a:r>
            <a:r>
              <a:rPr lang="zh-CN" altLang="en-US" dirty="0">
                <a:effectLst/>
              </a:rPr>
              <a:t>，中间一个</a:t>
            </a:r>
            <a:r>
              <a:rPr lang="en-US" altLang="zh-CN" dirty="0">
                <a:effectLst/>
              </a:rPr>
              <a:t>"</a:t>
            </a:r>
            <a:r>
              <a:rPr lang="zh-CN" altLang="en-US" dirty="0">
                <a:effectLst/>
              </a:rPr>
              <a:t>比较</a:t>
            </a:r>
            <a:r>
              <a:rPr lang="en-US" altLang="zh-CN" dirty="0">
                <a:effectLst/>
              </a:rPr>
              <a:t>"</a:t>
            </a:r>
            <a:r>
              <a:rPr lang="zh-CN" altLang="en-US" dirty="0">
                <a:effectLst/>
              </a:rPr>
              <a:t>箭头，下方写着</a:t>
            </a:r>
            <a:r>
              <a:rPr lang="en-US" altLang="zh-CN" dirty="0">
                <a:effectLst/>
              </a:rPr>
              <a:t>"2.5 </a:t>
            </a:r>
            <a:r>
              <a:rPr lang="zh-CN" altLang="en-US" dirty="0">
                <a:effectLst/>
              </a:rPr>
              <a:t>倍 </a:t>
            </a:r>
            <a:r>
              <a:rPr lang="en-US" altLang="zh-CN" dirty="0">
                <a:effectLst/>
              </a:rPr>
              <a:t>= 2.5 </a:t>
            </a:r>
            <a:r>
              <a:rPr lang="zh-CN" altLang="en-US" dirty="0">
                <a:effectLst/>
              </a:rPr>
              <a:t>米</a:t>
            </a:r>
            <a:r>
              <a:rPr lang="en-US" altLang="zh-CN" dirty="0">
                <a:effectLst/>
              </a:rPr>
              <a:t>"</a:t>
            </a:r>
            <a:r>
              <a:rPr lang="zh-CN" altLang="en-US" dirty="0">
                <a:effectLst/>
              </a:rPr>
              <a:t>。用来把</a:t>
            </a:r>
            <a:r>
              <a:rPr lang="en-US" altLang="zh-CN" dirty="0">
                <a:effectLst/>
              </a:rPr>
              <a:t>"</a:t>
            </a:r>
            <a:r>
              <a:rPr lang="zh-CN" altLang="en-US" dirty="0">
                <a:effectLst/>
              </a:rPr>
              <a:t>比较</a:t>
            </a:r>
            <a:r>
              <a:rPr lang="en-US" altLang="zh-CN" dirty="0">
                <a:effectLst/>
              </a:rPr>
              <a:t>"</a:t>
            </a:r>
            <a:r>
              <a:rPr lang="zh-CN" altLang="en-US" dirty="0">
                <a:effectLst/>
              </a:rPr>
              <a:t>这两个字视觉化。</a:t>
            </a:r>
          </a:p>
          <a:p>
            <a:r>
              <a:rPr lang="en-US" altLang="zh-CN" b="1" dirty="0">
                <a:effectLst/>
              </a:rPr>
              <a:t>P7 </a:t>
            </a:r>
            <a:r>
              <a:rPr lang="zh-CN" altLang="en-US" b="1" dirty="0">
                <a:effectLst/>
              </a:rPr>
              <a:t>国际单位制 </a:t>
            </a:r>
            <a:r>
              <a:rPr lang="en-US" altLang="zh-CN" b="1" dirty="0">
                <a:effectLst/>
              </a:rPr>
              <a:t>&amp; </a:t>
            </a:r>
            <a:r>
              <a:rPr lang="zh-CN" altLang="en-US" b="1" dirty="0">
                <a:effectLst/>
              </a:rPr>
              <a:t>七个基本量</a:t>
            </a:r>
            <a:r>
              <a:rPr lang="zh-CN" altLang="en-US" dirty="0">
                <a:effectLst/>
              </a:rPr>
              <a:t>：这是初中生第一次接触</a:t>
            </a:r>
            <a:r>
              <a:rPr lang="en-US" altLang="zh-CN" dirty="0">
                <a:effectLst/>
              </a:rPr>
              <a:t>"SI"</a:t>
            </a:r>
            <a:r>
              <a:rPr lang="zh-CN" altLang="en-US" dirty="0">
                <a:effectLst/>
              </a:rPr>
              <a:t>。七个基本量 </a:t>
            </a:r>
            <a:r>
              <a:rPr lang="en-US" altLang="zh-CN" dirty="0">
                <a:effectLst/>
              </a:rPr>
              <a:t>+ </a:t>
            </a:r>
            <a:r>
              <a:rPr lang="zh-CN" altLang="en-US" dirty="0">
                <a:effectLst/>
              </a:rPr>
              <a:t>单位（长度</a:t>
            </a:r>
            <a:r>
              <a:rPr lang="en-US" altLang="zh-CN" dirty="0">
                <a:effectLst/>
              </a:rPr>
              <a:t>/</a:t>
            </a:r>
            <a:r>
              <a:rPr lang="zh-CN" altLang="en-US" dirty="0">
                <a:effectLst/>
              </a:rPr>
              <a:t>时间</a:t>
            </a:r>
            <a:r>
              <a:rPr lang="en-US" altLang="zh-CN" dirty="0">
                <a:effectLst/>
              </a:rPr>
              <a:t>/</a:t>
            </a:r>
            <a:r>
              <a:rPr lang="zh-CN" altLang="en-US" dirty="0">
                <a:effectLst/>
              </a:rPr>
              <a:t>质量</a:t>
            </a:r>
            <a:r>
              <a:rPr lang="en-US" altLang="zh-CN" dirty="0">
                <a:effectLst/>
              </a:rPr>
              <a:t>/</a:t>
            </a:r>
            <a:r>
              <a:rPr lang="zh-CN" altLang="en-US" dirty="0">
                <a:effectLst/>
              </a:rPr>
              <a:t>温度</a:t>
            </a:r>
            <a:r>
              <a:rPr lang="en-US" altLang="zh-CN" dirty="0">
                <a:effectLst/>
              </a:rPr>
              <a:t>/</a:t>
            </a:r>
            <a:r>
              <a:rPr lang="zh-CN" altLang="en-US" dirty="0">
                <a:effectLst/>
              </a:rPr>
              <a:t>电流</a:t>
            </a:r>
            <a:r>
              <a:rPr lang="en-US" altLang="zh-CN" dirty="0">
                <a:effectLst/>
              </a:rPr>
              <a:t>/</a:t>
            </a:r>
            <a:r>
              <a:rPr lang="zh-CN" altLang="en-US" dirty="0">
                <a:effectLst/>
              </a:rPr>
              <a:t>物质的量</a:t>
            </a:r>
            <a:r>
              <a:rPr lang="en-US" altLang="zh-CN" dirty="0">
                <a:effectLst/>
              </a:rPr>
              <a:t>/</a:t>
            </a:r>
            <a:r>
              <a:rPr lang="zh-CN" altLang="en-US" dirty="0">
                <a:effectLst/>
              </a:rPr>
              <a:t>发光强度）全列出来做成表格。前两个（米、秒）用红色高亮</a:t>
            </a:r>
            <a:r>
              <a:rPr lang="en-US" altLang="zh-CN" dirty="0">
                <a:effectLst/>
              </a:rPr>
              <a:t>——</a:t>
            </a:r>
            <a:r>
              <a:rPr lang="zh-CN" altLang="en-US" dirty="0">
                <a:effectLst/>
              </a:rPr>
              <a:t>因为</a:t>
            </a:r>
            <a:r>
              <a:rPr lang="zh-CN" altLang="en-US" b="1" dirty="0">
                <a:effectLst/>
              </a:rPr>
              <a:t>这节课就在讲长度和时间</a:t>
            </a:r>
            <a:r>
              <a:rPr lang="zh-CN" altLang="en-US" dirty="0">
                <a:effectLst/>
              </a:rPr>
              <a:t>。其他五个灰底陈列。这样学生一眼看到</a:t>
            </a:r>
            <a:r>
              <a:rPr lang="en-US" altLang="zh-CN" dirty="0">
                <a:effectLst/>
              </a:rPr>
              <a:t>"</a:t>
            </a:r>
            <a:r>
              <a:rPr lang="zh-CN" altLang="en-US" dirty="0">
                <a:effectLst/>
              </a:rPr>
              <a:t>你看，米和秒是七个基本量里的两个</a:t>
            </a:r>
            <a:r>
              <a:rPr lang="en-US" altLang="zh-CN" dirty="0">
                <a:effectLst/>
              </a:rPr>
              <a:t>"</a:t>
            </a:r>
            <a:r>
              <a:rPr lang="zh-CN" altLang="en-US" dirty="0">
                <a:effectLst/>
              </a:rPr>
              <a:t>，理解为什么这节课要专门讲。</a:t>
            </a:r>
          </a:p>
          <a:p>
            <a:r>
              <a:rPr lang="en-US" altLang="zh-CN" b="1" dirty="0">
                <a:effectLst/>
              </a:rPr>
              <a:t>P8 </a:t>
            </a:r>
            <a:r>
              <a:rPr lang="zh-CN" altLang="en-US" b="1" dirty="0">
                <a:effectLst/>
              </a:rPr>
              <a:t>米的定义</a:t>
            </a:r>
            <a:r>
              <a:rPr lang="zh-CN" altLang="en-US" dirty="0">
                <a:effectLst/>
              </a:rPr>
              <a:t>：这里的处理需要仔细。米的定义历史有三阶段</a:t>
            </a:r>
            <a:r>
              <a:rPr lang="en-US" altLang="zh-CN" dirty="0">
                <a:effectLst/>
              </a:rPr>
              <a:t>——</a:t>
            </a:r>
          </a:p>
          <a:p>
            <a:r>
              <a:rPr lang="en-US" altLang="zh-CN" dirty="0">
                <a:effectLst/>
              </a:rPr>
              <a:t>1791</a:t>
            </a:r>
            <a:r>
              <a:rPr lang="zh-CN" altLang="en-US" dirty="0">
                <a:effectLst/>
              </a:rPr>
              <a:t>年：地球子午线的四千万分之一（法国大革命时期定的）</a:t>
            </a:r>
          </a:p>
          <a:p>
            <a:r>
              <a:rPr lang="en-US" altLang="zh-CN" dirty="0">
                <a:effectLst/>
              </a:rPr>
              <a:t>1889</a:t>
            </a:r>
            <a:r>
              <a:rPr lang="zh-CN" altLang="en-US" dirty="0">
                <a:effectLst/>
              </a:rPr>
              <a:t>年：铂铱合金</a:t>
            </a:r>
            <a:r>
              <a:rPr lang="en-US" altLang="zh-CN" dirty="0">
                <a:effectLst/>
              </a:rPr>
              <a:t>"</a:t>
            </a:r>
            <a:r>
              <a:rPr lang="zh-CN" altLang="en-US" dirty="0">
                <a:effectLst/>
              </a:rPr>
              <a:t>米原器</a:t>
            </a:r>
            <a:r>
              <a:rPr lang="en-US" altLang="zh-CN" dirty="0">
                <a:effectLst/>
              </a:rPr>
              <a:t>"</a:t>
            </a:r>
            <a:r>
              <a:rPr lang="zh-CN" altLang="en-US" dirty="0">
                <a:effectLst/>
              </a:rPr>
              <a:t>（一根杆子放巴黎）</a:t>
            </a:r>
          </a:p>
          <a:p>
            <a:r>
              <a:rPr lang="en-US" altLang="zh-CN" dirty="0">
                <a:effectLst/>
              </a:rPr>
              <a:t>1983</a:t>
            </a:r>
            <a:r>
              <a:rPr lang="zh-CN" altLang="en-US" dirty="0">
                <a:effectLst/>
              </a:rPr>
              <a:t>年至今：光在真空中 </a:t>
            </a:r>
            <a:r>
              <a:rPr lang="en-US" altLang="zh-CN" dirty="0">
                <a:effectLst/>
              </a:rPr>
              <a:t>1/299 792 458 </a:t>
            </a:r>
            <a:r>
              <a:rPr lang="zh-CN" altLang="en-US" dirty="0">
                <a:effectLst/>
              </a:rPr>
              <a:t>秒走过的距离</a:t>
            </a:r>
          </a:p>
          <a:p>
            <a:r>
              <a:rPr lang="zh-CN" altLang="en-US" dirty="0">
                <a:effectLst/>
              </a:rPr>
              <a:t>给初中生讲</a:t>
            </a:r>
            <a:r>
              <a:rPr lang="zh-CN" altLang="en-US" b="1" dirty="0">
                <a:effectLst/>
              </a:rPr>
              <a:t>故事线</a:t>
            </a:r>
            <a:r>
              <a:rPr lang="zh-CN" altLang="en-US" dirty="0">
                <a:effectLst/>
              </a:rPr>
              <a:t>最好懂：先讲</a:t>
            </a:r>
            <a:r>
              <a:rPr lang="en-US" altLang="zh-CN" dirty="0">
                <a:effectLst/>
              </a:rPr>
              <a:t>"</a:t>
            </a:r>
            <a:r>
              <a:rPr lang="zh-CN" altLang="en-US" dirty="0">
                <a:effectLst/>
              </a:rPr>
              <a:t>最早是量地球定的</a:t>
            </a:r>
            <a:r>
              <a:rPr lang="en-US" altLang="zh-CN" dirty="0">
                <a:effectLst/>
              </a:rPr>
              <a:t>" → "</a:t>
            </a:r>
            <a:r>
              <a:rPr lang="zh-CN" altLang="en-US" dirty="0">
                <a:effectLst/>
              </a:rPr>
              <a:t>后来做了一根标准杆</a:t>
            </a:r>
            <a:r>
              <a:rPr lang="en-US" altLang="zh-CN" dirty="0">
                <a:effectLst/>
              </a:rPr>
              <a:t>" → "</a:t>
            </a:r>
            <a:r>
              <a:rPr lang="zh-CN" altLang="en-US" dirty="0">
                <a:effectLst/>
              </a:rPr>
              <a:t>现在用光速定义（因为光速最稳定）</a:t>
            </a:r>
            <a:r>
              <a:rPr lang="en-US" altLang="zh-CN" dirty="0">
                <a:effectLst/>
              </a:rPr>
              <a:t>"</a:t>
            </a:r>
            <a:r>
              <a:rPr lang="zh-CN" altLang="en-US" dirty="0">
                <a:effectLst/>
              </a:rPr>
              <a:t>。三步演变。不用背精确数字，重点是让学生感受</a:t>
            </a:r>
            <a:r>
              <a:rPr lang="en-US" altLang="zh-CN" dirty="0">
                <a:effectLst/>
              </a:rPr>
              <a:t>"</a:t>
            </a:r>
            <a:r>
              <a:rPr lang="zh-CN" altLang="en-US" dirty="0">
                <a:effectLst/>
              </a:rPr>
              <a:t>这个 </a:t>
            </a:r>
            <a:r>
              <a:rPr lang="en-US" altLang="zh-CN" dirty="0">
                <a:effectLst/>
              </a:rPr>
              <a:t>1 </a:t>
            </a:r>
            <a:r>
              <a:rPr lang="zh-CN" altLang="en-US" dirty="0">
                <a:effectLst/>
              </a:rPr>
              <a:t>米不是随便定的，是全人类花两百多年才校准到今天这个精度</a:t>
            </a:r>
            <a:r>
              <a:rPr lang="en-US" altLang="zh-CN" dirty="0">
                <a:effectLst/>
              </a:rPr>
              <a:t>"</a:t>
            </a:r>
            <a:r>
              <a:rPr lang="zh-CN" altLang="en-US" dirty="0">
                <a:effectLst/>
              </a:rPr>
              <a:t>。</a:t>
            </a:r>
          </a:p>
          <a:p>
            <a:r>
              <a:rPr lang="en-US" altLang="zh-CN" b="1" dirty="0">
                <a:effectLst/>
              </a:rPr>
              <a:t>P9 </a:t>
            </a:r>
            <a:r>
              <a:rPr lang="zh-CN" altLang="en-US" b="1" dirty="0">
                <a:effectLst/>
              </a:rPr>
              <a:t>其他单位</a:t>
            </a:r>
            <a:r>
              <a:rPr lang="zh-CN" altLang="en-US" dirty="0">
                <a:effectLst/>
              </a:rPr>
              <a:t>：换算链保留，但改造关键一句</a:t>
            </a:r>
            <a:r>
              <a:rPr lang="en-US" altLang="zh-CN" dirty="0">
                <a:effectLst/>
              </a:rPr>
              <a:t>——</a:t>
            </a:r>
            <a:r>
              <a:rPr lang="zh-CN" altLang="en-US" dirty="0">
                <a:effectLst/>
              </a:rPr>
              <a:t>原来是</a:t>
            </a:r>
            <a:r>
              <a:rPr lang="en-US" altLang="zh-CN" dirty="0">
                <a:effectLst/>
              </a:rPr>
              <a:t>"</a:t>
            </a:r>
            <a:r>
              <a:rPr lang="zh-CN" altLang="en-US" dirty="0">
                <a:effectLst/>
              </a:rPr>
              <a:t>米是基本单位</a:t>
            </a:r>
            <a:r>
              <a:rPr lang="en-US" altLang="zh-CN" dirty="0">
                <a:effectLst/>
              </a:rPr>
              <a:t>"</a:t>
            </a:r>
            <a:r>
              <a:rPr lang="zh-CN" altLang="en-US" dirty="0">
                <a:effectLst/>
              </a:rPr>
              <a:t>，现在要点破：**</a:t>
            </a:r>
            <a:r>
              <a:rPr lang="en-US" altLang="zh-CN" dirty="0">
                <a:effectLst/>
              </a:rPr>
              <a:t>km/cm/mm/</a:t>
            </a:r>
            <a:r>
              <a:rPr lang="el-GR" altLang="zh-CN" dirty="0">
                <a:effectLst/>
              </a:rPr>
              <a:t>μ</a:t>
            </a:r>
            <a:r>
              <a:rPr lang="en-US" altLang="zh-CN" dirty="0">
                <a:effectLst/>
              </a:rPr>
              <a:t>m </a:t>
            </a:r>
            <a:r>
              <a:rPr lang="zh-CN" altLang="en-US" dirty="0">
                <a:effectLst/>
              </a:rPr>
              <a:t>都不是基本单位，只是人为约定的</a:t>
            </a:r>
            <a:r>
              <a:rPr lang="en-US" altLang="zh-CN" dirty="0">
                <a:effectLst/>
              </a:rPr>
              <a:t>"</a:t>
            </a:r>
            <a:r>
              <a:rPr lang="zh-CN" altLang="en-US" dirty="0">
                <a:effectLst/>
              </a:rPr>
              <a:t>更方便</a:t>
            </a:r>
            <a:r>
              <a:rPr lang="en-US" altLang="zh-CN" dirty="0">
                <a:effectLst/>
              </a:rPr>
              <a:t>"</a:t>
            </a:r>
            <a:r>
              <a:rPr lang="zh-CN" altLang="en-US" dirty="0">
                <a:effectLst/>
              </a:rPr>
              <a:t>的名字，本质上都是米的十倍或千分之一。**这个观念很重要，把学生从</a:t>
            </a:r>
            <a:r>
              <a:rPr lang="en-US" altLang="zh-CN" dirty="0">
                <a:effectLst/>
              </a:rPr>
              <a:t>"</a:t>
            </a:r>
            <a:r>
              <a:rPr lang="zh-CN" altLang="en-US" dirty="0">
                <a:effectLst/>
              </a:rPr>
              <a:t>这些单位是独立存在的</a:t>
            </a:r>
            <a:r>
              <a:rPr lang="en-US" altLang="zh-CN" dirty="0">
                <a:effectLst/>
              </a:rPr>
              <a:t>"</a:t>
            </a:r>
            <a:r>
              <a:rPr lang="zh-CN" altLang="en-US" dirty="0">
                <a:effectLst/>
              </a:rPr>
              <a:t>扭正到</a:t>
            </a:r>
            <a:r>
              <a:rPr lang="en-US" altLang="zh-CN" dirty="0">
                <a:effectLst/>
              </a:rPr>
              <a:t>"</a:t>
            </a:r>
            <a:r>
              <a:rPr lang="zh-CN" altLang="en-US" dirty="0">
                <a:effectLst/>
              </a:rPr>
              <a:t>它们都是米的表达</a:t>
            </a:r>
            <a:r>
              <a:rPr lang="en-US" altLang="zh-CN" dirty="0">
                <a:effectLst/>
              </a:rPr>
              <a:t>"</a:t>
            </a:r>
            <a:r>
              <a:rPr lang="zh-CN" altLang="en-US" dirty="0">
                <a:effectLst/>
              </a:rPr>
              <a:t>。</a:t>
            </a:r>
          </a:p>
          <a:p>
            <a:r>
              <a:rPr lang="zh-CN" altLang="en-US" b="1" dirty="0">
                <a:effectLst/>
              </a:rPr>
              <a:t>唯一要跟你确认的一点</a:t>
            </a:r>
          </a:p>
          <a:p>
            <a:r>
              <a:rPr lang="en-US" altLang="zh-CN" b="1" dirty="0">
                <a:effectLst/>
              </a:rPr>
              <a:t>P8 </a:t>
            </a:r>
            <a:r>
              <a:rPr lang="zh-CN" altLang="en-US" b="1" dirty="0">
                <a:effectLst/>
              </a:rPr>
              <a:t>米的定义</a:t>
            </a:r>
            <a:r>
              <a:rPr lang="en-US" altLang="zh-CN" dirty="0">
                <a:effectLst/>
              </a:rPr>
              <a:t>——</a:t>
            </a:r>
            <a:r>
              <a:rPr lang="zh-CN" altLang="en-US" dirty="0">
                <a:effectLst/>
              </a:rPr>
              <a:t>你想让它讲多深？</a:t>
            </a:r>
          </a:p>
          <a:p>
            <a:r>
              <a:rPr lang="en-US" altLang="zh-CN" b="1" dirty="0">
                <a:effectLst/>
              </a:rPr>
              <a:t>A. </a:t>
            </a:r>
            <a:r>
              <a:rPr lang="zh-CN" altLang="en-US" b="1" dirty="0">
                <a:effectLst/>
              </a:rPr>
              <a:t>极简版</a:t>
            </a:r>
            <a:r>
              <a:rPr lang="zh-CN" altLang="en-US" dirty="0">
                <a:effectLst/>
              </a:rPr>
              <a:t>：只讲</a:t>
            </a:r>
            <a:r>
              <a:rPr lang="en-US" altLang="zh-CN" dirty="0">
                <a:effectLst/>
              </a:rPr>
              <a:t>"</a:t>
            </a:r>
            <a:r>
              <a:rPr lang="zh-CN" altLang="en-US" dirty="0">
                <a:effectLst/>
              </a:rPr>
              <a:t>现在的定义是光速定的</a:t>
            </a:r>
            <a:r>
              <a:rPr lang="en-US" altLang="zh-CN" dirty="0">
                <a:effectLst/>
              </a:rPr>
              <a:t>"</a:t>
            </a:r>
            <a:r>
              <a:rPr lang="zh-CN" altLang="en-US" dirty="0">
                <a:effectLst/>
              </a:rPr>
              <a:t>一句话，不展开历史。省时间，但学生不会记住。</a:t>
            </a:r>
          </a:p>
          <a:p>
            <a:r>
              <a:rPr lang="en-US" altLang="zh-CN" b="1" dirty="0">
                <a:effectLst/>
              </a:rPr>
              <a:t>B. </a:t>
            </a:r>
            <a:r>
              <a:rPr lang="zh-CN" altLang="en-US" b="1" dirty="0">
                <a:effectLst/>
              </a:rPr>
              <a:t>三段历史版</a:t>
            </a:r>
            <a:r>
              <a:rPr lang="zh-CN" altLang="en-US" dirty="0">
                <a:effectLst/>
              </a:rPr>
              <a:t>（我推荐）：地球→米原器→光速，三步走。学生会记住</a:t>
            </a:r>
            <a:r>
              <a:rPr lang="en-US" altLang="zh-CN" dirty="0">
                <a:effectLst/>
              </a:rPr>
              <a:t>"</a:t>
            </a:r>
            <a:r>
              <a:rPr lang="zh-CN" altLang="en-US" dirty="0">
                <a:effectLst/>
              </a:rPr>
              <a:t>这东西改了三次</a:t>
            </a:r>
            <a:r>
              <a:rPr lang="en-US" altLang="zh-CN" dirty="0">
                <a:effectLst/>
              </a:rPr>
              <a:t>"</a:t>
            </a:r>
            <a:r>
              <a:rPr lang="zh-CN" altLang="en-US" dirty="0">
                <a:effectLst/>
              </a:rPr>
              <a:t>，也会感受到科学的严谨。</a:t>
            </a:r>
            <a:r>
              <a:rPr lang="zh-CN" altLang="en-US" b="1" dirty="0">
                <a:effectLst/>
              </a:rPr>
              <a:t>大概占页面 </a:t>
            </a:r>
            <a:r>
              <a:rPr lang="en-US" altLang="zh-CN" b="1" dirty="0">
                <a:effectLst/>
              </a:rPr>
              <a:t>2/3 </a:t>
            </a:r>
            <a:r>
              <a:rPr lang="zh-CN" altLang="en-US" b="1" dirty="0">
                <a:effectLst/>
              </a:rPr>
              <a:t>空间</a:t>
            </a:r>
            <a:r>
              <a:rPr lang="zh-CN" altLang="en-US" dirty="0">
                <a:effectLst/>
              </a:rPr>
              <a:t>。</a:t>
            </a:r>
          </a:p>
          <a:p>
            <a:r>
              <a:rPr lang="en-US" altLang="zh-CN" b="1" dirty="0">
                <a:effectLst/>
              </a:rPr>
              <a:t>C. </a:t>
            </a:r>
            <a:r>
              <a:rPr lang="zh-CN" altLang="en-US" b="1" dirty="0">
                <a:effectLst/>
              </a:rPr>
              <a:t>拓展版</a:t>
            </a:r>
            <a:r>
              <a:rPr lang="zh-CN" altLang="en-US" dirty="0">
                <a:effectLst/>
              </a:rPr>
              <a:t>：三段历史 </a:t>
            </a:r>
            <a:r>
              <a:rPr lang="en-US" altLang="zh-CN" dirty="0">
                <a:effectLst/>
              </a:rPr>
              <a:t>+ </a:t>
            </a:r>
            <a:r>
              <a:rPr lang="zh-CN" altLang="en-US" dirty="0">
                <a:effectLst/>
              </a:rPr>
              <a:t>讲一下为什么要用光速（</a:t>
            </a:r>
            <a:r>
              <a:rPr lang="en-US" altLang="zh-CN" dirty="0">
                <a:effectLst/>
              </a:rPr>
              <a:t>"</a:t>
            </a:r>
            <a:r>
              <a:rPr lang="zh-CN" altLang="en-US" dirty="0">
                <a:effectLst/>
              </a:rPr>
              <a:t>因为光速是自然界最稳定的常数</a:t>
            </a:r>
            <a:r>
              <a:rPr lang="en-US" altLang="zh-CN" dirty="0">
                <a:effectLst/>
              </a:rPr>
              <a:t>"</a:t>
            </a:r>
            <a:r>
              <a:rPr lang="zh-CN" altLang="en-US" dirty="0">
                <a:effectLst/>
              </a:rPr>
              <a:t>），顺便埋一颗</a:t>
            </a:r>
            <a:r>
              <a:rPr lang="en-US" altLang="zh-CN" dirty="0">
                <a:effectLst/>
              </a:rPr>
              <a:t>"</a:t>
            </a:r>
            <a:r>
              <a:rPr lang="zh-CN" altLang="en-US" dirty="0">
                <a:effectLst/>
              </a:rPr>
              <a:t>以后学光学会讲</a:t>
            </a:r>
            <a:r>
              <a:rPr lang="en-US" altLang="zh-CN" dirty="0">
                <a:effectLst/>
              </a:rPr>
              <a:t>"</a:t>
            </a:r>
            <a:r>
              <a:rPr lang="zh-CN" altLang="en-US" dirty="0">
                <a:effectLst/>
              </a:rPr>
              <a:t>的种子。占满一整页。</a:t>
            </a:r>
          </a:p>
          <a:p>
            <a:r>
              <a:rPr lang="zh-CN" altLang="en-US" dirty="0">
                <a:effectLst/>
              </a:rPr>
              <a:t>选 </a:t>
            </a:r>
            <a:r>
              <a:rPr lang="en-US" altLang="zh-CN" dirty="0">
                <a:effectLst/>
              </a:rPr>
              <a:t>B </a:t>
            </a:r>
            <a:r>
              <a:rPr lang="zh-CN" altLang="en-US" dirty="0">
                <a:effectLst/>
              </a:rPr>
              <a:t>还是 </a:t>
            </a:r>
            <a:r>
              <a:rPr lang="en-US" altLang="zh-CN" dirty="0">
                <a:effectLst/>
              </a:rPr>
              <a:t>C</a:t>
            </a:r>
            <a:r>
              <a:rPr lang="zh-CN" altLang="en-US" dirty="0">
                <a:effectLst/>
              </a:rPr>
              <a:t>？（</a:t>
            </a:r>
            <a:r>
              <a:rPr lang="en-US" altLang="zh-CN" dirty="0">
                <a:effectLst/>
              </a:rPr>
              <a:t>A </a:t>
            </a:r>
            <a:r>
              <a:rPr lang="zh-CN" altLang="en-US" dirty="0">
                <a:effectLst/>
              </a:rPr>
              <a:t>我觉得太浪费这个知识点了）另外你确认下我上面 </a:t>
            </a:r>
            <a:r>
              <a:rPr lang="en-US" altLang="zh-CN" dirty="0">
                <a:effectLst/>
              </a:rPr>
              <a:t>4 </a:t>
            </a:r>
            <a:r>
              <a:rPr lang="zh-CN" altLang="en-US" dirty="0">
                <a:effectLst/>
              </a:rPr>
              <a:t>页的结构没意见就动手。</a:t>
            </a:r>
          </a:p>
          <a:p>
            <a:r>
              <a:rPr lang="en-US" altLang="zh-CN" dirty="0">
                <a:effectLst/>
              </a:rPr>
              <a:t>C</a:t>
            </a:r>
            <a:r>
              <a:rPr lang="zh-CN" altLang="en-US" dirty="0">
                <a:effectLst/>
              </a:rPr>
              <a:t>，因为我需要让学生知道，标准必须稳定</a:t>
            </a:r>
          </a:p>
          <a:p>
            <a:r>
              <a:rPr lang="zh-CN" altLang="en-US" dirty="0">
                <a:effectLst/>
              </a:rPr>
              <a:t>好，</a:t>
            </a:r>
            <a:r>
              <a:rPr lang="en-US" altLang="zh-CN" dirty="0">
                <a:effectLst/>
              </a:rPr>
              <a:t>C</a:t>
            </a:r>
            <a:r>
              <a:rPr lang="zh-CN" altLang="en-US" dirty="0">
                <a:effectLst/>
              </a:rPr>
              <a:t>，把</a:t>
            </a:r>
            <a:r>
              <a:rPr lang="en-US" altLang="zh-CN" dirty="0">
                <a:effectLst/>
              </a:rPr>
              <a:t>"</a:t>
            </a:r>
            <a:r>
              <a:rPr lang="zh-CN" altLang="en-US" dirty="0">
                <a:effectLst/>
              </a:rPr>
              <a:t>标准必须稳定</a:t>
            </a:r>
            <a:r>
              <a:rPr lang="en-US" altLang="zh-CN" dirty="0">
                <a:effectLst/>
              </a:rPr>
              <a:t>"</a:t>
            </a:r>
            <a:r>
              <a:rPr lang="zh-CN" altLang="en-US" dirty="0">
                <a:effectLst/>
              </a:rPr>
              <a:t>这个核心观念立起来。</a:t>
            </a:r>
          </a:p>
          <a:p>
            <a:r>
              <a:rPr lang="en-US" altLang="zh-CN" dirty="0">
                <a:effectLst/>
              </a:rPr>
              <a:t>Inspect slide 6 and 7 layout for editing</a:t>
            </a:r>
          </a:p>
          <a:p>
            <a:r>
              <a:rPr lang="en-US" altLang="zh-CN" dirty="0">
                <a:effectLst/>
              </a:rPr>
              <a:t>Inspect slide 6 and 7 layout for editing</a:t>
            </a:r>
          </a:p>
          <a:p>
            <a:r>
              <a:rPr lang="zh-CN" altLang="en-US" dirty="0">
                <a:effectLst/>
              </a:rPr>
              <a:t>结构清楚了。开始动手：先做 </a:t>
            </a:r>
            <a:r>
              <a:rPr lang="en-US" altLang="zh-CN" dirty="0">
                <a:effectLst/>
              </a:rPr>
              <a:t>P6 </a:t>
            </a:r>
            <a:r>
              <a:rPr lang="zh-CN" altLang="en-US" dirty="0">
                <a:effectLst/>
              </a:rPr>
              <a:t>的</a:t>
            </a:r>
            <a:r>
              <a:rPr lang="en-US" altLang="zh-CN" dirty="0">
                <a:effectLst/>
              </a:rPr>
              <a:t>"</a:t>
            </a:r>
            <a:r>
              <a:rPr lang="zh-CN" altLang="en-US" dirty="0">
                <a:effectLst/>
              </a:rPr>
              <a:t>比较</a:t>
            </a:r>
            <a:r>
              <a:rPr lang="en-US" altLang="zh-CN" dirty="0">
                <a:effectLst/>
              </a:rPr>
              <a:t>"</a:t>
            </a:r>
            <a:r>
              <a:rPr lang="zh-CN" altLang="en-US" dirty="0">
                <a:effectLst/>
              </a:rPr>
              <a:t>配图，再插两页新的（</a:t>
            </a:r>
            <a:r>
              <a:rPr lang="en-US" altLang="zh-CN" dirty="0">
                <a:effectLst/>
              </a:rPr>
              <a:t>SI </a:t>
            </a:r>
            <a:r>
              <a:rPr lang="zh-CN" altLang="en-US" dirty="0">
                <a:effectLst/>
              </a:rPr>
              <a:t>基本量、米的定义），最后改造原 </a:t>
            </a:r>
            <a:r>
              <a:rPr lang="en-US" altLang="zh-CN" dirty="0">
                <a:effectLst/>
              </a:rPr>
              <a:t>P7</a:t>
            </a:r>
            <a:r>
              <a:rPr lang="zh-CN" altLang="en-US" dirty="0">
                <a:effectLst/>
              </a:rPr>
              <a:t>。</a:t>
            </a:r>
          </a:p>
          <a:p>
            <a:r>
              <a:rPr lang="en-US" altLang="zh-CN" dirty="0">
                <a:effectLst/>
              </a:rPr>
              <a:t>Created 2 files, ran 2 commands</a:t>
            </a:r>
          </a:p>
          <a:p>
            <a:r>
              <a:rPr lang="en-US" altLang="zh-CN" dirty="0">
                <a:effectLst/>
              </a:rPr>
              <a:t>Created 2 files, ran 2 commands</a:t>
            </a:r>
          </a:p>
          <a:p>
            <a:r>
              <a:rPr lang="zh-CN" altLang="en-US" dirty="0">
                <a:effectLst/>
              </a:rPr>
              <a:t>三个面板都渲染正确（蓝色地球、金属杆、深蓝背景 </a:t>
            </a:r>
            <a:r>
              <a:rPr lang="en-US" altLang="zh-CN" dirty="0">
                <a:effectLst/>
              </a:rPr>
              <a:t>+ </a:t>
            </a:r>
            <a:r>
              <a:rPr lang="zh-CN" altLang="en-US" dirty="0">
                <a:effectLst/>
              </a:rPr>
              <a:t>黄光）。现在动手改 </a:t>
            </a:r>
            <a:r>
              <a:rPr lang="en-US" altLang="zh-CN" dirty="0">
                <a:effectLst/>
              </a:rPr>
              <a:t>PPT</a:t>
            </a:r>
            <a:r>
              <a:rPr lang="zh-CN" altLang="en-US" dirty="0">
                <a:effectLst/>
              </a:rPr>
              <a:t>：</a:t>
            </a:r>
            <a:r>
              <a:rPr lang="en-US" altLang="zh-CN" b="1" dirty="0">
                <a:effectLst/>
              </a:rPr>
              <a:t>P6 </a:t>
            </a:r>
            <a:r>
              <a:rPr lang="zh-CN" altLang="en-US" b="1" dirty="0">
                <a:effectLst/>
              </a:rPr>
              <a:t>加图 → 插新 </a:t>
            </a:r>
            <a:r>
              <a:rPr lang="en-US" altLang="zh-CN" b="1" dirty="0">
                <a:effectLst/>
              </a:rPr>
              <a:t>P7</a:t>
            </a:r>
            <a:r>
              <a:rPr lang="zh-CN" altLang="en-US" b="1" dirty="0">
                <a:effectLst/>
              </a:rPr>
              <a:t>（</a:t>
            </a:r>
            <a:r>
              <a:rPr lang="en-US" altLang="zh-CN" b="1" dirty="0">
                <a:effectLst/>
              </a:rPr>
              <a:t>SI </a:t>
            </a:r>
            <a:r>
              <a:rPr lang="zh-CN" altLang="en-US" b="1" dirty="0">
                <a:effectLst/>
              </a:rPr>
              <a:t>基本量）→ 插新 </a:t>
            </a:r>
            <a:r>
              <a:rPr lang="en-US" altLang="zh-CN" b="1" dirty="0">
                <a:effectLst/>
              </a:rPr>
              <a:t>P8</a:t>
            </a:r>
            <a:r>
              <a:rPr lang="zh-CN" altLang="en-US" b="1" dirty="0">
                <a:effectLst/>
              </a:rPr>
              <a:t>（米的定义）→ 改造原 </a:t>
            </a:r>
            <a:r>
              <a:rPr lang="en-US" altLang="zh-CN" b="1" dirty="0">
                <a:effectLst/>
              </a:rPr>
              <a:t>P7 → P9</a:t>
            </a:r>
            <a:r>
              <a:rPr lang="zh-CN" altLang="en-US" b="1" dirty="0">
                <a:effectLst/>
              </a:rPr>
              <a:t>（其他单位）</a:t>
            </a:r>
            <a:r>
              <a:rPr lang="zh-CN" altLang="en-US" dirty="0">
                <a:effectLst/>
              </a:rPr>
              <a:t>。</a:t>
            </a:r>
          </a:p>
          <a:p>
            <a:r>
              <a:rPr lang="en-US" altLang="zh-CN" dirty="0">
                <a:effectLst/>
              </a:rPr>
              <a:t>Ran 4 commands, viewed 4 files, created a file</a:t>
            </a:r>
          </a:p>
          <a:p>
            <a:r>
              <a:rPr lang="en-US" altLang="zh-CN" dirty="0">
                <a:effectLst/>
              </a:rPr>
              <a:t>Ran 4 commands, viewed 4 files, created a file</a:t>
            </a:r>
          </a:p>
          <a:p>
            <a:r>
              <a:rPr lang="en-US" altLang="zh-CN" dirty="0">
                <a:effectLst/>
              </a:rPr>
              <a:t>P6/P7/P8 </a:t>
            </a:r>
            <a:r>
              <a:rPr lang="zh-CN" altLang="en-US" dirty="0">
                <a:effectLst/>
              </a:rPr>
              <a:t>都渲染成功，但 </a:t>
            </a:r>
            <a:r>
              <a:rPr lang="en-US" altLang="zh-CN" b="1" dirty="0">
                <a:effectLst/>
              </a:rPr>
              <a:t>P9 </a:t>
            </a:r>
            <a:r>
              <a:rPr lang="zh-CN" altLang="en-US" b="1" dirty="0">
                <a:effectLst/>
              </a:rPr>
              <a:t>底部红条像素为 </a:t>
            </a:r>
            <a:r>
              <a:rPr lang="en-US" altLang="zh-CN" b="1" dirty="0">
                <a:effectLst/>
              </a:rPr>
              <a:t>0</a:t>
            </a:r>
            <a:r>
              <a:rPr lang="zh-CN" altLang="en-US" dirty="0">
                <a:effectLst/>
              </a:rPr>
              <a:t> </a:t>
            </a:r>
            <a:r>
              <a:rPr lang="en-US" altLang="zh-CN" dirty="0">
                <a:effectLst/>
              </a:rPr>
              <a:t>—— </a:t>
            </a:r>
            <a:r>
              <a:rPr lang="zh-CN" altLang="en-US" dirty="0">
                <a:effectLst/>
              </a:rPr>
              <a:t>说明我改文字时忘了改背景色（原来底色是 </a:t>
            </a:r>
            <a:r>
              <a:rPr lang="en-US" altLang="zh-CN" dirty="0">
                <a:effectLst/>
              </a:rPr>
              <a:t>NAVY </a:t>
            </a:r>
            <a:r>
              <a:rPr lang="zh-CN" altLang="en-US" dirty="0">
                <a:effectLst/>
              </a:rPr>
              <a:t>深蓝，不是红色），所以红色扫不到。让我再看看 </a:t>
            </a:r>
            <a:r>
              <a:rPr lang="en-US" altLang="zh-CN" dirty="0">
                <a:effectLst/>
              </a:rPr>
              <a:t>P9 </a:t>
            </a:r>
            <a:r>
              <a:rPr lang="zh-CN" altLang="en-US" dirty="0">
                <a:effectLst/>
              </a:rPr>
              <a:t>的红色 </a:t>
            </a:r>
            <a:r>
              <a:rPr lang="en-US" altLang="zh-CN" dirty="0">
                <a:effectLst/>
              </a:rPr>
              <a:t>banner </a:t>
            </a:r>
            <a:r>
              <a:rPr lang="zh-CN" altLang="en-US" dirty="0">
                <a:effectLst/>
              </a:rPr>
              <a:t>是否其实是深蓝色 </a:t>
            </a:r>
            <a:r>
              <a:rPr lang="en-US" altLang="zh-CN" dirty="0">
                <a:effectLst/>
              </a:rPr>
              <a:t>banner</a:t>
            </a:r>
            <a:r>
              <a:rPr lang="zh-CN" altLang="en-US" dirty="0">
                <a:effectLst/>
              </a:rPr>
              <a:t>，还是渲染有问题：</a:t>
            </a:r>
          </a:p>
          <a:p>
            <a:r>
              <a:rPr lang="en-US" altLang="zh-CN" dirty="0">
                <a:effectLst/>
              </a:rPr>
              <a:t>Sample P9 banner color</a:t>
            </a:r>
          </a:p>
          <a:p>
            <a:r>
              <a:rPr lang="en-US" altLang="zh-CN" dirty="0">
                <a:effectLst/>
              </a:rPr>
              <a:t>Sample P9 banner color</a:t>
            </a:r>
          </a:p>
          <a:p>
            <a:r>
              <a:rPr lang="en-US" altLang="zh-CN" dirty="0">
                <a:effectLst/>
              </a:rPr>
              <a:t>P9 </a:t>
            </a:r>
            <a:r>
              <a:rPr lang="zh-CN" altLang="en-US" dirty="0">
                <a:effectLst/>
              </a:rPr>
              <a:t>底部 </a:t>
            </a:r>
            <a:r>
              <a:rPr lang="en-US" altLang="zh-CN" dirty="0">
                <a:effectLst/>
              </a:rPr>
              <a:t>banner </a:t>
            </a:r>
            <a:r>
              <a:rPr lang="zh-CN" altLang="en-US" dirty="0">
                <a:effectLst/>
              </a:rPr>
              <a:t>是</a:t>
            </a:r>
            <a:r>
              <a:rPr lang="zh-CN" altLang="en-US" b="1" dirty="0">
                <a:effectLst/>
              </a:rPr>
              <a:t>深蓝色</a:t>
            </a:r>
            <a:r>
              <a:rPr lang="zh-CN" altLang="en-US" dirty="0">
                <a:effectLst/>
              </a:rPr>
              <a:t>（</a:t>
            </a:r>
            <a:r>
              <a:rPr lang="en-US" altLang="zh-CN" dirty="0">
                <a:effectLst/>
              </a:rPr>
              <a:t>30,58,95 = NAVY</a:t>
            </a:r>
            <a:r>
              <a:rPr lang="zh-CN" altLang="en-US" dirty="0">
                <a:effectLst/>
              </a:rPr>
              <a:t>），文字是黄金色。整体渲染正确。原来那句</a:t>
            </a:r>
            <a:r>
              <a:rPr lang="en-US" altLang="zh-CN" dirty="0">
                <a:effectLst/>
              </a:rPr>
              <a:t>"</a:t>
            </a:r>
            <a:r>
              <a:rPr lang="zh-CN" altLang="en-US" dirty="0">
                <a:effectLst/>
              </a:rPr>
              <a:t>写结果、做换算，第一步都是认准单位</a:t>
            </a:r>
            <a:r>
              <a:rPr lang="en-US" altLang="zh-CN" dirty="0">
                <a:effectLst/>
              </a:rPr>
              <a:t>"</a:t>
            </a:r>
            <a:r>
              <a:rPr lang="zh-CN" altLang="en-US" dirty="0">
                <a:effectLst/>
              </a:rPr>
              <a:t>用的是 </a:t>
            </a:r>
            <a:r>
              <a:rPr lang="en-US" altLang="zh-CN" dirty="0">
                <a:effectLst/>
              </a:rPr>
              <a:t>NAVY </a:t>
            </a:r>
            <a:r>
              <a:rPr lang="zh-CN" altLang="en-US" dirty="0">
                <a:effectLst/>
              </a:rPr>
              <a:t>底色 </a:t>
            </a:r>
            <a:r>
              <a:rPr lang="en-US" altLang="zh-CN" dirty="0">
                <a:effectLst/>
              </a:rPr>
              <a:t>GOLD </a:t>
            </a:r>
            <a:r>
              <a:rPr lang="zh-CN" altLang="en-US" dirty="0">
                <a:effectLst/>
              </a:rPr>
              <a:t>字，我改的时候只改了文字没改颜色，色调保持一致。</a:t>
            </a:r>
            <a:r>
              <a:rPr lang="zh-CN" altLang="en-US" b="1" dirty="0">
                <a:effectLst/>
              </a:rPr>
              <a:t>不是 </a:t>
            </a:r>
            <a:r>
              <a:rPr lang="en-US" altLang="zh-CN" b="1" dirty="0">
                <a:effectLst/>
              </a:rPr>
              <a:t>bug</a:t>
            </a:r>
            <a:r>
              <a:rPr lang="zh-CN" altLang="en-US" dirty="0">
                <a:effectLst/>
              </a:rPr>
              <a:t>，是好设计</a:t>
            </a:r>
            <a:r>
              <a:rPr lang="en-US" altLang="zh-CN" dirty="0">
                <a:effectLst/>
              </a:rPr>
              <a:t>——</a:t>
            </a:r>
            <a:r>
              <a:rPr lang="zh-CN" altLang="en-US" dirty="0">
                <a:effectLst/>
              </a:rPr>
              <a:t>蓝底金字。</a:t>
            </a:r>
          </a:p>
          <a:p>
            <a:r>
              <a:rPr lang="zh-CN" altLang="en-US" dirty="0">
                <a:effectLst/>
              </a:rPr>
              <a:t>让我核实一下 </a:t>
            </a:r>
            <a:r>
              <a:rPr lang="en-US" altLang="zh-CN" dirty="0">
                <a:effectLst/>
              </a:rPr>
              <a:t>P9 </a:t>
            </a:r>
            <a:r>
              <a:rPr lang="zh-CN" altLang="en-US" dirty="0">
                <a:effectLst/>
              </a:rPr>
              <a:t>底部内容是否更新到位：</a:t>
            </a:r>
          </a:p>
          <a:p>
            <a:r>
              <a:rPr lang="en-US" altLang="zh-CN" dirty="0">
                <a:effectLst/>
              </a:rPr>
              <a:t>Verify P9 text content</a:t>
            </a:r>
          </a:p>
          <a:p>
            <a:r>
              <a:rPr lang="en-US" altLang="zh-CN" dirty="0">
                <a:effectLst/>
              </a:rPr>
              <a:t>Verify P9 text content</a:t>
            </a:r>
          </a:p>
          <a:p>
            <a:r>
              <a:rPr lang="zh-CN" altLang="en-US" dirty="0">
                <a:effectLst/>
              </a:rPr>
              <a:t>全部到位。让我看一下 </a:t>
            </a:r>
            <a:r>
              <a:rPr lang="en-US" altLang="zh-CN" dirty="0">
                <a:effectLst/>
              </a:rPr>
              <a:t>P6 </a:t>
            </a:r>
            <a:r>
              <a:rPr lang="zh-CN" altLang="en-US" dirty="0">
                <a:effectLst/>
              </a:rPr>
              <a:t>到底渲染出来什么样（图片有的但视图看不到，让我直接文件校验）：</a:t>
            </a:r>
          </a:p>
          <a:p>
            <a:r>
              <a:rPr lang="en-US" altLang="zh-CN" dirty="0">
                <a:effectLst/>
              </a:rPr>
              <a:t>Verify content of P6, P7, P8</a:t>
            </a:r>
          </a:p>
          <a:p>
            <a:r>
              <a:rPr lang="en-US" altLang="zh-CN" dirty="0">
                <a:effectLst/>
              </a:rPr>
              <a:t>Verify content of P6, P7, P8</a:t>
            </a:r>
          </a:p>
          <a:p>
            <a:r>
              <a:rPr lang="zh-CN" altLang="en-US" dirty="0">
                <a:effectLst/>
              </a:rPr>
              <a:t>内容全对。</a:t>
            </a:r>
            <a:r>
              <a:rPr lang="en-US" altLang="zh-CN" b="1" dirty="0">
                <a:effectLst/>
              </a:rPr>
              <a:t>"</a:t>
            </a:r>
            <a:r>
              <a:rPr lang="zh-CN" altLang="en-US" b="1" dirty="0">
                <a:effectLst/>
              </a:rPr>
              <a:t>标准，必须稳定</a:t>
            </a:r>
            <a:r>
              <a:rPr lang="en-US" altLang="zh-CN" b="1" dirty="0">
                <a:effectLst/>
              </a:rPr>
              <a:t>"</a:t>
            </a:r>
            <a:r>
              <a:rPr lang="zh-CN" altLang="en-US" dirty="0">
                <a:effectLst/>
              </a:rPr>
              <a:t> 这句关键概念如你要求的那样落在了 </a:t>
            </a:r>
            <a:r>
              <a:rPr lang="en-US" altLang="zh-CN" dirty="0">
                <a:effectLst/>
              </a:rPr>
              <a:t>P8 </a:t>
            </a:r>
            <a:r>
              <a:rPr lang="zh-CN" altLang="en-US" dirty="0">
                <a:effectLst/>
              </a:rPr>
              <a:t>的红色收束条上。让我拼一张 </a:t>
            </a:r>
            <a:r>
              <a:rPr lang="en-US" altLang="zh-CN" dirty="0">
                <a:effectLst/>
              </a:rPr>
              <a:t>4 </a:t>
            </a:r>
            <a:r>
              <a:rPr lang="zh-CN" altLang="en-US" dirty="0">
                <a:effectLst/>
              </a:rPr>
              <a:t>页概览确认布局：</a:t>
            </a:r>
          </a:p>
          <a:p>
            <a:r>
              <a:rPr lang="en-US" altLang="zh-CN" dirty="0">
                <a:effectLst/>
              </a:rPr>
              <a:t>Ran 2 commands, viewed a file, read a file</a:t>
            </a:r>
          </a:p>
          <a:p>
            <a:r>
              <a:rPr lang="en-US" altLang="zh-CN" dirty="0">
                <a:effectLst/>
              </a:rPr>
              <a:t>Ran 2 commands, viewed a file, read a file</a:t>
            </a:r>
          </a:p>
          <a:p>
            <a:r>
              <a:rPr lang="zh-CN" altLang="en-US" dirty="0">
                <a:effectLst/>
              </a:rPr>
              <a:t>四页都做好了。这一段的知识主线现在是：</a:t>
            </a:r>
            <a:r>
              <a:rPr lang="zh-CN" altLang="en-US" b="1" dirty="0">
                <a:effectLst/>
              </a:rPr>
              <a:t>测量的本质（比较 </a:t>
            </a:r>
            <a:r>
              <a:rPr lang="en-US" altLang="zh-CN" b="1" dirty="0">
                <a:effectLst/>
              </a:rPr>
              <a:t>+ </a:t>
            </a:r>
            <a:r>
              <a:rPr lang="zh-CN" altLang="en-US" b="1" dirty="0">
                <a:effectLst/>
              </a:rPr>
              <a:t>图示）→ </a:t>
            </a:r>
            <a:r>
              <a:rPr lang="en-US" altLang="zh-CN" b="1" dirty="0">
                <a:effectLst/>
              </a:rPr>
              <a:t>SI </a:t>
            </a:r>
            <a:r>
              <a:rPr lang="zh-CN" altLang="en-US" b="1" dirty="0">
                <a:effectLst/>
              </a:rPr>
              <a:t>是全球通用标准（</a:t>
            </a:r>
            <a:r>
              <a:rPr lang="en-US" altLang="zh-CN" b="1" dirty="0">
                <a:effectLst/>
              </a:rPr>
              <a:t>7 </a:t>
            </a:r>
            <a:r>
              <a:rPr lang="zh-CN" altLang="en-US" b="1" dirty="0">
                <a:effectLst/>
              </a:rPr>
              <a:t>基本量，突出米和秒）→ 米如何定义（三步演化，收到</a:t>
            </a:r>
            <a:r>
              <a:rPr lang="en-US" altLang="zh-CN" b="1" dirty="0">
                <a:effectLst/>
              </a:rPr>
              <a:t>"</a:t>
            </a:r>
            <a:r>
              <a:rPr lang="zh-CN" altLang="en-US" b="1" dirty="0">
                <a:effectLst/>
              </a:rPr>
              <a:t>标准必须稳定</a:t>
            </a:r>
            <a:r>
              <a:rPr lang="en-US" altLang="zh-CN" b="1" dirty="0">
                <a:effectLst/>
              </a:rPr>
              <a:t>"</a:t>
            </a:r>
            <a:r>
              <a:rPr lang="zh-CN" altLang="en-US" b="1" dirty="0">
                <a:effectLst/>
              </a:rPr>
              <a:t>）→ 其他单位只是米的换算，不是基本</a:t>
            </a:r>
            <a:r>
              <a:rPr lang="zh-CN" altLang="en-US" dirty="0">
                <a:effectLst/>
              </a:rPr>
              <a:t>。</a:t>
            </a:r>
          </a:p>
          <a:p>
            <a:r>
              <a:rPr lang="en-US" altLang="zh-CN" b="1" dirty="0">
                <a:effectLst/>
              </a:rPr>
              <a:t>P6 · </a:t>
            </a:r>
            <a:r>
              <a:rPr lang="zh-CN" altLang="en-US" b="1" dirty="0">
                <a:effectLst/>
              </a:rPr>
              <a:t>测量的本质：比较</a:t>
            </a:r>
            <a:br>
              <a:rPr lang="zh-CN" altLang="en-US" dirty="0">
                <a:effectLst/>
              </a:rPr>
            </a:br>
            <a:r>
              <a:rPr lang="zh-CN" altLang="en-US" dirty="0">
                <a:effectLst/>
              </a:rPr>
              <a:t>去掉了原来的</a:t>
            </a:r>
            <a:r>
              <a:rPr lang="en-US" altLang="zh-CN" dirty="0">
                <a:effectLst/>
              </a:rPr>
              <a:t>"</a:t>
            </a:r>
            <a:r>
              <a:rPr lang="zh-CN" altLang="en-US" dirty="0">
                <a:effectLst/>
              </a:rPr>
              <a:t>课桌 </a:t>
            </a:r>
            <a:r>
              <a:rPr lang="en-US" altLang="zh-CN" dirty="0">
                <a:effectLst/>
              </a:rPr>
              <a:t>1.2 </a:t>
            </a:r>
            <a:r>
              <a:rPr lang="zh-CN" altLang="en-US" dirty="0">
                <a:effectLst/>
              </a:rPr>
              <a:t>米</a:t>
            </a:r>
            <a:r>
              <a:rPr lang="en-US" altLang="zh-CN" dirty="0">
                <a:effectLst/>
              </a:rPr>
              <a:t>"</a:t>
            </a:r>
            <a:r>
              <a:rPr lang="zh-CN" altLang="en-US" dirty="0">
                <a:effectLst/>
              </a:rPr>
              <a:t>文字例子，改成一张</a:t>
            </a:r>
            <a:r>
              <a:rPr lang="zh-CN" altLang="en-US" b="1" dirty="0">
                <a:effectLst/>
              </a:rPr>
              <a:t>概念图</a:t>
            </a:r>
            <a:r>
              <a:rPr lang="zh-CN" altLang="en-US" dirty="0">
                <a:effectLst/>
              </a:rPr>
              <a:t>：一根木棍（</a:t>
            </a:r>
            <a:r>
              <a:rPr lang="en-US" altLang="zh-CN" dirty="0">
                <a:effectLst/>
              </a:rPr>
              <a:t>"</a:t>
            </a:r>
            <a:r>
              <a:rPr lang="zh-CN" altLang="en-US" dirty="0">
                <a:effectLst/>
              </a:rPr>
              <a:t>待测</a:t>
            </a:r>
            <a:r>
              <a:rPr lang="en-US" altLang="zh-CN" dirty="0">
                <a:effectLst/>
              </a:rPr>
              <a:t>"</a:t>
            </a:r>
            <a:r>
              <a:rPr lang="zh-CN" altLang="en-US" dirty="0">
                <a:effectLst/>
              </a:rPr>
              <a:t>）横在上，下方并排三个红色 </a:t>
            </a:r>
            <a:r>
              <a:rPr lang="en-US" altLang="zh-CN" dirty="0">
                <a:effectLst/>
              </a:rPr>
              <a:t>1 </a:t>
            </a:r>
            <a:r>
              <a:rPr lang="zh-CN" altLang="en-US" dirty="0">
                <a:effectLst/>
              </a:rPr>
              <a:t>米方块作为</a:t>
            </a:r>
            <a:r>
              <a:rPr lang="en-US" altLang="zh-CN" dirty="0">
                <a:effectLst/>
              </a:rPr>
              <a:t>"</a:t>
            </a:r>
            <a:r>
              <a:rPr lang="zh-CN" altLang="en-US" dirty="0">
                <a:effectLst/>
              </a:rPr>
              <a:t>标准</a:t>
            </a:r>
            <a:r>
              <a:rPr lang="en-US" altLang="zh-CN" dirty="0">
                <a:effectLst/>
              </a:rPr>
              <a:t>"</a:t>
            </a:r>
            <a:r>
              <a:rPr lang="zh-CN" altLang="en-US" dirty="0">
                <a:effectLst/>
              </a:rPr>
              <a:t>，虚线对齐两端。图下方一句 </a:t>
            </a:r>
            <a:r>
              <a:rPr lang="en-US" altLang="zh-CN" dirty="0">
                <a:effectLst/>
              </a:rPr>
              <a:t>"</a:t>
            </a:r>
            <a:r>
              <a:rPr lang="zh-CN" altLang="en-US" b="1" dirty="0">
                <a:effectLst/>
              </a:rPr>
              <a:t>这根木棍的长度 </a:t>
            </a:r>
            <a:r>
              <a:rPr lang="en-US" altLang="zh-CN" b="1" dirty="0">
                <a:effectLst/>
              </a:rPr>
              <a:t>= 1 </a:t>
            </a:r>
            <a:r>
              <a:rPr lang="zh-CN" altLang="en-US" b="1" dirty="0">
                <a:effectLst/>
              </a:rPr>
              <a:t>米 这个标准的 </a:t>
            </a:r>
            <a:r>
              <a:rPr lang="en-US" altLang="zh-CN" b="1" dirty="0">
                <a:effectLst/>
              </a:rPr>
              <a:t>3 </a:t>
            </a:r>
            <a:r>
              <a:rPr lang="zh-CN" altLang="en-US" b="1" dirty="0">
                <a:effectLst/>
              </a:rPr>
              <a:t>倍 → </a:t>
            </a:r>
            <a:r>
              <a:rPr lang="en-US" altLang="zh-CN" b="1" dirty="0">
                <a:effectLst/>
              </a:rPr>
              <a:t>3 </a:t>
            </a:r>
            <a:r>
              <a:rPr lang="zh-CN" altLang="en-US" b="1" dirty="0">
                <a:effectLst/>
              </a:rPr>
              <a:t>米</a:t>
            </a:r>
            <a:r>
              <a:rPr lang="en-US" altLang="zh-CN" dirty="0">
                <a:effectLst/>
              </a:rPr>
              <a:t>"——</a:t>
            </a:r>
            <a:r>
              <a:rPr lang="zh-CN" altLang="en-US" dirty="0">
                <a:effectLst/>
              </a:rPr>
              <a:t>用视觉把</a:t>
            </a:r>
            <a:r>
              <a:rPr lang="en-US" altLang="zh-CN" dirty="0">
                <a:effectLst/>
              </a:rPr>
              <a:t>"</a:t>
            </a:r>
            <a:r>
              <a:rPr lang="zh-CN" altLang="en-US" dirty="0">
                <a:effectLst/>
              </a:rPr>
              <a:t>比较</a:t>
            </a:r>
            <a:r>
              <a:rPr lang="en-US" altLang="zh-CN" dirty="0">
                <a:effectLst/>
              </a:rPr>
              <a:t>"</a:t>
            </a:r>
            <a:r>
              <a:rPr lang="zh-CN" altLang="en-US" dirty="0">
                <a:effectLst/>
              </a:rPr>
              <a:t>这个动作固化下来。</a:t>
            </a:r>
          </a:p>
          <a:p>
            <a:r>
              <a:rPr lang="en-US" altLang="zh-CN" b="1" dirty="0">
                <a:effectLst/>
              </a:rPr>
              <a:t>P7 · </a:t>
            </a:r>
            <a:r>
              <a:rPr lang="zh-CN" altLang="en-US" b="1" dirty="0">
                <a:effectLst/>
              </a:rPr>
              <a:t>国际单位制（新）</a:t>
            </a:r>
            <a:br>
              <a:rPr lang="zh-CN" altLang="en-US" dirty="0">
                <a:effectLst/>
              </a:rPr>
            </a:br>
            <a:r>
              <a:rPr lang="zh-CN" altLang="en-US" dirty="0">
                <a:effectLst/>
              </a:rPr>
              <a:t>一句话引入 </a:t>
            </a:r>
            <a:r>
              <a:rPr lang="en-US" altLang="zh-CN" dirty="0">
                <a:effectLst/>
              </a:rPr>
              <a:t>SI</a:t>
            </a:r>
            <a:r>
              <a:rPr lang="zh-CN" altLang="en-US" dirty="0">
                <a:effectLst/>
              </a:rPr>
              <a:t>，下面 </a:t>
            </a:r>
            <a:r>
              <a:rPr lang="en-US" altLang="zh-CN" dirty="0">
                <a:effectLst/>
              </a:rPr>
              <a:t>7 </a:t>
            </a:r>
            <a:r>
              <a:rPr lang="zh-CN" altLang="en-US" dirty="0">
                <a:effectLst/>
              </a:rPr>
              <a:t>列基本量卡片：**长度（米）、时间（秒）**用红色带高亮 </a:t>
            </a:r>
            <a:r>
              <a:rPr lang="en-US" altLang="zh-CN" dirty="0">
                <a:effectLst/>
              </a:rPr>
              <a:t>+"</a:t>
            </a:r>
            <a:r>
              <a:rPr lang="zh-CN" altLang="en-US" dirty="0">
                <a:effectLst/>
              </a:rPr>
              <a:t>本课重点</a:t>
            </a:r>
            <a:r>
              <a:rPr lang="en-US" altLang="zh-CN" dirty="0">
                <a:effectLst/>
              </a:rPr>
              <a:t>"</a:t>
            </a:r>
            <a:r>
              <a:rPr lang="zh-CN" altLang="en-US" dirty="0">
                <a:effectLst/>
              </a:rPr>
              <a:t>标签，另外五个（质量</a:t>
            </a:r>
            <a:r>
              <a:rPr lang="en-US" altLang="zh-CN" dirty="0">
                <a:effectLst/>
              </a:rPr>
              <a:t>/</a:t>
            </a:r>
            <a:r>
              <a:rPr lang="zh-CN" altLang="en-US" dirty="0">
                <a:effectLst/>
              </a:rPr>
              <a:t>温度</a:t>
            </a:r>
            <a:r>
              <a:rPr lang="en-US" altLang="zh-CN" dirty="0">
                <a:effectLst/>
              </a:rPr>
              <a:t>/</a:t>
            </a:r>
            <a:r>
              <a:rPr lang="zh-CN" altLang="en-US" dirty="0">
                <a:effectLst/>
              </a:rPr>
              <a:t>电流</a:t>
            </a:r>
            <a:r>
              <a:rPr lang="en-US" altLang="zh-CN" dirty="0">
                <a:effectLst/>
              </a:rPr>
              <a:t>/</a:t>
            </a:r>
            <a:r>
              <a:rPr lang="zh-CN" altLang="en-US" dirty="0">
                <a:effectLst/>
              </a:rPr>
              <a:t>物质的量</a:t>
            </a:r>
            <a:r>
              <a:rPr lang="en-US" altLang="zh-CN" dirty="0">
                <a:effectLst/>
              </a:rPr>
              <a:t>/</a:t>
            </a:r>
            <a:r>
              <a:rPr lang="zh-CN" altLang="en-US" dirty="0">
                <a:effectLst/>
              </a:rPr>
              <a:t>发光强度）用灰色带陈列。底部深蓝条：</a:t>
            </a:r>
            <a:r>
              <a:rPr lang="en-US" altLang="zh-CN" dirty="0">
                <a:effectLst/>
              </a:rPr>
              <a:t>"</a:t>
            </a:r>
            <a:r>
              <a:rPr lang="zh-CN" altLang="en-US" dirty="0">
                <a:effectLst/>
              </a:rPr>
              <a:t>这节课要学的长度（米）和时间（秒），就是 </a:t>
            </a:r>
            <a:r>
              <a:rPr lang="en-US" altLang="zh-CN" dirty="0">
                <a:effectLst/>
              </a:rPr>
              <a:t>7 </a:t>
            </a:r>
            <a:r>
              <a:rPr lang="zh-CN" altLang="en-US" dirty="0">
                <a:effectLst/>
              </a:rPr>
              <a:t>个基本量里的两个</a:t>
            </a:r>
            <a:r>
              <a:rPr lang="en-US" altLang="zh-CN" dirty="0">
                <a:effectLst/>
              </a:rPr>
              <a:t>"——</a:t>
            </a:r>
            <a:r>
              <a:rPr lang="zh-CN" altLang="en-US" dirty="0">
                <a:effectLst/>
              </a:rPr>
              <a:t>直接说明为什么单独讲这两个。</a:t>
            </a:r>
          </a:p>
          <a:p>
            <a:r>
              <a:rPr lang="en-US" altLang="zh-CN" b="1" dirty="0">
                <a:effectLst/>
              </a:rPr>
              <a:t>P8 · </a:t>
            </a:r>
            <a:r>
              <a:rPr lang="zh-CN" altLang="en-US" b="1" dirty="0">
                <a:effectLst/>
              </a:rPr>
              <a:t>米，是怎么定义的？（新）</a:t>
            </a:r>
            <a:br>
              <a:rPr lang="zh-CN" altLang="en-US" dirty="0">
                <a:effectLst/>
              </a:rPr>
            </a:br>
            <a:r>
              <a:rPr lang="zh-CN" altLang="en-US" dirty="0">
                <a:effectLst/>
              </a:rPr>
              <a:t>标题下一句 </a:t>
            </a:r>
            <a:r>
              <a:rPr lang="en-US" altLang="zh-CN" dirty="0">
                <a:effectLst/>
              </a:rPr>
              <a:t>"</a:t>
            </a:r>
            <a:r>
              <a:rPr lang="zh-CN" altLang="en-US" dirty="0">
                <a:effectLst/>
              </a:rPr>
              <a:t>标准要被全世界认可，就必须</a:t>
            </a:r>
            <a:r>
              <a:rPr lang="zh-CN" altLang="en-US" b="1" dirty="0">
                <a:effectLst/>
              </a:rPr>
              <a:t>稳定、可复现</a:t>
            </a:r>
            <a:r>
              <a:rPr lang="en-US" altLang="zh-CN" dirty="0">
                <a:effectLst/>
              </a:rPr>
              <a:t>" </a:t>
            </a:r>
            <a:r>
              <a:rPr lang="zh-CN" altLang="en-US" dirty="0">
                <a:effectLst/>
              </a:rPr>
              <a:t>做前提。中间三面板演化图：</a:t>
            </a:r>
          </a:p>
          <a:p>
            <a:r>
              <a:rPr lang="en-US" altLang="zh-CN" b="1" dirty="0">
                <a:effectLst/>
              </a:rPr>
              <a:t>1791 </a:t>
            </a:r>
            <a:r>
              <a:rPr lang="zh-CN" altLang="en-US" b="1" dirty="0">
                <a:effectLst/>
              </a:rPr>
              <a:t>年 法国</a:t>
            </a:r>
            <a:r>
              <a:rPr lang="zh-CN" altLang="en-US" dirty="0">
                <a:effectLst/>
              </a:rPr>
              <a:t>：地球赤道到北极距离的千万分之一（革命时期的大胆想法）</a:t>
            </a:r>
          </a:p>
          <a:p>
            <a:r>
              <a:rPr lang="en-US" altLang="zh-CN" b="1" dirty="0">
                <a:effectLst/>
              </a:rPr>
              <a:t>1889 </a:t>
            </a:r>
            <a:r>
              <a:rPr lang="zh-CN" altLang="en-US" b="1" dirty="0">
                <a:effectLst/>
              </a:rPr>
              <a:t>年 米原器</a:t>
            </a:r>
            <a:r>
              <a:rPr lang="zh-CN" altLang="en-US" dirty="0">
                <a:effectLst/>
              </a:rPr>
              <a:t>：铂铱合金标准杆上两刻线（藏在巴黎的实物）</a:t>
            </a:r>
          </a:p>
          <a:p>
            <a:r>
              <a:rPr lang="en-US" altLang="zh-CN" b="1" dirty="0">
                <a:effectLst/>
              </a:rPr>
              <a:t>1983 </a:t>
            </a:r>
            <a:r>
              <a:rPr lang="zh-CN" altLang="en-US" b="1" dirty="0">
                <a:effectLst/>
              </a:rPr>
              <a:t>年 至今</a:t>
            </a:r>
            <a:r>
              <a:rPr lang="zh-CN" altLang="en-US" dirty="0">
                <a:effectLst/>
              </a:rPr>
              <a:t>：光在真空中 </a:t>
            </a:r>
            <a:r>
              <a:rPr lang="en-US" altLang="zh-CN" dirty="0">
                <a:effectLst/>
              </a:rPr>
              <a:t>1/299,792,458 </a:t>
            </a:r>
            <a:r>
              <a:rPr lang="zh-CN" altLang="en-US" dirty="0">
                <a:effectLst/>
              </a:rPr>
              <a:t>秒走过的距离</a:t>
            </a:r>
          </a:p>
          <a:p>
            <a:r>
              <a:rPr lang="zh-CN" altLang="en-US" dirty="0">
                <a:effectLst/>
              </a:rPr>
              <a:t>底部红条把 </a:t>
            </a:r>
            <a:r>
              <a:rPr lang="en-US" altLang="zh-CN" dirty="0">
                <a:effectLst/>
              </a:rPr>
              <a:t>C </a:t>
            </a:r>
            <a:r>
              <a:rPr lang="zh-CN" altLang="en-US" dirty="0">
                <a:effectLst/>
              </a:rPr>
              <a:t>版的关键收束打出来：</a:t>
            </a:r>
            <a:r>
              <a:rPr lang="en-US" altLang="zh-CN" b="1" dirty="0">
                <a:effectLst/>
              </a:rPr>
              <a:t>"</a:t>
            </a:r>
            <a:r>
              <a:rPr lang="zh-CN" altLang="en-US" b="1" dirty="0">
                <a:effectLst/>
              </a:rPr>
              <a:t>为什么最终用光？因为真空中的光速是自然界最稳定的常数 </a:t>
            </a:r>
            <a:r>
              <a:rPr lang="en-US" altLang="zh-CN" b="1" dirty="0">
                <a:effectLst/>
              </a:rPr>
              <a:t>—— </a:t>
            </a:r>
            <a:r>
              <a:rPr lang="zh-CN" altLang="en-US" b="1" dirty="0">
                <a:effectLst/>
              </a:rPr>
              <a:t>标准，必须稳定</a:t>
            </a:r>
            <a:r>
              <a:rPr lang="en-US" altLang="zh-CN" b="1" dirty="0">
                <a:effectLst/>
              </a:rPr>
              <a:t>"</a:t>
            </a:r>
            <a:r>
              <a:rPr lang="zh-CN" altLang="en-US" dirty="0">
                <a:effectLst/>
              </a:rPr>
              <a:t>。你想让学生记住的那句核心观念，就在这里。</a:t>
            </a:r>
          </a:p>
          <a:p>
            <a:r>
              <a:rPr lang="en-US" altLang="zh-CN" b="1" dirty="0">
                <a:effectLst/>
              </a:rPr>
              <a:t>P9 · </a:t>
            </a:r>
            <a:r>
              <a:rPr lang="zh-CN" altLang="en-US" b="1" dirty="0">
                <a:effectLst/>
              </a:rPr>
              <a:t>长度的其他单位与换算（原 </a:t>
            </a:r>
            <a:r>
              <a:rPr lang="en-US" altLang="zh-CN" b="1" dirty="0">
                <a:effectLst/>
              </a:rPr>
              <a:t>P7 </a:t>
            </a:r>
            <a:r>
              <a:rPr lang="zh-CN" altLang="en-US" b="1" dirty="0">
                <a:effectLst/>
              </a:rPr>
              <a:t>改造）</a:t>
            </a:r>
            <a:endParaRPr lang="zh-CN" altLang="en-US" dirty="0">
              <a:effectLst/>
            </a:endParaRPr>
          </a:p>
          <a:p>
            <a:r>
              <a:rPr lang="zh-CN" altLang="en-US" dirty="0">
                <a:effectLst/>
              </a:rPr>
              <a:t>标题从</a:t>
            </a:r>
            <a:r>
              <a:rPr lang="en-US" altLang="zh-CN" dirty="0">
                <a:effectLst/>
              </a:rPr>
              <a:t>"</a:t>
            </a:r>
            <a:r>
              <a:rPr lang="zh-CN" altLang="en-US" dirty="0">
                <a:effectLst/>
              </a:rPr>
              <a:t>长度的单位</a:t>
            </a:r>
            <a:r>
              <a:rPr lang="en-US" altLang="zh-CN" dirty="0">
                <a:effectLst/>
              </a:rPr>
              <a:t>"</a:t>
            </a:r>
            <a:r>
              <a:rPr lang="zh-CN" altLang="en-US" dirty="0">
                <a:effectLst/>
              </a:rPr>
              <a:t>改成</a:t>
            </a:r>
            <a:r>
              <a:rPr lang="en-US" altLang="zh-CN" dirty="0">
                <a:effectLst/>
              </a:rPr>
              <a:t>"</a:t>
            </a:r>
            <a:r>
              <a:rPr lang="zh-CN" altLang="en-US" dirty="0">
                <a:effectLst/>
              </a:rPr>
              <a:t>长度的其他单位与换算</a:t>
            </a:r>
            <a:r>
              <a:rPr lang="en-US" altLang="zh-CN" dirty="0">
                <a:effectLst/>
              </a:rPr>
              <a:t>"</a:t>
            </a:r>
          </a:p>
          <a:p>
            <a:r>
              <a:rPr lang="zh-CN" altLang="en-US" dirty="0">
                <a:effectLst/>
              </a:rPr>
              <a:t>顶部改成 </a:t>
            </a:r>
            <a:r>
              <a:rPr lang="en-US" altLang="zh-CN" dirty="0">
                <a:effectLst/>
              </a:rPr>
              <a:t>"</a:t>
            </a:r>
            <a:r>
              <a:rPr lang="zh-CN" altLang="en-US" b="1" dirty="0">
                <a:effectLst/>
              </a:rPr>
              <a:t>长度只有一个基本单位 </a:t>
            </a:r>
            <a:r>
              <a:rPr lang="en-US" altLang="zh-CN" b="1" dirty="0">
                <a:effectLst/>
              </a:rPr>
              <a:t>—— </a:t>
            </a:r>
            <a:r>
              <a:rPr lang="zh-CN" altLang="en-US" b="1" dirty="0">
                <a:effectLst/>
              </a:rPr>
              <a:t>米（</a:t>
            </a:r>
            <a:r>
              <a:rPr lang="en-US" altLang="zh-CN" b="1" dirty="0">
                <a:effectLst/>
              </a:rPr>
              <a:t>m</a:t>
            </a:r>
            <a:r>
              <a:rPr lang="zh-CN" altLang="en-US" b="1" dirty="0">
                <a:effectLst/>
              </a:rPr>
              <a:t>）</a:t>
            </a:r>
            <a:r>
              <a:rPr lang="zh-CN" altLang="en-US" dirty="0">
                <a:effectLst/>
              </a:rPr>
              <a:t>。其余单位，都是人为约定的换算：</a:t>
            </a:r>
            <a:r>
              <a:rPr lang="en-US" altLang="zh-CN" dirty="0">
                <a:effectLst/>
              </a:rPr>
              <a:t>"</a:t>
            </a:r>
          </a:p>
          <a:p>
            <a:r>
              <a:rPr lang="zh-CN" altLang="en-US" dirty="0">
                <a:effectLst/>
              </a:rPr>
              <a:t>底部深蓝金字条改成 </a:t>
            </a:r>
            <a:r>
              <a:rPr lang="en-US" altLang="zh-CN" dirty="0">
                <a:effectLst/>
              </a:rPr>
              <a:t>"</a:t>
            </a:r>
            <a:r>
              <a:rPr lang="en-US" altLang="zh-CN" b="1" dirty="0">
                <a:effectLst/>
              </a:rPr>
              <a:t>km</a:t>
            </a:r>
            <a:r>
              <a:rPr lang="zh-CN" altLang="en-US" b="1" dirty="0">
                <a:effectLst/>
              </a:rPr>
              <a:t>、</a:t>
            </a:r>
            <a:r>
              <a:rPr lang="en-US" altLang="zh-CN" b="1" dirty="0">
                <a:effectLst/>
              </a:rPr>
              <a:t>cm</a:t>
            </a:r>
            <a:r>
              <a:rPr lang="zh-CN" altLang="en-US" b="1" dirty="0">
                <a:effectLst/>
              </a:rPr>
              <a:t>、</a:t>
            </a:r>
            <a:r>
              <a:rPr lang="en-US" altLang="zh-CN" b="1" dirty="0">
                <a:effectLst/>
              </a:rPr>
              <a:t>mm </a:t>
            </a:r>
            <a:r>
              <a:rPr lang="zh-CN" altLang="en-US" b="1" dirty="0">
                <a:effectLst/>
              </a:rPr>
              <a:t>都不是基本单位</a:t>
            </a:r>
            <a:r>
              <a:rPr lang="zh-CN" altLang="en-US" dirty="0">
                <a:effectLst/>
              </a:rPr>
              <a:t> </a:t>
            </a:r>
            <a:r>
              <a:rPr lang="en-US" altLang="zh-CN" dirty="0">
                <a:effectLst/>
              </a:rPr>
              <a:t>—— </a:t>
            </a:r>
            <a:r>
              <a:rPr lang="zh-CN" altLang="en-US" dirty="0">
                <a:effectLst/>
              </a:rPr>
              <a:t>它们只是米的</a:t>
            </a:r>
            <a:r>
              <a:rPr lang="zh-CN" altLang="en-US" b="1" dirty="0">
                <a:effectLst/>
              </a:rPr>
              <a:t>十进制换算</a:t>
            </a:r>
            <a:r>
              <a:rPr lang="en-US" altLang="zh-CN" dirty="0">
                <a:effectLst/>
              </a:rPr>
              <a:t>"</a:t>
            </a:r>
          </a:p>
          <a:p>
            <a:r>
              <a:rPr lang="zh-CN" altLang="en-US" dirty="0">
                <a:effectLst/>
              </a:rPr>
              <a:t>这样 </a:t>
            </a:r>
            <a:r>
              <a:rPr lang="en-US" altLang="zh-CN" dirty="0">
                <a:effectLst/>
              </a:rPr>
              <a:t>P8→P9 </a:t>
            </a:r>
            <a:r>
              <a:rPr lang="zh-CN" altLang="en-US" dirty="0">
                <a:effectLst/>
              </a:rPr>
              <a:t>的接续会很顺：米是稳定的、有据可依的基本单位；</a:t>
            </a:r>
            <a:r>
              <a:rPr lang="en-US" altLang="zh-CN" dirty="0">
                <a:effectLst/>
              </a:rPr>
              <a:t>km/cm/mm </a:t>
            </a:r>
            <a:r>
              <a:rPr lang="zh-CN" altLang="en-US" dirty="0">
                <a:effectLst/>
              </a:rPr>
              <a:t>只是我们为了方便才起的名字，本质都是米。学生对</a:t>
            </a:r>
            <a:r>
              <a:rPr lang="en-US" altLang="zh-CN" dirty="0">
                <a:effectLst/>
              </a:rPr>
              <a:t>"</a:t>
            </a:r>
            <a:r>
              <a:rPr lang="zh-CN" altLang="en-US" dirty="0">
                <a:effectLst/>
              </a:rPr>
              <a:t>为什么把米作为基本</a:t>
            </a:r>
            <a:r>
              <a:rPr lang="en-US" altLang="zh-CN" dirty="0">
                <a:effectLst/>
              </a:rPr>
              <a:t>"</a:t>
            </a:r>
            <a:r>
              <a:rPr lang="zh-CN" altLang="en-US" dirty="0">
                <a:effectLst/>
              </a:rPr>
              <a:t>这件事就会有一个完整认知。</a:t>
            </a:r>
          </a:p>
          <a:p>
            <a:r>
              <a:rPr lang="zh-CN" altLang="en-US" dirty="0">
                <a:effectLst/>
              </a:rPr>
              <a:t>初中物理 </a:t>
            </a:r>
            <a:r>
              <a:rPr lang="en-US" altLang="zh-CN" dirty="0">
                <a:effectLst/>
              </a:rPr>
              <a:t>c01 </a:t>
            </a:r>
            <a:r>
              <a:rPr lang="zh-CN" altLang="en-US" dirty="0">
                <a:effectLst/>
              </a:rPr>
              <a:t>长度和时间的测量</a:t>
            </a:r>
            <a:r>
              <a:rPr lang="en-US" altLang="zh-CN" dirty="0">
                <a:effectLst/>
              </a:rPr>
              <a:t>f</a:t>
            </a:r>
          </a:p>
          <a:p>
            <a:r>
              <a:rPr lang="en-US" altLang="zh-CN" dirty="0">
                <a:effectLst/>
              </a:rPr>
              <a:t>Presentation · PPTX </a:t>
            </a:r>
          </a:p>
          <a:p>
            <a:r>
              <a:rPr lang="zh-CN" altLang="en-US" dirty="0">
                <a:effectLst/>
              </a:rPr>
              <a:t>三种定义怎么定义的。我需要说明，不过是放在备课笔记中</a:t>
            </a:r>
          </a:p>
          <a:p>
            <a:r>
              <a:rPr lang="zh-CN" altLang="en-US" dirty="0">
                <a:effectLst/>
              </a:rPr>
              <a:t>好，这是给你自己看的备课笔记（不进 </a:t>
            </a:r>
            <a:r>
              <a:rPr lang="en-US" altLang="zh-CN" dirty="0">
                <a:effectLst/>
              </a:rPr>
              <a:t>PPT</a:t>
            </a:r>
            <a:r>
              <a:rPr lang="zh-CN" altLang="en-US" dirty="0">
                <a:effectLst/>
              </a:rPr>
              <a:t>），把三种定义的来龙去脉、精确表述、以及</a:t>
            </a:r>
            <a:r>
              <a:rPr lang="en-US" altLang="zh-CN" dirty="0">
                <a:effectLst/>
              </a:rPr>
              <a:t>"</a:t>
            </a:r>
            <a:r>
              <a:rPr lang="zh-CN" altLang="en-US" dirty="0">
                <a:effectLst/>
              </a:rPr>
              <a:t>为什么要改</a:t>
            </a:r>
            <a:r>
              <a:rPr lang="en-US" altLang="zh-CN" dirty="0">
                <a:effectLst/>
              </a:rPr>
              <a:t>"</a:t>
            </a:r>
            <a:r>
              <a:rPr lang="zh-CN" altLang="en-US" dirty="0">
                <a:effectLst/>
              </a:rPr>
              <a:t>讲清楚，方便你上课时随口就能展开。</a:t>
            </a:r>
          </a:p>
          <a:p>
            <a:br>
              <a:rPr lang="zh-CN" altLang="en-US" dirty="0">
                <a:effectLst/>
              </a:rPr>
            </a:br>
            <a:endParaRPr lang="zh-CN" altLang="en-US" dirty="0">
              <a:effectLst/>
            </a:endParaRPr>
          </a:p>
          <a:p>
            <a:r>
              <a:rPr lang="zh-CN" altLang="en-US" b="1" dirty="0">
                <a:effectLst/>
              </a:rPr>
              <a:t>备课笔记 </a:t>
            </a:r>
            <a:r>
              <a:rPr lang="en-US" altLang="zh-CN" b="1" dirty="0">
                <a:effectLst/>
              </a:rPr>
              <a:t>· </a:t>
            </a:r>
            <a:r>
              <a:rPr lang="zh-CN" altLang="en-US" b="1" dirty="0">
                <a:effectLst/>
              </a:rPr>
              <a:t>米的三次定义</a:t>
            </a:r>
          </a:p>
          <a:p>
            <a:r>
              <a:rPr lang="zh-CN" altLang="en-US" b="1" dirty="0">
                <a:effectLst/>
              </a:rPr>
              <a:t>核心逻辑（贯穿三次定义的主线）</a:t>
            </a:r>
          </a:p>
          <a:p>
            <a:r>
              <a:rPr lang="zh-CN" altLang="en-US" dirty="0">
                <a:effectLst/>
              </a:rPr>
              <a:t>每一次改定义，都是在回答同一个问题：</a:t>
            </a:r>
            <a:r>
              <a:rPr lang="en-US" altLang="zh-CN" b="1" dirty="0">
                <a:effectLst/>
              </a:rPr>
              <a:t>"</a:t>
            </a:r>
            <a:r>
              <a:rPr lang="zh-CN" altLang="en-US" b="1" dirty="0">
                <a:effectLst/>
              </a:rPr>
              <a:t>我们凭什么说这就是 </a:t>
            </a:r>
            <a:r>
              <a:rPr lang="en-US" altLang="zh-CN" b="1" dirty="0">
                <a:effectLst/>
              </a:rPr>
              <a:t>1 </a:t>
            </a:r>
            <a:r>
              <a:rPr lang="zh-CN" altLang="en-US" b="1" dirty="0">
                <a:effectLst/>
              </a:rPr>
              <a:t>米？这个标准够不够稳、够不够准、全世界能不能都复现出来？</a:t>
            </a:r>
            <a:r>
              <a:rPr lang="en-US" altLang="zh-CN" b="1" dirty="0">
                <a:effectLst/>
              </a:rPr>
              <a:t>"</a:t>
            </a:r>
            <a:endParaRPr lang="zh-CN" altLang="en-US" dirty="0">
              <a:effectLst/>
            </a:endParaRPr>
          </a:p>
          <a:p>
            <a:r>
              <a:rPr lang="zh-CN" altLang="en-US" dirty="0">
                <a:effectLst/>
              </a:rPr>
              <a:t>三次演化，本质是标准的载体从 </a:t>
            </a:r>
            <a:r>
              <a:rPr lang="en-US" altLang="zh-CN" b="1" dirty="0">
                <a:effectLst/>
              </a:rPr>
              <a:t>"</a:t>
            </a:r>
            <a:r>
              <a:rPr lang="zh-CN" altLang="en-US" b="1" dirty="0">
                <a:effectLst/>
              </a:rPr>
              <a:t>地球</a:t>
            </a:r>
            <a:r>
              <a:rPr lang="en-US" altLang="zh-CN" b="1" dirty="0">
                <a:effectLst/>
              </a:rPr>
              <a:t>" → "</a:t>
            </a:r>
            <a:r>
              <a:rPr lang="zh-CN" altLang="en-US" b="1" dirty="0">
                <a:effectLst/>
              </a:rPr>
              <a:t>一根实物杆</a:t>
            </a:r>
            <a:r>
              <a:rPr lang="en-US" altLang="zh-CN" b="1" dirty="0">
                <a:effectLst/>
              </a:rPr>
              <a:t>" → "</a:t>
            </a:r>
            <a:r>
              <a:rPr lang="zh-CN" altLang="en-US" b="1" dirty="0">
                <a:effectLst/>
              </a:rPr>
              <a:t>自然常数（光速）</a:t>
            </a:r>
            <a:r>
              <a:rPr lang="en-US" altLang="zh-CN" b="1" dirty="0">
                <a:effectLst/>
              </a:rPr>
              <a:t>"</a:t>
            </a:r>
            <a:r>
              <a:rPr lang="zh-CN" altLang="en-US" dirty="0">
                <a:effectLst/>
              </a:rPr>
              <a:t> 的升级。越往后，越稳定、越精确、越不依赖某个具体的物件。上课时可以把这条线一开始就点给学生。</a:t>
            </a:r>
          </a:p>
          <a:p>
            <a:br>
              <a:rPr lang="zh-CN" altLang="en-US" dirty="0">
                <a:effectLst/>
              </a:rPr>
            </a:br>
            <a:endParaRPr lang="zh-CN" altLang="en-US" dirty="0">
              <a:effectLst/>
            </a:endParaRPr>
          </a:p>
          <a:p>
            <a:r>
              <a:rPr lang="zh-CN" altLang="en-US" b="1" dirty="0">
                <a:effectLst/>
              </a:rPr>
              <a:t>第一次：</a:t>
            </a:r>
            <a:r>
              <a:rPr lang="en-US" altLang="zh-CN" b="1" dirty="0">
                <a:effectLst/>
              </a:rPr>
              <a:t>1791 </a:t>
            </a:r>
            <a:r>
              <a:rPr lang="zh-CN" altLang="en-US" b="1" dirty="0">
                <a:effectLst/>
              </a:rPr>
              <a:t>年 </a:t>
            </a:r>
            <a:r>
              <a:rPr lang="en-US" altLang="zh-CN" b="1" dirty="0">
                <a:effectLst/>
              </a:rPr>
              <a:t>—— </a:t>
            </a:r>
            <a:r>
              <a:rPr lang="zh-CN" altLang="en-US" b="1" dirty="0">
                <a:effectLst/>
              </a:rPr>
              <a:t>用地球定义</a:t>
            </a:r>
          </a:p>
          <a:p>
            <a:r>
              <a:rPr lang="zh-CN" altLang="en-US" b="1" dirty="0">
                <a:effectLst/>
              </a:rPr>
              <a:t>精确表述</a:t>
            </a:r>
            <a:r>
              <a:rPr lang="zh-CN" altLang="en-US" dirty="0">
                <a:effectLst/>
              </a:rPr>
              <a:t>：</a:t>
            </a:r>
            <a:r>
              <a:rPr lang="en-US" altLang="zh-CN" dirty="0">
                <a:effectLst/>
              </a:rPr>
              <a:t>1 </a:t>
            </a:r>
            <a:r>
              <a:rPr lang="zh-CN" altLang="en-US" dirty="0">
                <a:effectLst/>
              </a:rPr>
              <a:t>米 </a:t>
            </a:r>
            <a:r>
              <a:rPr lang="en-US" altLang="zh-CN" dirty="0">
                <a:effectLst/>
              </a:rPr>
              <a:t>= </a:t>
            </a:r>
            <a:r>
              <a:rPr lang="zh-CN" altLang="en-US" dirty="0">
                <a:effectLst/>
              </a:rPr>
              <a:t>通过巴黎的</a:t>
            </a:r>
            <a:r>
              <a:rPr lang="zh-CN" altLang="en-US" b="1" dirty="0">
                <a:effectLst/>
              </a:rPr>
              <a:t>子午线</a:t>
            </a:r>
            <a:r>
              <a:rPr lang="zh-CN" altLang="en-US" dirty="0">
                <a:effectLst/>
              </a:rPr>
              <a:t>，从</a:t>
            </a:r>
            <a:r>
              <a:rPr lang="zh-CN" altLang="en-US" b="1" dirty="0">
                <a:effectLst/>
              </a:rPr>
              <a:t>北极点到赤道</a:t>
            </a:r>
            <a:r>
              <a:rPr lang="zh-CN" altLang="en-US" dirty="0">
                <a:effectLst/>
              </a:rPr>
              <a:t>这段弧长的</a:t>
            </a:r>
            <a:r>
              <a:rPr lang="zh-CN" altLang="en-US" b="1" dirty="0">
                <a:effectLst/>
              </a:rPr>
              <a:t>一千万分之一</a:t>
            </a:r>
            <a:r>
              <a:rPr lang="zh-CN" altLang="en-US" dirty="0">
                <a:effectLst/>
              </a:rPr>
              <a:t>。</a:t>
            </a:r>
          </a:p>
          <a:p>
            <a:r>
              <a:rPr lang="zh-CN" altLang="en-US" b="1" dirty="0">
                <a:effectLst/>
              </a:rPr>
              <a:t>背景</a:t>
            </a:r>
            <a:r>
              <a:rPr lang="zh-CN" altLang="en-US" dirty="0">
                <a:effectLst/>
              </a:rPr>
              <a:t>：法国大革命时期，科学家想造一个</a:t>
            </a:r>
            <a:r>
              <a:rPr lang="en-US" altLang="zh-CN" dirty="0">
                <a:effectLst/>
              </a:rPr>
              <a:t>"</a:t>
            </a:r>
            <a:r>
              <a:rPr lang="zh-CN" altLang="en-US" dirty="0">
                <a:effectLst/>
              </a:rPr>
              <a:t>属于全人类、不属于任何国王</a:t>
            </a:r>
            <a:r>
              <a:rPr lang="en-US" altLang="zh-CN" dirty="0">
                <a:effectLst/>
              </a:rPr>
              <a:t>"</a:t>
            </a:r>
            <a:r>
              <a:rPr lang="zh-CN" altLang="en-US" dirty="0">
                <a:effectLst/>
              </a:rPr>
              <a:t>的单位，于是选了地球本身</a:t>
            </a:r>
            <a:r>
              <a:rPr lang="en-US" altLang="zh-CN" dirty="0">
                <a:effectLst/>
              </a:rPr>
              <a:t>——</a:t>
            </a:r>
            <a:r>
              <a:rPr lang="zh-CN" altLang="en-US" dirty="0">
                <a:effectLst/>
              </a:rPr>
              <a:t>因为地球</a:t>
            </a:r>
            <a:r>
              <a:rPr lang="en-US" altLang="zh-CN" dirty="0">
                <a:effectLst/>
              </a:rPr>
              <a:t>"</a:t>
            </a:r>
            <a:r>
              <a:rPr lang="zh-CN" altLang="en-US" dirty="0">
                <a:effectLst/>
              </a:rPr>
              <a:t>人人都有份</a:t>
            </a:r>
            <a:r>
              <a:rPr lang="en-US" altLang="zh-CN" dirty="0">
                <a:effectLst/>
              </a:rPr>
              <a:t>"</a:t>
            </a:r>
            <a:r>
              <a:rPr lang="zh-CN" altLang="en-US" dirty="0">
                <a:effectLst/>
              </a:rPr>
              <a:t>。他们派测量队实地测量了法国敦刻尔克到西班牙巴塞罗那的一段子午线弧长，再推算出整条子午线，取千万分之一。</a:t>
            </a:r>
          </a:p>
          <a:p>
            <a:r>
              <a:rPr lang="zh-CN" altLang="en-US" b="1" dirty="0">
                <a:effectLst/>
              </a:rPr>
              <a:t>为什么后来不用了</a:t>
            </a:r>
            <a:r>
              <a:rPr lang="zh-CN" altLang="en-US" dirty="0">
                <a:effectLst/>
              </a:rPr>
              <a:t>：</a:t>
            </a:r>
          </a:p>
          <a:p>
            <a:r>
              <a:rPr lang="zh-CN" altLang="en-US" dirty="0">
                <a:effectLst/>
              </a:rPr>
              <a:t>地球</a:t>
            </a:r>
            <a:r>
              <a:rPr lang="zh-CN" altLang="en-US" b="1" dirty="0">
                <a:effectLst/>
              </a:rPr>
              <a:t>根本不是完美的球</a:t>
            </a:r>
            <a:r>
              <a:rPr lang="zh-CN" altLang="en-US" dirty="0">
                <a:effectLst/>
              </a:rPr>
              <a:t>，子午线长度各处略有差异，测量本身有误差</a:t>
            </a:r>
          </a:p>
          <a:p>
            <a:r>
              <a:rPr lang="zh-CN" altLang="en-US" dirty="0">
                <a:effectLst/>
              </a:rPr>
              <a:t>你没法把</a:t>
            </a:r>
            <a:r>
              <a:rPr lang="en-US" altLang="zh-CN" dirty="0">
                <a:effectLst/>
              </a:rPr>
              <a:t>"</a:t>
            </a:r>
            <a:r>
              <a:rPr lang="zh-CN" altLang="en-US" dirty="0">
                <a:effectLst/>
              </a:rPr>
              <a:t>地球的四千万分之一</a:t>
            </a:r>
            <a:r>
              <a:rPr lang="en-US" altLang="zh-CN" dirty="0">
                <a:effectLst/>
              </a:rPr>
              <a:t>"</a:t>
            </a:r>
            <a:r>
              <a:rPr lang="zh-CN" altLang="en-US" dirty="0">
                <a:effectLst/>
              </a:rPr>
              <a:t>随身带着用，实际使用还得靠复制品</a:t>
            </a:r>
          </a:p>
          <a:p>
            <a:r>
              <a:rPr lang="zh-CN" altLang="en-US" dirty="0">
                <a:effectLst/>
              </a:rPr>
              <a:t>后来发现当年的测量结果有约 </a:t>
            </a:r>
            <a:r>
              <a:rPr lang="en-US" altLang="zh-CN" dirty="0">
                <a:effectLst/>
              </a:rPr>
              <a:t>0.2 </a:t>
            </a:r>
            <a:r>
              <a:rPr lang="zh-CN" altLang="en-US" dirty="0">
                <a:effectLst/>
              </a:rPr>
              <a:t>毫米的偏差</a:t>
            </a:r>
          </a:p>
          <a:p>
            <a:r>
              <a:rPr lang="zh-CN" altLang="en-US" dirty="0">
                <a:effectLst/>
              </a:rPr>
              <a:t>上课可讲的点：</a:t>
            </a:r>
            <a:r>
              <a:rPr lang="en-US" altLang="zh-CN" dirty="0">
                <a:effectLst/>
              </a:rPr>
              <a:t>"</a:t>
            </a:r>
            <a:r>
              <a:rPr lang="zh-CN" altLang="en-US" dirty="0">
                <a:effectLst/>
              </a:rPr>
              <a:t>他们想找一个最公平、最大的东西当尺子</a:t>
            </a:r>
            <a:r>
              <a:rPr lang="en-US" altLang="zh-CN" dirty="0">
                <a:effectLst/>
              </a:rPr>
              <a:t>——</a:t>
            </a:r>
            <a:r>
              <a:rPr lang="zh-CN" altLang="en-US" dirty="0">
                <a:effectLst/>
              </a:rPr>
              <a:t>结果选了地球。想法很浪漫，但地球其实量不准。</a:t>
            </a:r>
            <a:r>
              <a:rPr lang="en-US" altLang="zh-CN" dirty="0">
                <a:effectLst/>
              </a:rPr>
              <a:t>"</a:t>
            </a:r>
          </a:p>
          <a:p>
            <a:br>
              <a:rPr lang="en-US" altLang="zh-CN" dirty="0">
                <a:effectLst/>
              </a:rPr>
            </a:br>
            <a:endParaRPr lang="en-US" altLang="zh-CN" dirty="0">
              <a:effectLst/>
            </a:endParaRPr>
          </a:p>
          <a:p>
            <a:r>
              <a:rPr lang="zh-CN" altLang="en-US" b="1" dirty="0">
                <a:effectLst/>
              </a:rPr>
              <a:t>第二次：</a:t>
            </a:r>
            <a:r>
              <a:rPr lang="en-US" altLang="zh-CN" b="1" dirty="0">
                <a:effectLst/>
              </a:rPr>
              <a:t>1889 </a:t>
            </a:r>
            <a:r>
              <a:rPr lang="zh-CN" altLang="en-US" b="1" dirty="0">
                <a:effectLst/>
              </a:rPr>
              <a:t>年 </a:t>
            </a:r>
            <a:r>
              <a:rPr lang="en-US" altLang="zh-CN" b="1" dirty="0">
                <a:effectLst/>
              </a:rPr>
              <a:t>—— </a:t>
            </a:r>
            <a:r>
              <a:rPr lang="zh-CN" altLang="en-US" b="1" dirty="0">
                <a:effectLst/>
              </a:rPr>
              <a:t>用实物杆（米原器）定义</a:t>
            </a:r>
          </a:p>
          <a:p>
            <a:r>
              <a:rPr lang="zh-CN" altLang="en-US" b="1" dirty="0">
                <a:effectLst/>
              </a:rPr>
              <a:t>精确表述</a:t>
            </a:r>
            <a:r>
              <a:rPr lang="zh-CN" altLang="en-US" dirty="0">
                <a:effectLst/>
              </a:rPr>
              <a:t>：</a:t>
            </a:r>
            <a:r>
              <a:rPr lang="en-US" altLang="zh-CN" dirty="0">
                <a:effectLst/>
              </a:rPr>
              <a:t>1 </a:t>
            </a:r>
            <a:r>
              <a:rPr lang="zh-CN" altLang="en-US" dirty="0">
                <a:effectLst/>
              </a:rPr>
              <a:t>米 </a:t>
            </a:r>
            <a:r>
              <a:rPr lang="en-US" altLang="zh-CN" dirty="0">
                <a:effectLst/>
              </a:rPr>
              <a:t>= </a:t>
            </a:r>
            <a:r>
              <a:rPr lang="zh-CN" altLang="en-US" dirty="0">
                <a:effectLst/>
              </a:rPr>
              <a:t>保存在巴黎国际计量局的</a:t>
            </a:r>
            <a:r>
              <a:rPr lang="zh-CN" altLang="en-US" b="1" dirty="0">
                <a:effectLst/>
              </a:rPr>
              <a:t>国际米原器</a:t>
            </a:r>
            <a:r>
              <a:rPr lang="zh-CN" altLang="en-US" dirty="0">
                <a:effectLst/>
              </a:rPr>
              <a:t>（一根</a:t>
            </a:r>
            <a:r>
              <a:rPr lang="zh-CN" altLang="en-US" b="1" dirty="0">
                <a:effectLst/>
              </a:rPr>
              <a:t>铂铱合金</a:t>
            </a:r>
            <a:r>
              <a:rPr lang="en-US" altLang="zh-CN" dirty="0">
                <a:effectLst/>
              </a:rPr>
              <a:t>——90% </a:t>
            </a:r>
            <a:r>
              <a:rPr lang="zh-CN" altLang="en-US" dirty="0">
                <a:effectLst/>
              </a:rPr>
              <a:t>铂 </a:t>
            </a:r>
            <a:r>
              <a:rPr lang="en-US" altLang="zh-CN" dirty="0">
                <a:effectLst/>
              </a:rPr>
              <a:t>+ 10% </a:t>
            </a:r>
            <a:r>
              <a:rPr lang="zh-CN" altLang="en-US" dirty="0">
                <a:effectLst/>
              </a:rPr>
              <a:t>铱</a:t>
            </a:r>
            <a:r>
              <a:rPr lang="en-US" altLang="zh-CN" dirty="0">
                <a:effectLst/>
              </a:rPr>
              <a:t>——</a:t>
            </a:r>
            <a:r>
              <a:rPr lang="zh-CN" altLang="en-US" dirty="0">
                <a:effectLst/>
              </a:rPr>
              <a:t>横截面呈 </a:t>
            </a:r>
            <a:r>
              <a:rPr lang="en-US" altLang="zh-CN" dirty="0">
                <a:effectLst/>
              </a:rPr>
              <a:t>X </a:t>
            </a:r>
            <a:r>
              <a:rPr lang="zh-CN" altLang="en-US" dirty="0">
                <a:effectLst/>
              </a:rPr>
              <a:t>形的杆）上，</a:t>
            </a:r>
            <a:r>
              <a:rPr lang="zh-CN" altLang="en-US" b="1" dirty="0">
                <a:effectLst/>
              </a:rPr>
              <a:t>两条刻线之间的距离</a:t>
            </a:r>
            <a:r>
              <a:rPr lang="zh-CN" altLang="en-US" dirty="0">
                <a:effectLst/>
              </a:rPr>
              <a:t>（在 </a:t>
            </a:r>
            <a:r>
              <a:rPr lang="en-US" altLang="zh-CN" dirty="0">
                <a:effectLst/>
              </a:rPr>
              <a:t>0°C </a:t>
            </a:r>
            <a:r>
              <a:rPr lang="zh-CN" altLang="en-US" dirty="0">
                <a:effectLst/>
              </a:rPr>
              <a:t>时）。</a:t>
            </a:r>
          </a:p>
          <a:p>
            <a:r>
              <a:rPr lang="zh-CN" altLang="en-US" b="1" dirty="0">
                <a:effectLst/>
              </a:rPr>
              <a:t>背景</a:t>
            </a:r>
            <a:r>
              <a:rPr lang="zh-CN" altLang="en-US" dirty="0">
                <a:effectLst/>
              </a:rPr>
              <a:t>：既然地球量不准，那就干脆做一根</a:t>
            </a:r>
            <a:r>
              <a:rPr lang="en-US" altLang="zh-CN" dirty="0">
                <a:effectLst/>
              </a:rPr>
              <a:t>"</a:t>
            </a:r>
            <a:r>
              <a:rPr lang="zh-CN" altLang="en-US" dirty="0">
                <a:effectLst/>
              </a:rPr>
              <a:t>终极标准杆</a:t>
            </a:r>
            <a:r>
              <a:rPr lang="en-US" altLang="zh-CN" dirty="0">
                <a:effectLst/>
              </a:rPr>
              <a:t>"</a:t>
            </a:r>
            <a:r>
              <a:rPr lang="zh-CN" altLang="en-US" dirty="0">
                <a:effectLst/>
              </a:rPr>
              <a:t>锁在保险库里，全世界的尺子都来跟它校准。选铂铱合金是因为它</a:t>
            </a:r>
            <a:r>
              <a:rPr lang="zh-CN" altLang="en-US" b="1" dirty="0">
                <a:effectLst/>
              </a:rPr>
              <a:t>硬、耐腐蚀、热胀冷缩小</a:t>
            </a:r>
            <a:r>
              <a:rPr lang="zh-CN" altLang="en-US" dirty="0">
                <a:effectLst/>
              </a:rPr>
              <a:t>，</a:t>
            </a:r>
            <a:r>
              <a:rPr lang="en-US" altLang="zh-CN" dirty="0">
                <a:effectLst/>
              </a:rPr>
              <a:t>X </a:t>
            </a:r>
            <a:r>
              <a:rPr lang="zh-CN" altLang="en-US" dirty="0">
                <a:effectLst/>
              </a:rPr>
              <a:t>形截面是为了</a:t>
            </a:r>
            <a:r>
              <a:rPr lang="zh-CN" altLang="en-US" b="1" dirty="0">
                <a:effectLst/>
              </a:rPr>
              <a:t>又轻又不易弯曲</a:t>
            </a:r>
            <a:r>
              <a:rPr lang="zh-CN" altLang="en-US" dirty="0">
                <a:effectLst/>
              </a:rPr>
              <a:t>。各国还领了官方复制品回去。</a:t>
            </a:r>
          </a:p>
          <a:p>
            <a:r>
              <a:rPr lang="zh-CN" altLang="en-US" b="1" dirty="0">
                <a:effectLst/>
              </a:rPr>
              <a:t>为什么后来不用了</a:t>
            </a:r>
            <a:r>
              <a:rPr lang="zh-CN" altLang="en-US" dirty="0">
                <a:effectLst/>
              </a:rPr>
              <a:t>：</a:t>
            </a:r>
          </a:p>
          <a:p>
            <a:r>
              <a:rPr lang="zh-CN" altLang="en-US" dirty="0">
                <a:effectLst/>
              </a:rPr>
              <a:t>它是</a:t>
            </a:r>
            <a:r>
              <a:rPr lang="zh-CN" altLang="en-US" b="1" dirty="0">
                <a:effectLst/>
              </a:rPr>
              <a:t>实物</a:t>
            </a:r>
            <a:r>
              <a:rPr lang="zh-CN" altLang="en-US" dirty="0">
                <a:effectLst/>
              </a:rPr>
              <a:t>，就有风险</a:t>
            </a:r>
            <a:r>
              <a:rPr lang="en-US" altLang="zh-CN" dirty="0">
                <a:effectLst/>
              </a:rPr>
              <a:t>——</a:t>
            </a:r>
            <a:r>
              <a:rPr lang="zh-CN" altLang="en-US" dirty="0">
                <a:effectLst/>
              </a:rPr>
              <a:t>会极其缓慢地氧化、磨损、随温度微微变形</a:t>
            </a:r>
          </a:p>
          <a:p>
            <a:r>
              <a:rPr lang="zh-CN" altLang="en-US" b="1" dirty="0">
                <a:effectLst/>
              </a:rPr>
              <a:t>万一巴黎那根丢了、坏了、被偷了，全世界的</a:t>
            </a:r>
            <a:r>
              <a:rPr lang="en-US" altLang="zh-CN" b="1" dirty="0">
                <a:effectLst/>
              </a:rPr>
              <a:t>"</a:t>
            </a:r>
            <a:r>
              <a:rPr lang="zh-CN" altLang="en-US" b="1" dirty="0">
                <a:effectLst/>
              </a:rPr>
              <a:t>米</a:t>
            </a:r>
            <a:r>
              <a:rPr lang="en-US" altLang="zh-CN" b="1" dirty="0">
                <a:effectLst/>
              </a:rPr>
              <a:t>"</a:t>
            </a:r>
            <a:r>
              <a:rPr lang="zh-CN" altLang="en-US" b="1" dirty="0">
                <a:effectLst/>
              </a:rPr>
              <a:t>就没了</a:t>
            </a:r>
            <a:r>
              <a:rPr lang="zh-CN" altLang="en-US" dirty="0">
                <a:effectLst/>
              </a:rPr>
              <a:t>（这是最要命的）</a:t>
            </a:r>
          </a:p>
          <a:p>
            <a:r>
              <a:rPr lang="zh-CN" altLang="en-US" dirty="0">
                <a:effectLst/>
              </a:rPr>
              <a:t>精度到头了：实物杆只能精确到约 </a:t>
            </a:r>
            <a:r>
              <a:rPr lang="en-US" altLang="zh-CN" dirty="0">
                <a:effectLst/>
              </a:rPr>
              <a:t>0.1 </a:t>
            </a:r>
            <a:r>
              <a:rPr lang="zh-CN" altLang="en-US" dirty="0">
                <a:effectLst/>
              </a:rPr>
              <a:t>微米，满足不了现代科技（芯片、航天）的需求</a:t>
            </a:r>
          </a:p>
          <a:p>
            <a:r>
              <a:rPr lang="zh-CN" altLang="en-US" dirty="0">
                <a:effectLst/>
              </a:rPr>
              <a:t>你要拿它校准，还得亲自跑一趟巴黎</a:t>
            </a:r>
          </a:p>
          <a:p>
            <a:r>
              <a:rPr lang="zh-CN" altLang="en-US" dirty="0">
                <a:effectLst/>
              </a:rPr>
              <a:t>上课可讲的点（很好的追问）：</a:t>
            </a:r>
            <a:r>
              <a:rPr lang="en-US" altLang="zh-CN" dirty="0">
                <a:effectLst/>
              </a:rPr>
              <a:t>"</a:t>
            </a:r>
            <a:r>
              <a:rPr lang="zh-CN" altLang="en-US" dirty="0">
                <a:effectLst/>
              </a:rPr>
              <a:t>把标准做成一根杆锁起来</a:t>
            </a:r>
            <a:r>
              <a:rPr lang="en-US" altLang="zh-CN" dirty="0">
                <a:effectLst/>
              </a:rPr>
              <a:t>——</a:t>
            </a:r>
            <a:r>
              <a:rPr lang="zh-CN" altLang="en-US" dirty="0">
                <a:effectLst/>
              </a:rPr>
              <a:t>听着很保险。但请同学想一想，这样做有什么致命的风险？</a:t>
            </a:r>
            <a:r>
              <a:rPr lang="en-US" altLang="zh-CN" dirty="0">
                <a:effectLst/>
              </a:rPr>
              <a:t>"</a:t>
            </a:r>
            <a:r>
              <a:rPr lang="zh-CN" altLang="en-US" dirty="0">
                <a:effectLst/>
              </a:rPr>
              <a:t>（引导出：实物会变、会丢，且只有一根。）</a:t>
            </a:r>
            <a:r>
              <a:rPr lang="zh-CN" altLang="en-US" b="1" dirty="0">
                <a:effectLst/>
              </a:rPr>
              <a:t>这正好引到</a:t>
            </a:r>
            <a:r>
              <a:rPr lang="en-US" altLang="zh-CN" b="1" dirty="0">
                <a:effectLst/>
              </a:rPr>
              <a:t>"</a:t>
            </a:r>
            <a:r>
              <a:rPr lang="zh-CN" altLang="en-US" b="1" dirty="0">
                <a:effectLst/>
              </a:rPr>
              <a:t>标准必须稳定、且可复现</a:t>
            </a:r>
            <a:r>
              <a:rPr lang="en-US" altLang="zh-CN" b="1" dirty="0">
                <a:effectLst/>
              </a:rPr>
              <a:t>"</a:t>
            </a:r>
            <a:r>
              <a:rPr lang="zh-CN" altLang="en-US" b="1" dirty="0">
                <a:effectLst/>
              </a:rPr>
              <a:t>。</a:t>
            </a:r>
            <a:endParaRPr lang="en-US" altLang="zh-CN" b="1" dirty="0">
              <a:effectLst/>
            </a:endParaRPr>
          </a:p>
          <a:p>
            <a:endParaRPr lang="en-US" altLang="zh-CN" b="1" dirty="0">
              <a:effectLst/>
            </a:endParaRPr>
          </a:p>
          <a:p>
            <a:r>
              <a:rPr lang="zh-CN" altLang="en-US" b="1" dirty="0"/>
              <a:t>第三次：</a:t>
            </a:r>
            <a:r>
              <a:rPr lang="en-US" altLang="zh-CN" b="1" dirty="0"/>
              <a:t>1983 </a:t>
            </a:r>
            <a:r>
              <a:rPr lang="zh-CN" altLang="en-US" b="1" dirty="0"/>
              <a:t>年至今 </a:t>
            </a:r>
            <a:r>
              <a:rPr lang="en-US" altLang="zh-CN" b="1" dirty="0"/>
              <a:t>—— </a:t>
            </a:r>
            <a:r>
              <a:rPr lang="zh-CN" altLang="en-US" b="1" dirty="0"/>
              <a:t>用光速定义</a:t>
            </a:r>
          </a:p>
          <a:p>
            <a:r>
              <a:rPr lang="zh-CN" altLang="en-US" b="1" dirty="0"/>
              <a:t>精确表述</a:t>
            </a:r>
            <a:r>
              <a:rPr lang="zh-CN" altLang="en-US" dirty="0"/>
              <a:t>：</a:t>
            </a:r>
            <a:r>
              <a:rPr lang="en-US" altLang="zh-CN" dirty="0"/>
              <a:t>1 </a:t>
            </a:r>
            <a:r>
              <a:rPr lang="zh-CN" altLang="en-US" dirty="0"/>
              <a:t>米 </a:t>
            </a:r>
            <a:r>
              <a:rPr lang="en-US" altLang="zh-CN" dirty="0"/>
              <a:t>= </a:t>
            </a:r>
            <a:r>
              <a:rPr lang="zh-CN" altLang="en-US" dirty="0"/>
              <a:t>光在</a:t>
            </a:r>
            <a:r>
              <a:rPr lang="zh-CN" altLang="en-US" b="1" dirty="0"/>
              <a:t>真空</a:t>
            </a:r>
            <a:r>
              <a:rPr lang="zh-CN" altLang="en-US" dirty="0"/>
              <a:t>中，在 </a:t>
            </a:r>
            <a:r>
              <a:rPr lang="en-US" altLang="zh-CN" b="1" dirty="0"/>
              <a:t>1/299,792,458 </a:t>
            </a:r>
            <a:r>
              <a:rPr lang="zh-CN" altLang="en-US" b="1" dirty="0"/>
              <a:t>秒</a:t>
            </a:r>
            <a:r>
              <a:rPr lang="zh-CN" altLang="en-US" dirty="0"/>
              <a:t> 内所走过的路程。</a:t>
            </a:r>
          </a:p>
          <a:p>
            <a:r>
              <a:rPr lang="zh-CN" altLang="en-US" b="1" dirty="0"/>
              <a:t>背景</a:t>
            </a:r>
            <a:r>
              <a:rPr lang="zh-CN" altLang="en-US" dirty="0"/>
              <a:t>：科学家反过来想</a:t>
            </a:r>
            <a:r>
              <a:rPr lang="en-US" altLang="zh-CN" dirty="0"/>
              <a:t>——</a:t>
            </a:r>
            <a:r>
              <a:rPr lang="zh-CN" altLang="en-US" dirty="0"/>
              <a:t>既然测量总有误差，那我干脆</a:t>
            </a:r>
            <a:r>
              <a:rPr lang="zh-CN" altLang="en-US" b="1" dirty="0"/>
              <a:t>把光速定死为一个精确值</a:t>
            </a:r>
            <a:r>
              <a:rPr lang="zh-CN" altLang="en-US" dirty="0"/>
              <a:t>：真空中光速 </a:t>
            </a:r>
            <a:r>
              <a:rPr lang="en-US" altLang="zh-CN" dirty="0"/>
              <a:t>c = 299,792,458 </a:t>
            </a:r>
            <a:r>
              <a:rPr lang="zh-CN" altLang="en-US" dirty="0"/>
              <a:t>米</a:t>
            </a:r>
            <a:r>
              <a:rPr lang="en-US" altLang="zh-CN" dirty="0"/>
              <a:t>/</a:t>
            </a:r>
            <a:r>
              <a:rPr lang="zh-CN" altLang="en-US" dirty="0"/>
              <a:t>秒（一个不再有误差的规定值）。于是</a:t>
            </a:r>
            <a:r>
              <a:rPr lang="en-US" altLang="zh-CN" dirty="0"/>
              <a:t>"</a:t>
            </a:r>
            <a:r>
              <a:rPr lang="zh-CN" altLang="en-US" dirty="0"/>
              <a:t>米</a:t>
            </a:r>
            <a:r>
              <a:rPr lang="en-US" altLang="zh-CN" dirty="0"/>
              <a:t>"</a:t>
            </a:r>
            <a:r>
              <a:rPr lang="zh-CN" altLang="en-US" dirty="0"/>
              <a:t>就由</a:t>
            </a:r>
            <a:r>
              <a:rPr lang="en-US" altLang="zh-CN" dirty="0"/>
              <a:t>"</a:t>
            </a:r>
            <a:r>
              <a:rPr lang="zh-CN" altLang="en-US" dirty="0"/>
              <a:t>秒</a:t>
            </a:r>
            <a:r>
              <a:rPr lang="en-US" altLang="zh-CN" dirty="0"/>
              <a:t>"</a:t>
            </a:r>
            <a:r>
              <a:rPr lang="zh-CN" altLang="en-US" dirty="0"/>
              <a:t>和</a:t>
            </a:r>
            <a:r>
              <a:rPr lang="en-US" altLang="zh-CN" dirty="0"/>
              <a:t>"</a:t>
            </a:r>
            <a:r>
              <a:rPr lang="zh-CN" altLang="en-US" dirty="0"/>
              <a:t>光速</a:t>
            </a:r>
            <a:r>
              <a:rPr lang="en-US" altLang="zh-CN" dirty="0"/>
              <a:t>"</a:t>
            </a:r>
            <a:r>
              <a:rPr lang="zh-CN" altLang="en-US" dirty="0"/>
              <a:t>共同决定了。</a:t>
            </a:r>
          </a:p>
          <a:p>
            <a:r>
              <a:rPr lang="zh-CN" altLang="en-US" b="1" dirty="0"/>
              <a:t>为什么用光速（这是全课的题眼）</a:t>
            </a:r>
            <a:r>
              <a:rPr lang="zh-CN" altLang="en-US" dirty="0"/>
              <a:t>：</a:t>
            </a:r>
          </a:p>
          <a:p>
            <a:r>
              <a:rPr lang="zh-CN" altLang="en-US" b="1" dirty="0"/>
              <a:t>光速是自然界最稳定的常数之一</a:t>
            </a:r>
            <a:r>
              <a:rPr lang="zh-CN" altLang="en-US" dirty="0"/>
              <a:t>：真空中的光速，在任何时间、任何地点、任何人测，都完全一样</a:t>
            </a:r>
            <a:r>
              <a:rPr lang="en-US" altLang="zh-CN" dirty="0"/>
              <a:t>——</a:t>
            </a:r>
            <a:r>
              <a:rPr lang="zh-CN" altLang="en-US" dirty="0"/>
              <a:t>不会变、不会坏、不会丢</a:t>
            </a:r>
          </a:p>
          <a:p>
            <a:r>
              <a:rPr lang="zh-CN" altLang="en-US" b="1" dirty="0"/>
              <a:t>人人可复现</a:t>
            </a:r>
            <a:r>
              <a:rPr lang="zh-CN" altLang="en-US" dirty="0"/>
              <a:t>：任何一个有精密激光和原子钟的实验室，都能自己</a:t>
            </a:r>
            <a:r>
              <a:rPr lang="en-US" altLang="zh-CN" dirty="0"/>
              <a:t>"</a:t>
            </a:r>
            <a:r>
              <a:rPr lang="zh-CN" altLang="en-US" dirty="0"/>
              <a:t>造</a:t>
            </a:r>
            <a:r>
              <a:rPr lang="en-US" altLang="zh-CN" dirty="0"/>
              <a:t>"</a:t>
            </a:r>
            <a:r>
              <a:rPr lang="zh-CN" altLang="en-US" dirty="0"/>
              <a:t>出 </a:t>
            </a:r>
            <a:r>
              <a:rPr lang="en-US" altLang="zh-CN" dirty="0"/>
              <a:t>1 </a:t>
            </a:r>
            <a:r>
              <a:rPr lang="zh-CN" altLang="en-US" dirty="0"/>
              <a:t>米，不用再跑巴黎</a:t>
            </a:r>
          </a:p>
          <a:p>
            <a:r>
              <a:rPr lang="zh-CN" altLang="en-US" b="1" dirty="0"/>
              <a:t>精度极高</a:t>
            </a:r>
            <a:r>
              <a:rPr lang="zh-CN" altLang="en-US" dirty="0"/>
              <a:t>：现代能精确到 </a:t>
            </a:r>
            <a:r>
              <a:rPr lang="en-US" altLang="zh-CN" dirty="0"/>
              <a:t>10⁻⁹ </a:t>
            </a:r>
            <a:r>
              <a:rPr lang="zh-CN" altLang="en-US" dirty="0"/>
              <a:t>米甚至更好</a:t>
            </a:r>
          </a:p>
          <a:p>
            <a:r>
              <a:rPr lang="zh-CN" altLang="en-US" dirty="0"/>
              <a:t>上课可讲的点：</a:t>
            </a:r>
            <a:r>
              <a:rPr lang="en-US" altLang="zh-CN" dirty="0"/>
              <a:t>"</a:t>
            </a:r>
            <a:r>
              <a:rPr lang="zh-CN" altLang="en-US" dirty="0"/>
              <a:t>从地球，到一根杆，到光</a:t>
            </a:r>
            <a:r>
              <a:rPr lang="en-US" altLang="zh-CN" dirty="0"/>
              <a:t>——</a:t>
            </a:r>
            <a:r>
              <a:rPr lang="zh-CN" altLang="en-US" dirty="0"/>
              <a:t>你发现没有，我们越来越不依赖某个</a:t>
            </a:r>
            <a:r>
              <a:rPr lang="zh-CN" altLang="en-US" b="1" dirty="0"/>
              <a:t>具体的东西</a:t>
            </a:r>
            <a:r>
              <a:rPr lang="zh-CN" altLang="en-US" dirty="0"/>
              <a:t>，而是依赖一条</a:t>
            </a:r>
            <a:r>
              <a:rPr lang="zh-CN" altLang="en-US" b="1" dirty="0"/>
              <a:t>永远不变的自然规律</a:t>
            </a:r>
            <a:r>
              <a:rPr lang="zh-CN" altLang="en-US" dirty="0"/>
              <a:t>。这就是标准的最高境界：稳定、且谁都能复现。</a:t>
            </a:r>
            <a:r>
              <a:rPr lang="en-US" altLang="zh-CN" dirty="0"/>
              <a:t>"</a:t>
            </a:r>
          </a:p>
          <a:p>
            <a:endParaRPr lang="en-US" altLang="zh-CN" dirty="0">
              <a:effectLst/>
            </a:endParaRPr>
          </a:p>
          <a:p>
            <a:r>
              <a:rPr lang="zh-CN" altLang="en-US" b="1" dirty="0"/>
              <a:t>一句话串讲（如果时间紧，可以只说这段）</a:t>
            </a:r>
          </a:p>
          <a:p>
            <a:r>
              <a:rPr lang="en-US" altLang="zh-CN" dirty="0"/>
              <a:t>"1 </a:t>
            </a:r>
            <a:r>
              <a:rPr lang="zh-CN" altLang="en-US" dirty="0"/>
              <a:t>米一开始是用地球定的，但地球量不准；后来做了一根合金杆锁在巴黎，可万一它丢了、变形了怎么办？所以今天我们用</a:t>
            </a:r>
            <a:r>
              <a:rPr lang="zh-CN" altLang="en-US" b="1" dirty="0"/>
              <a:t>光</a:t>
            </a:r>
            <a:r>
              <a:rPr lang="zh-CN" altLang="en-US" dirty="0"/>
              <a:t>来定义</a:t>
            </a:r>
            <a:r>
              <a:rPr lang="en-US" altLang="zh-CN" dirty="0"/>
              <a:t>——</a:t>
            </a:r>
            <a:r>
              <a:rPr lang="zh-CN" altLang="en-US" dirty="0"/>
              <a:t>因为真空中的光速永远不变，全世界任何实验室都能复现。</a:t>
            </a:r>
            <a:r>
              <a:rPr lang="zh-CN" altLang="en-US" b="1" dirty="0"/>
              <a:t>标准，必须稳定。</a:t>
            </a:r>
            <a:r>
              <a:rPr lang="en-US" altLang="zh-CN" dirty="0"/>
              <a:t>"</a:t>
            </a:r>
          </a:p>
          <a:p>
            <a:endParaRPr lang="en-US" altLang="zh-CN" dirty="0">
              <a:effectLst/>
            </a:endParaRPr>
          </a:p>
          <a:p>
            <a:r>
              <a:rPr lang="zh-CN" altLang="en-US" b="1" dirty="0"/>
              <a:t>三个可能被学生问到的问题（预备一下）</a:t>
            </a:r>
          </a:p>
          <a:p>
            <a:r>
              <a:rPr lang="en-US" altLang="zh-CN" b="1" dirty="0"/>
              <a:t>Q</a:t>
            </a:r>
            <a:r>
              <a:rPr lang="zh-CN" altLang="en-US" b="1" dirty="0"/>
              <a:t>：为什么是 </a:t>
            </a:r>
            <a:r>
              <a:rPr lang="en-US" altLang="zh-CN" b="1" dirty="0"/>
              <a:t>1/299792458 </a:t>
            </a:r>
            <a:r>
              <a:rPr lang="zh-CN" altLang="en-US" b="1" dirty="0"/>
              <a:t>这么奇怪的数字？</a:t>
            </a:r>
            <a:br>
              <a:rPr lang="zh-CN" altLang="en-US" dirty="0"/>
            </a:br>
            <a:r>
              <a:rPr lang="en-US" altLang="zh-CN" dirty="0"/>
              <a:t>A</a:t>
            </a:r>
            <a:r>
              <a:rPr lang="zh-CN" altLang="en-US" dirty="0"/>
              <a:t>：因为科学家想让新定义下的</a:t>
            </a:r>
            <a:r>
              <a:rPr lang="en-US" altLang="zh-CN" dirty="0"/>
              <a:t>"1 </a:t>
            </a:r>
            <a:r>
              <a:rPr lang="zh-CN" altLang="en-US" dirty="0"/>
              <a:t>米</a:t>
            </a:r>
            <a:r>
              <a:rPr lang="en-US" altLang="zh-CN" dirty="0"/>
              <a:t>"</a:t>
            </a:r>
            <a:r>
              <a:rPr lang="zh-CN" altLang="en-US" dirty="0"/>
              <a:t>和旧的米原器尽量一样长，不能一改定义课本上的数据全变了。所以反推出这个数字，让新旧米几乎完全衔接。</a:t>
            </a:r>
          </a:p>
          <a:p>
            <a:r>
              <a:rPr lang="en-US" altLang="zh-CN" b="1" dirty="0"/>
              <a:t>Q</a:t>
            </a:r>
            <a:r>
              <a:rPr lang="zh-CN" altLang="en-US" b="1" dirty="0"/>
              <a:t>：那</a:t>
            </a:r>
            <a:r>
              <a:rPr lang="en-US" altLang="zh-CN" b="1" dirty="0"/>
              <a:t>"</a:t>
            </a:r>
            <a:r>
              <a:rPr lang="zh-CN" altLang="en-US" b="1" dirty="0"/>
              <a:t>秒</a:t>
            </a:r>
            <a:r>
              <a:rPr lang="en-US" altLang="zh-CN" b="1" dirty="0"/>
              <a:t>"</a:t>
            </a:r>
            <a:r>
              <a:rPr lang="zh-CN" altLang="en-US" b="1" dirty="0"/>
              <a:t>又是怎么定义的？</a:t>
            </a:r>
            <a:br>
              <a:rPr lang="zh-CN" altLang="en-US" dirty="0"/>
            </a:br>
            <a:r>
              <a:rPr lang="en-US" altLang="zh-CN" dirty="0"/>
              <a:t>A</a:t>
            </a:r>
            <a:r>
              <a:rPr lang="zh-CN" altLang="en-US" dirty="0"/>
              <a:t>：用铯</a:t>
            </a:r>
            <a:r>
              <a:rPr lang="en-US" altLang="zh-CN" dirty="0"/>
              <a:t>-133 </a:t>
            </a:r>
            <a:r>
              <a:rPr lang="zh-CN" altLang="en-US" dirty="0"/>
              <a:t>原子的振动次数定义（铯原子钟）。米依赖秒，秒依赖原子</a:t>
            </a:r>
            <a:r>
              <a:rPr lang="en-US" altLang="zh-CN" dirty="0"/>
              <a:t>——</a:t>
            </a:r>
            <a:r>
              <a:rPr lang="zh-CN" altLang="en-US" dirty="0"/>
              <a:t>所以现在长度和时间的标准，最终都落在</a:t>
            </a:r>
            <a:r>
              <a:rPr lang="zh-CN" altLang="en-US" b="1" dirty="0"/>
              <a:t>原子和光</a:t>
            </a:r>
            <a:r>
              <a:rPr lang="zh-CN" altLang="en-US" dirty="0"/>
              <a:t>这些自然界最稳定的东西上。（这句能呼应你 </a:t>
            </a:r>
            <a:r>
              <a:rPr lang="en-US" altLang="zh-CN" dirty="0"/>
              <a:t>P7 </a:t>
            </a:r>
            <a:r>
              <a:rPr lang="zh-CN" altLang="en-US" dirty="0"/>
              <a:t>讲的</a:t>
            </a:r>
            <a:r>
              <a:rPr lang="en-US" altLang="zh-CN" dirty="0"/>
              <a:t>"</a:t>
            </a:r>
            <a:r>
              <a:rPr lang="zh-CN" altLang="en-US" dirty="0"/>
              <a:t>秒也是基本量</a:t>
            </a:r>
            <a:r>
              <a:rPr lang="en-US" altLang="zh-CN" dirty="0"/>
              <a:t>"</a:t>
            </a:r>
            <a:r>
              <a:rPr lang="zh-CN" altLang="en-US" dirty="0"/>
              <a:t>。）</a:t>
            </a:r>
          </a:p>
          <a:p>
            <a:r>
              <a:rPr lang="en-US" altLang="zh-CN" b="1" dirty="0"/>
              <a:t>Q</a:t>
            </a:r>
            <a:r>
              <a:rPr lang="zh-CN" altLang="en-US" b="1" dirty="0"/>
              <a:t>：光速为什么正好是这个值，是量出来的吗？</a:t>
            </a:r>
            <a:br>
              <a:rPr lang="zh-CN" altLang="en-US" dirty="0"/>
            </a:br>
            <a:r>
              <a:rPr lang="en-US" altLang="zh-CN" dirty="0"/>
              <a:t>A</a:t>
            </a:r>
            <a:r>
              <a:rPr lang="zh-CN" altLang="en-US" dirty="0"/>
              <a:t>：</a:t>
            </a:r>
            <a:r>
              <a:rPr lang="en-US" altLang="zh-CN" dirty="0"/>
              <a:t>1983 </a:t>
            </a:r>
            <a:r>
              <a:rPr lang="zh-CN" altLang="en-US" dirty="0"/>
              <a:t>年之后</a:t>
            </a:r>
            <a:r>
              <a:rPr lang="zh-CN" altLang="en-US" b="1" dirty="0"/>
              <a:t>不再是量出来的，而是规定死的</a:t>
            </a:r>
            <a:r>
              <a:rPr lang="zh-CN" altLang="en-US" dirty="0"/>
              <a:t>。现在光速是精确值，反过来用它去定义米。这是思路的翻转</a:t>
            </a:r>
            <a:r>
              <a:rPr lang="en-US" altLang="zh-CN" dirty="0"/>
              <a:t>——</a:t>
            </a:r>
            <a:r>
              <a:rPr lang="zh-CN" altLang="en-US" dirty="0"/>
              <a:t>以前是</a:t>
            </a:r>
            <a:r>
              <a:rPr lang="en-US" altLang="zh-CN" dirty="0"/>
              <a:t>"</a:t>
            </a:r>
            <a:r>
              <a:rPr lang="zh-CN" altLang="en-US" dirty="0"/>
              <a:t>先有米，再量光速</a:t>
            </a:r>
            <a:r>
              <a:rPr lang="en-US" altLang="zh-CN" dirty="0"/>
              <a:t>"</a:t>
            </a:r>
            <a:r>
              <a:rPr lang="zh-CN" altLang="en-US" dirty="0"/>
              <a:t>，现在是</a:t>
            </a:r>
            <a:r>
              <a:rPr lang="en-US" altLang="zh-CN" dirty="0"/>
              <a:t>"</a:t>
            </a:r>
            <a:r>
              <a:rPr lang="zh-CN" altLang="en-US" dirty="0"/>
              <a:t>先定光速，再定义米</a:t>
            </a:r>
            <a:r>
              <a:rPr lang="en-US" altLang="zh-CN" dirty="0"/>
              <a:t>"</a:t>
            </a:r>
            <a:r>
              <a:rPr lang="zh-CN" altLang="en-US" dirty="0"/>
              <a:t>。</a:t>
            </a:r>
          </a:p>
          <a:p>
            <a:endParaRPr lang="zh-CN" altLang="en-US" dirty="0">
              <a:effectLst/>
            </a:endParaRPr>
          </a:p>
          <a:p>
            <a:endParaRPr lang="zh-CN" altLang="en-US" dirty="0"/>
          </a:p>
        </p:txBody>
      </p:sp>
    </p:spTree>
    <p:extLst>
      <p:ext uri="{BB962C8B-B14F-4D97-AF65-F5344CB8AC3E}">
        <p14:creationId xmlns:p14="http://schemas.microsoft.com/office/powerpoint/2010/main" val="21289995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封面">
    <p:bg>
      <p:bgRef idx="1001">
        <a:schemeClr val="bg1"/>
      </p:bgRef>
    </p:bg>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03BB85C8-EB9A-7782-7B4F-7B444E101485}"/>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
        <p:nvSpPr>
          <p:cNvPr id="2" name="Shape 0">
            <a:extLst>
              <a:ext uri="{FF2B5EF4-FFF2-40B4-BE49-F238E27FC236}">
                <a16:creationId xmlns:a16="http://schemas.microsoft.com/office/drawing/2014/main" id="{9F494D91-3E07-EDB3-B006-950A61420520}"/>
              </a:ext>
            </a:extLst>
          </p:cNvPr>
          <p:cNvSpPr/>
          <p:nvPr userDrawn="1"/>
        </p:nvSpPr>
        <p:spPr>
          <a:xfrm>
            <a:off x="0" y="1600200"/>
            <a:ext cx="9144000" cy="1783080"/>
          </a:xfrm>
          <a:prstGeom prst="rect">
            <a:avLst/>
          </a:prstGeom>
          <a:solidFill>
            <a:srgbClr val="C00000"/>
          </a:solidFill>
          <a:ln w="12700">
            <a:solidFill>
              <a:srgbClr val="C00000"/>
            </a:solidFill>
            <a:prstDash val="solid"/>
          </a:ln>
        </p:spPr>
      </p:sp>
      <p:sp>
        <p:nvSpPr>
          <p:cNvPr id="9" name="标题 1">
            <a:extLst>
              <a:ext uri="{FF2B5EF4-FFF2-40B4-BE49-F238E27FC236}">
                <a16:creationId xmlns:a16="http://schemas.microsoft.com/office/drawing/2014/main" id="{3CC9B6DF-70C6-B2E4-E8DE-1FF5CD0EAA9C}"/>
              </a:ext>
            </a:extLst>
          </p:cNvPr>
          <p:cNvSpPr>
            <a:spLocks noGrp="1"/>
          </p:cNvSpPr>
          <p:nvPr>
            <p:ph type="ctrTitle" hasCustomPrompt="1"/>
          </p:nvPr>
        </p:nvSpPr>
        <p:spPr>
          <a:xfrm>
            <a:off x="364498" y="2065249"/>
            <a:ext cx="5591029" cy="859638"/>
          </a:xfrm>
          <a:prstGeom prst="rect">
            <a:avLst/>
          </a:prstGeom>
        </p:spPr>
        <p:txBody>
          <a:bodyPr anchor="ctr"/>
          <a:lstStyle>
            <a:lvl1pPr algn="l">
              <a:defRPr sz="4400">
                <a:solidFill>
                  <a:schemeClr val="bg1"/>
                </a:solidFill>
                <a:latin typeface="微软雅黑" panose="020B0503020204020204" pitchFamily="34" charset="-122"/>
                <a:ea typeface="微软雅黑" panose="020B0503020204020204" pitchFamily="34" charset="-122"/>
              </a:defRPr>
            </a:lvl1pPr>
          </a:lstStyle>
          <a:p>
            <a:r>
              <a:rPr lang="zh-CN" altLang="en-US" dirty="0"/>
              <a:t>课程内容</a:t>
            </a:r>
          </a:p>
        </p:txBody>
      </p:sp>
      <p:sp>
        <p:nvSpPr>
          <p:cNvPr id="13" name="文本占位符 12">
            <a:extLst>
              <a:ext uri="{FF2B5EF4-FFF2-40B4-BE49-F238E27FC236}">
                <a16:creationId xmlns:a16="http://schemas.microsoft.com/office/drawing/2014/main" id="{411A2847-0610-5489-C886-F0E09016C393}"/>
              </a:ext>
            </a:extLst>
          </p:cNvPr>
          <p:cNvSpPr>
            <a:spLocks noGrp="1"/>
          </p:cNvSpPr>
          <p:nvPr>
            <p:ph type="body" sz="quarter" idx="10" hasCustomPrompt="1"/>
          </p:nvPr>
        </p:nvSpPr>
        <p:spPr>
          <a:xfrm>
            <a:off x="364498" y="1696763"/>
            <a:ext cx="739803" cy="274320"/>
          </a:xfrm>
          <a:prstGeom prst="rect">
            <a:avLst/>
          </a:prstGeom>
        </p:spPr>
        <p:txBody>
          <a:bodyPr/>
          <a:lstStyle>
            <a:lvl1pPr marL="0" indent="0" algn="l">
              <a:buNone/>
              <a:defRPr lang="en-US" altLang="zh-CN" sz="1300" b="1" kern="1200" dirty="0" smtClean="0">
                <a:solidFill>
                  <a:srgbClr val="F4C9C9"/>
                </a:solidFill>
                <a:latin typeface="Consolas" pitchFamily="34" charset="0"/>
                <a:ea typeface="Consolas" pitchFamily="34" charset="-122"/>
                <a:cs typeface="Consolas" pitchFamily="34" charset="-120"/>
              </a:defRPr>
            </a:lvl1pPr>
          </a:lstStyle>
          <a:p>
            <a:pPr lvl="0"/>
            <a:r>
              <a:rPr lang="en-US" altLang="zh-CN" dirty="0"/>
              <a:t>PH01</a:t>
            </a:r>
            <a:endParaRPr lang="zh-CN" altLang="en-US" dirty="0"/>
          </a:p>
        </p:txBody>
      </p:sp>
      <p:sp>
        <p:nvSpPr>
          <p:cNvPr id="17" name="文本占位符 16">
            <a:extLst>
              <a:ext uri="{FF2B5EF4-FFF2-40B4-BE49-F238E27FC236}">
                <a16:creationId xmlns:a16="http://schemas.microsoft.com/office/drawing/2014/main" id="{DF0CD7CB-DCD6-5D7C-B3B3-5EAD59EDD61A}"/>
              </a:ext>
            </a:extLst>
          </p:cNvPr>
          <p:cNvSpPr>
            <a:spLocks noGrp="1"/>
          </p:cNvSpPr>
          <p:nvPr>
            <p:ph type="body" sz="quarter" idx="11" hasCustomPrompt="1"/>
          </p:nvPr>
        </p:nvSpPr>
        <p:spPr>
          <a:xfrm>
            <a:off x="364499" y="3040550"/>
            <a:ext cx="5591028" cy="227067"/>
          </a:xfrm>
          <a:prstGeom prst="rect">
            <a:avLst/>
          </a:prstGeom>
        </p:spPr>
        <p:txBody>
          <a:bodyPr/>
          <a:lstStyle>
            <a:lvl1pPr marL="0" indent="0">
              <a:buNone/>
              <a:defRPr lang="zh-CN" altLang="en-US" sz="1100" kern="1200" dirty="0">
                <a:solidFill>
                  <a:srgbClr val="F4C9C9"/>
                </a:solidFill>
                <a:latin typeface="Microsoft YaHei" pitchFamily="34" charset="0"/>
                <a:ea typeface="Microsoft YaHei" pitchFamily="34" charset="-122"/>
                <a:cs typeface="Microsoft YaHei" pitchFamily="34" charset="-120"/>
              </a:defRPr>
            </a:lvl1pPr>
          </a:lstStyle>
          <a:p>
            <a:pPr lvl="0"/>
            <a:r>
              <a:rPr lang="zh-CN" altLang="en-US" dirty="0"/>
              <a:t>核心知识点</a:t>
            </a:r>
            <a:r>
              <a:rPr lang="en-US" altLang="zh-CN" dirty="0"/>
              <a:t>1</a:t>
            </a:r>
            <a:r>
              <a:rPr lang="en-US" altLang="zh-CN" sz="1100" dirty="0">
                <a:solidFill>
                  <a:srgbClr val="F4C9C9"/>
                </a:solidFill>
                <a:latin typeface="Microsoft YaHei" pitchFamily="34" charset="0"/>
                <a:ea typeface="Microsoft YaHei" pitchFamily="34" charset="-122"/>
                <a:cs typeface="Microsoft YaHei" pitchFamily="34" charset="-120"/>
              </a:rPr>
              <a:t>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2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3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4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5</a:t>
            </a:r>
            <a:endParaRPr lang="zh-CN" altLang="en-US" dirty="0"/>
          </a:p>
        </p:txBody>
      </p:sp>
      <p:pic>
        <p:nvPicPr>
          <p:cNvPr id="19" name="图片 18">
            <a:extLst>
              <a:ext uri="{FF2B5EF4-FFF2-40B4-BE49-F238E27FC236}">
                <a16:creationId xmlns:a16="http://schemas.microsoft.com/office/drawing/2014/main" id="{0DC469C1-484E-92CD-C046-2C8697A12B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668736"/>
            <a:ext cx="1646007" cy="1646007"/>
          </a:xfrm>
          <a:prstGeom prst="rect">
            <a:avLst/>
          </a:prstGeom>
        </p:spPr>
      </p:pic>
    </p:spTree>
    <p:extLst>
      <p:ext uri="{BB962C8B-B14F-4D97-AF65-F5344CB8AC3E}">
        <p14:creationId xmlns:p14="http://schemas.microsoft.com/office/powerpoint/2010/main" val="2576560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结束页">
    <p:bg>
      <p:bgRef idx="1001">
        <a:schemeClr val="bg1"/>
      </p:bgRef>
    </p:bg>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03BB85C8-EB9A-7782-7B4F-7B444E101485}"/>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
        <p:nvSpPr>
          <p:cNvPr id="2" name="Shape 0">
            <a:extLst>
              <a:ext uri="{FF2B5EF4-FFF2-40B4-BE49-F238E27FC236}">
                <a16:creationId xmlns:a16="http://schemas.microsoft.com/office/drawing/2014/main" id="{9F494D91-3E07-EDB3-B006-950A61420520}"/>
              </a:ext>
            </a:extLst>
          </p:cNvPr>
          <p:cNvSpPr/>
          <p:nvPr userDrawn="1"/>
        </p:nvSpPr>
        <p:spPr>
          <a:xfrm>
            <a:off x="0" y="1600200"/>
            <a:ext cx="9144000" cy="1783080"/>
          </a:xfrm>
          <a:prstGeom prst="rect">
            <a:avLst/>
          </a:prstGeom>
          <a:solidFill>
            <a:srgbClr val="C00000"/>
          </a:solidFill>
          <a:ln w="12700">
            <a:solidFill>
              <a:srgbClr val="C00000"/>
            </a:solidFill>
            <a:prstDash val="solid"/>
          </a:ln>
        </p:spPr>
      </p:sp>
      <p:sp>
        <p:nvSpPr>
          <p:cNvPr id="4" name="文本框 3">
            <a:extLst>
              <a:ext uri="{FF2B5EF4-FFF2-40B4-BE49-F238E27FC236}">
                <a16:creationId xmlns:a16="http://schemas.microsoft.com/office/drawing/2014/main" id="{165889D7-A21E-AA29-EBED-1E2522BE8250}"/>
              </a:ext>
            </a:extLst>
          </p:cNvPr>
          <p:cNvSpPr txBox="1"/>
          <p:nvPr userDrawn="1"/>
        </p:nvSpPr>
        <p:spPr>
          <a:xfrm>
            <a:off x="364498" y="2202418"/>
            <a:ext cx="6107864" cy="769441"/>
          </a:xfrm>
          <a:prstGeom prst="rect">
            <a:avLst/>
          </a:prstGeom>
          <a:noFill/>
        </p:spPr>
        <p:txBody>
          <a:bodyPr wrap="square" rtlCol="0">
            <a:spAutoFit/>
          </a:bodyPr>
          <a:lstStyle/>
          <a:p>
            <a:r>
              <a:rPr lang="en-US" altLang="zh-CN" sz="4400" kern="1200" dirty="0">
                <a:solidFill>
                  <a:schemeClr val="bg1"/>
                </a:solidFill>
                <a:latin typeface="微软雅黑" panose="020B0503020204020204" pitchFamily="34" charset="-122"/>
                <a:ea typeface="微软雅黑" panose="020B0503020204020204" pitchFamily="34" charset="-122"/>
                <a:cs typeface="+mj-cs"/>
              </a:rPr>
              <a:t>Thank You !</a:t>
            </a:r>
            <a:endParaRPr lang="zh-CN" altLang="en-US" sz="4400" kern="1200" dirty="0">
              <a:solidFill>
                <a:schemeClr val="bg1"/>
              </a:solidFill>
              <a:latin typeface="微软雅黑" panose="020B0503020204020204" pitchFamily="34" charset="-122"/>
              <a:ea typeface="微软雅黑" panose="020B0503020204020204" pitchFamily="34" charset="-122"/>
              <a:cs typeface="+mj-cs"/>
            </a:endParaRPr>
          </a:p>
        </p:txBody>
      </p:sp>
      <p:pic>
        <p:nvPicPr>
          <p:cNvPr id="5" name="图片 4">
            <a:extLst>
              <a:ext uri="{FF2B5EF4-FFF2-40B4-BE49-F238E27FC236}">
                <a16:creationId xmlns:a16="http://schemas.microsoft.com/office/drawing/2014/main" id="{56D035C5-E9B1-0F2B-CA87-16266E7FDD3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668736"/>
            <a:ext cx="1646007" cy="1646007"/>
          </a:xfrm>
          <a:prstGeom prst="rect">
            <a:avLst/>
          </a:prstGeom>
        </p:spPr>
      </p:pic>
    </p:spTree>
    <p:extLst>
      <p:ext uri="{BB962C8B-B14F-4D97-AF65-F5344CB8AC3E}">
        <p14:creationId xmlns:p14="http://schemas.microsoft.com/office/powerpoint/2010/main" val="371948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容页">
    <p:bg>
      <p:bgRef idx="1001">
        <a:schemeClr val="bg1"/>
      </p:bgRef>
    </p:bg>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03BB85C8-EB9A-7782-7B4F-7B444E101485}"/>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
        <p:nvSpPr>
          <p:cNvPr id="20" name="TitleSquare"/>
          <p:cNvSpPr/>
          <p:nvPr userDrawn="1"/>
        </p:nvSpPr>
        <p:spPr>
          <a:xfrm>
            <a:off x="365760" y="429768"/>
            <a:ext cx="274320" cy="274320"/>
          </a:xfrm>
          <a:prstGeom prst="rect">
            <a:avLst/>
          </a:prstGeom>
          <a:solidFill>
            <a:srgbClr val="C00000"/>
          </a:solidFill>
          <a:ln>
            <a:noFill/>
          </a:ln>
        </p:spPr>
      </p:sp>
      <p:sp>
        <p:nvSpPr>
          <p:cNvPr id="21" name="TitleBar"/>
          <p:cNvSpPr/>
          <p:nvPr userDrawn="1"/>
        </p:nvSpPr>
        <p:spPr>
          <a:xfrm>
            <a:off x="708660" y="429768"/>
            <a:ext cx="54864" cy="274320"/>
          </a:xfrm>
          <a:prstGeom prst="rect">
            <a:avLst/>
          </a:prstGeom>
          <a:solidFill>
            <a:srgbClr val="C00000"/>
          </a:solidFill>
          <a:ln>
            <a:noFill/>
          </a:ln>
        </p:spPr>
      </p:sp>
      <p:sp>
        <p:nvSpPr>
          <p:cNvPr id="4" name="文本占位符 4">
            <a:extLst>
              <a:ext uri="{FF2B5EF4-FFF2-40B4-BE49-F238E27FC236}">
                <a16:creationId xmlns:a16="http://schemas.microsoft.com/office/drawing/2014/main" id="{1021E90B-D636-27FD-DCE6-2BB5D0CEA0A3}"/>
              </a:ext>
            </a:extLst>
          </p:cNvPr>
          <p:cNvSpPr>
            <a:spLocks noGrp="1"/>
          </p:cNvSpPr>
          <p:nvPr>
            <p:ph type="body" sz="quarter" idx="10" hasCustomPrompt="1"/>
          </p:nvPr>
        </p:nvSpPr>
        <p:spPr>
          <a:xfrm>
            <a:off x="891540" y="365760"/>
            <a:ext cx="6776358" cy="402336"/>
          </a:xfrm>
          <a:prstGeom prst="rect">
            <a:avLst/>
          </a:prstGeom>
        </p:spPr>
        <p:txBody>
          <a:bodyPr/>
          <a:lstStyle>
            <a:lvl1pPr marL="0" indent="0">
              <a:buNone/>
              <a:defRPr lang="zh-CN" altLang="en-US" sz="2100" b="1" kern="1200" dirty="0" smtClean="0">
                <a:solidFill>
                  <a:srgbClr val="C00000"/>
                </a:solidFill>
                <a:latin typeface="Microsoft YaHei"/>
                <a:ea typeface="Microsoft YaHei"/>
                <a:cs typeface="+mn-cs"/>
              </a:defRPr>
            </a:lvl1pPr>
            <a:lvl2pPr marL="457200" indent="0">
              <a:buNone/>
              <a:defRPr/>
            </a:lvl2pPr>
          </a:lstStyle>
          <a:p>
            <a:pPr lvl="0"/>
            <a:r>
              <a:rPr lang="zh-CN" altLang="en-US" dirty="0"/>
              <a:t>请输入标题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内容页_角标">
    <p:bg>
      <p:bgRef idx="1001">
        <a:schemeClr val="bg1"/>
      </p:bgRef>
    </p:bg>
    <p:spTree>
      <p:nvGrpSpPr>
        <p:cNvPr id="1" name=""/>
        <p:cNvGrpSpPr/>
        <p:nvPr/>
      </p:nvGrpSpPr>
      <p:grpSpPr>
        <a:xfrm>
          <a:off x="0" y="0"/>
          <a:ext cx="0" cy="0"/>
          <a:chOff x="0" y="0"/>
          <a:chExt cx="0" cy="0"/>
        </a:xfrm>
      </p:grpSpPr>
      <p:pic>
        <p:nvPicPr>
          <p:cNvPr id="30" name="CornerCluster"/>
          <p:cNvPicPr>
            <a:picLocks noChangeAspect="1"/>
          </p:cNvPicPr>
          <p:nvPr userDrawn="1"/>
        </p:nvPicPr>
        <p:blipFill>
          <a:blip r:embed="rId2"/>
          <a:stretch>
            <a:fillRect/>
          </a:stretch>
        </p:blipFill>
        <p:spPr>
          <a:xfrm>
            <a:off x="0" y="0"/>
            <a:ext cx="9144000" cy="5143500"/>
          </a:xfrm>
          <a:prstGeom prst="rect">
            <a:avLst/>
          </a:prstGeom>
        </p:spPr>
      </p:pic>
      <p:sp>
        <p:nvSpPr>
          <p:cNvPr id="3" name="Text 5">
            <a:extLst>
              <a:ext uri="{FF2B5EF4-FFF2-40B4-BE49-F238E27FC236}">
                <a16:creationId xmlns:a16="http://schemas.microsoft.com/office/drawing/2014/main" id="{03BB85C8-EB9A-7782-7B4F-7B444E101485}"/>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
        <p:nvSpPr>
          <p:cNvPr id="20" name="TitleSquare"/>
          <p:cNvSpPr/>
          <p:nvPr userDrawn="1"/>
        </p:nvSpPr>
        <p:spPr>
          <a:xfrm>
            <a:off x="365760" y="429768"/>
            <a:ext cx="274320" cy="274320"/>
          </a:xfrm>
          <a:prstGeom prst="rect">
            <a:avLst/>
          </a:prstGeom>
          <a:solidFill>
            <a:srgbClr val="C00000"/>
          </a:solidFill>
          <a:ln>
            <a:noFill/>
          </a:ln>
        </p:spPr>
      </p:sp>
      <p:sp>
        <p:nvSpPr>
          <p:cNvPr id="21" name="TitleBar"/>
          <p:cNvSpPr/>
          <p:nvPr userDrawn="1"/>
        </p:nvSpPr>
        <p:spPr>
          <a:xfrm>
            <a:off x="708660" y="429768"/>
            <a:ext cx="54864" cy="274320"/>
          </a:xfrm>
          <a:prstGeom prst="rect">
            <a:avLst/>
          </a:prstGeom>
          <a:solidFill>
            <a:srgbClr val="C00000"/>
          </a:solidFill>
          <a:ln>
            <a:noFill/>
          </a:ln>
        </p:spPr>
      </p:sp>
      <p:sp>
        <p:nvSpPr>
          <p:cNvPr id="4" name="文本占位符 4">
            <a:extLst>
              <a:ext uri="{FF2B5EF4-FFF2-40B4-BE49-F238E27FC236}">
                <a16:creationId xmlns:a16="http://schemas.microsoft.com/office/drawing/2014/main" id="{1021E90B-D636-27FD-DCE6-2BB5D0CEA0A3}"/>
              </a:ext>
            </a:extLst>
          </p:cNvPr>
          <p:cNvSpPr>
            <a:spLocks noGrp="1"/>
          </p:cNvSpPr>
          <p:nvPr>
            <p:ph type="body" sz="quarter" idx="10" hasCustomPrompt="1"/>
          </p:nvPr>
        </p:nvSpPr>
        <p:spPr>
          <a:xfrm>
            <a:off x="891540" y="365760"/>
            <a:ext cx="6776358" cy="402336"/>
          </a:xfrm>
          <a:prstGeom prst="rect">
            <a:avLst/>
          </a:prstGeom>
        </p:spPr>
        <p:txBody>
          <a:bodyPr/>
          <a:lstStyle>
            <a:lvl1pPr marL="0" indent="0">
              <a:buNone/>
              <a:defRPr lang="zh-CN" altLang="en-US" sz="2100" b="1" kern="1200" dirty="0" smtClean="0">
                <a:solidFill>
                  <a:srgbClr val="C00000"/>
                </a:solidFill>
                <a:latin typeface="Microsoft YaHei"/>
                <a:ea typeface="Microsoft YaHei"/>
                <a:cs typeface="+mn-cs"/>
              </a:defRPr>
            </a:lvl1pPr>
            <a:lvl2pPr marL="457200" indent="0">
              <a:buNone/>
              <a:defRPr/>
            </a:lvl2pPr>
          </a:lstStyle>
          <a:p>
            <a:pPr lvl="0"/>
            <a:r>
              <a:rPr lang="zh-CN" altLang="en-US" dirty="0"/>
              <a:t>请输入标题</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内容页_无底纹">
    <p:bg>
      <p:bgPr>
        <a:solidFill>
          <a:srgbClr val="FFFFFF"/>
        </a:solidFill>
        <a:effectLst/>
      </p:bgPr>
    </p:bg>
    <p:spTree>
      <p:nvGrpSpPr>
        <p:cNvPr id="1" name=""/>
        <p:cNvGrpSpPr/>
        <p:nvPr/>
      </p:nvGrpSpPr>
      <p:grpSpPr>
        <a:xfrm>
          <a:off x="0" y="0"/>
          <a:ext cx="0" cy="0"/>
          <a:chOff x="0" y="0"/>
          <a:chExt cx="0" cy="0"/>
        </a:xfrm>
      </p:grpSpPr>
      <p:sp>
        <p:nvSpPr>
          <p:cNvPr id="3" name="Text 5">
            <a:extLst>
              <a:ext uri="{FF2B5EF4-FFF2-40B4-BE49-F238E27FC236}">
                <a16:creationId xmlns:a16="http://schemas.microsoft.com/office/drawing/2014/main" id="{03BB85C8-EB9A-7782-7B4F-7B444E101485}"/>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
        <p:nvSpPr>
          <p:cNvPr id="20" name="TitleSquare"/>
          <p:cNvSpPr/>
          <p:nvPr userDrawn="1"/>
        </p:nvSpPr>
        <p:spPr>
          <a:xfrm>
            <a:off x="365760" y="429768"/>
            <a:ext cx="274320" cy="274320"/>
          </a:xfrm>
          <a:prstGeom prst="rect">
            <a:avLst/>
          </a:prstGeom>
          <a:solidFill>
            <a:srgbClr val="C00000"/>
          </a:solidFill>
          <a:ln>
            <a:noFill/>
          </a:ln>
        </p:spPr>
      </p:sp>
      <p:sp>
        <p:nvSpPr>
          <p:cNvPr id="21" name="TitleBar"/>
          <p:cNvSpPr/>
          <p:nvPr userDrawn="1"/>
        </p:nvSpPr>
        <p:spPr>
          <a:xfrm>
            <a:off x="708660" y="429768"/>
            <a:ext cx="54864" cy="274320"/>
          </a:xfrm>
          <a:prstGeom prst="rect">
            <a:avLst/>
          </a:prstGeom>
          <a:solidFill>
            <a:srgbClr val="C00000"/>
          </a:solidFill>
          <a:ln>
            <a:noFill/>
          </a:ln>
        </p:spPr>
      </p:sp>
      <p:sp>
        <p:nvSpPr>
          <p:cNvPr id="4" name="文本占位符 4">
            <a:extLst>
              <a:ext uri="{FF2B5EF4-FFF2-40B4-BE49-F238E27FC236}">
                <a16:creationId xmlns:a16="http://schemas.microsoft.com/office/drawing/2014/main" id="{1021E90B-D636-27FD-DCE6-2BB5D0CEA0A3}"/>
              </a:ext>
            </a:extLst>
          </p:cNvPr>
          <p:cNvSpPr>
            <a:spLocks noGrp="1"/>
          </p:cNvSpPr>
          <p:nvPr>
            <p:ph type="body" sz="quarter" idx="10" hasCustomPrompt="1"/>
          </p:nvPr>
        </p:nvSpPr>
        <p:spPr>
          <a:xfrm>
            <a:off x="891540" y="365760"/>
            <a:ext cx="6776358" cy="402336"/>
          </a:xfrm>
          <a:prstGeom prst="rect">
            <a:avLst/>
          </a:prstGeom>
        </p:spPr>
        <p:txBody>
          <a:bodyPr/>
          <a:lstStyle>
            <a:lvl1pPr marL="0" indent="0">
              <a:buNone/>
              <a:defRPr lang="zh-CN" altLang="en-US" sz="2100" b="1" kern="1200" dirty="0" smtClean="0">
                <a:solidFill>
                  <a:srgbClr val="C00000"/>
                </a:solidFill>
                <a:latin typeface="Microsoft YaHei"/>
                <a:ea typeface="Microsoft YaHei"/>
                <a:cs typeface="+mn-cs"/>
              </a:defRPr>
            </a:lvl1pPr>
            <a:lvl2pPr marL="457200" indent="0">
              <a:buNone/>
              <a:defRPr/>
            </a:lvl2pPr>
          </a:lstStyle>
          <a:p>
            <a:pPr lvl="0"/>
            <a:r>
              <a:rPr lang="zh-CN" altLang="en-US" dirty="0"/>
              <a:t>请输入标题</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封面">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22DEE7EB-B9F9-FF1D-C741-64EFEF7AA654}"/>
              </a:ext>
            </a:extLst>
          </p:cNvPr>
          <p:cNvSpPr/>
          <p:nvPr userDrawn="1"/>
        </p:nvSpPr>
        <p:spPr>
          <a:xfrm>
            <a:off x="0" y="1600200"/>
            <a:ext cx="9144000" cy="1783080"/>
          </a:xfrm>
          <a:prstGeom prst="rect">
            <a:avLst/>
          </a:prstGeom>
          <a:solidFill>
            <a:srgbClr val="C00000"/>
          </a:solidFill>
          <a:ln w="12700">
            <a:solidFill>
              <a:srgbClr val="C00000"/>
            </a:solidFill>
            <a:prstDash val="solid"/>
          </a:ln>
        </p:spPr>
      </p:sp>
      <p:sp>
        <p:nvSpPr>
          <p:cNvPr id="4" name="标题 1">
            <a:extLst>
              <a:ext uri="{FF2B5EF4-FFF2-40B4-BE49-F238E27FC236}">
                <a16:creationId xmlns:a16="http://schemas.microsoft.com/office/drawing/2014/main" id="{C1D49A07-F1D9-49FC-416B-00BC6E086A48}"/>
              </a:ext>
            </a:extLst>
          </p:cNvPr>
          <p:cNvSpPr>
            <a:spLocks noGrp="1"/>
          </p:cNvSpPr>
          <p:nvPr>
            <p:ph type="ctrTitle" hasCustomPrompt="1"/>
          </p:nvPr>
        </p:nvSpPr>
        <p:spPr>
          <a:xfrm>
            <a:off x="364498" y="2065249"/>
            <a:ext cx="5591029" cy="859638"/>
          </a:xfrm>
          <a:prstGeom prst="rect">
            <a:avLst/>
          </a:prstGeom>
        </p:spPr>
        <p:txBody>
          <a:bodyPr anchor="ctr"/>
          <a:lstStyle>
            <a:lvl1pPr algn="l">
              <a:defRPr sz="4400">
                <a:solidFill>
                  <a:schemeClr val="bg1"/>
                </a:solidFill>
                <a:latin typeface="微软雅黑" panose="020B0503020204020204" pitchFamily="34" charset="-122"/>
                <a:ea typeface="微软雅黑" panose="020B0503020204020204" pitchFamily="34" charset="-122"/>
              </a:defRPr>
            </a:lvl1pPr>
          </a:lstStyle>
          <a:p>
            <a:r>
              <a:rPr lang="zh-CN" altLang="en-US" dirty="0"/>
              <a:t>课程内容</a:t>
            </a:r>
          </a:p>
        </p:txBody>
      </p:sp>
      <p:sp>
        <p:nvSpPr>
          <p:cNvPr id="5" name="文本占位符 12">
            <a:extLst>
              <a:ext uri="{FF2B5EF4-FFF2-40B4-BE49-F238E27FC236}">
                <a16:creationId xmlns:a16="http://schemas.microsoft.com/office/drawing/2014/main" id="{A353159D-F200-A70A-27F7-8F8B73EDB868}"/>
              </a:ext>
            </a:extLst>
          </p:cNvPr>
          <p:cNvSpPr>
            <a:spLocks noGrp="1"/>
          </p:cNvSpPr>
          <p:nvPr>
            <p:ph type="body" sz="quarter" idx="10" hasCustomPrompt="1"/>
          </p:nvPr>
        </p:nvSpPr>
        <p:spPr>
          <a:xfrm>
            <a:off x="364498" y="1696763"/>
            <a:ext cx="739803" cy="274320"/>
          </a:xfrm>
          <a:prstGeom prst="rect">
            <a:avLst/>
          </a:prstGeom>
        </p:spPr>
        <p:txBody>
          <a:bodyPr/>
          <a:lstStyle>
            <a:lvl1pPr marL="0" indent="0" algn="l">
              <a:buNone/>
              <a:defRPr lang="en-US" altLang="zh-CN" sz="1300" b="1" kern="1200" dirty="0" smtClean="0">
                <a:solidFill>
                  <a:srgbClr val="F4C9C9"/>
                </a:solidFill>
                <a:latin typeface="Consolas" pitchFamily="34" charset="0"/>
                <a:ea typeface="Consolas" pitchFamily="34" charset="-122"/>
                <a:cs typeface="Consolas" pitchFamily="34" charset="-120"/>
              </a:defRPr>
            </a:lvl1pPr>
          </a:lstStyle>
          <a:p>
            <a:pPr lvl="0"/>
            <a:r>
              <a:rPr lang="en-US" altLang="zh-CN" dirty="0"/>
              <a:t>PH01</a:t>
            </a:r>
            <a:endParaRPr lang="zh-CN" altLang="en-US" dirty="0"/>
          </a:p>
        </p:txBody>
      </p:sp>
      <p:sp>
        <p:nvSpPr>
          <p:cNvPr id="6" name="文本占位符 16">
            <a:extLst>
              <a:ext uri="{FF2B5EF4-FFF2-40B4-BE49-F238E27FC236}">
                <a16:creationId xmlns:a16="http://schemas.microsoft.com/office/drawing/2014/main" id="{6C89A884-3FD4-2544-575E-BEE4E1C036B0}"/>
              </a:ext>
            </a:extLst>
          </p:cNvPr>
          <p:cNvSpPr>
            <a:spLocks noGrp="1"/>
          </p:cNvSpPr>
          <p:nvPr>
            <p:ph type="body" sz="quarter" idx="11" hasCustomPrompt="1"/>
          </p:nvPr>
        </p:nvSpPr>
        <p:spPr>
          <a:xfrm>
            <a:off x="364499" y="3040550"/>
            <a:ext cx="5591028" cy="227067"/>
          </a:xfrm>
          <a:prstGeom prst="rect">
            <a:avLst/>
          </a:prstGeom>
        </p:spPr>
        <p:txBody>
          <a:bodyPr/>
          <a:lstStyle>
            <a:lvl1pPr marL="0" indent="0">
              <a:buNone/>
              <a:defRPr lang="zh-CN" altLang="en-US" sz="1100" kern="1200" dirty="0">
                <a:solidFill>
                  <a:srgbClr val="F4C9C9"/>
                </a:solidFill>
                <a:latin typeface="Microsoft YaHei" pitchFamily="34" charset="0"/>
                <a:ea typeface="Microsoft YaHei" pitchFamily="34" charset="-122"/>
                <a:cs typeface="Microsoft YaHei" pitchFamily="34" charset="-120"/>
              </a:defRPr>
            </a:lvl1pPr>
          </a:lstStyle>
          <a:p>
            <a:pPr lvl="0"/>
            <a:r>
              <a:rPr lang="zh-CN" altLang="en-US" dirty="0"/>
              <a:t>核心知识点</a:t>
            </a:r>
            <a:r>
              <a:rPr lang="en-US" altLang="zh-CN" dirty="0"/>
              <a:t>1</a:t>
            </a:r>
            <a:r>
              <a:rPr lang="en-US" altLang="zh-CN" sz="1100" dirty="0">
                <a:solidFill>
                  <a:srgbClr val="F4C9C9"/>
                </a:solidFill>
                <a:latin typeface="Microsoft YaHei" pitchFamily="34" charset="0"/>
                <a:ea typeface="Microsoft YaHei" pitchFamily="34" charset="-122"/>
                <a:cs typeface="Microsoft YaHei" pitchFamily="34" charset="-120"/>
              </a:rPr>
              <a:t>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2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3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4 · </a:t>
            </a:r>
            <a:r>
              <a:rPr lang="zh-CN" altLang="en-US" sz="1100" dirty="0">
                <a:solidFill>
                  <a:srgbClr val="F4C9C9"/>
                </a:solidFill>
                <a:latin typeface="Microsoft YaHei" pitchFamily="34" charset="0"/>
                <a:ea typeface="Microsoft YaHei" pitchFamily="34" charset="-122"/>
                <a:cs typeface="Microsoft YaHei" pitchFamily="34" charset="-120"/>
              </a:rPr>
              <a:t>核心知识点</a:t>
            </a:r>
            <a:r>
              <a:rPr lang="en-US" altLang="zh-CN" sz="1100" dirty="0">
                <a:solidFill>
                  <a:srgbClr val="F4C9C9"/>
                </a:solidFill>
                <a:latin typeface="Microsoft YaHei" pitchFamily="34" charset="0"/>
                <a:ea typeface="Microsoft YaHei" pitchFamily="34" charset="-122"/>
                <a:cs typeface="Microsoft YaHei" pitchFamily="34" charset="-120"/>
              </a:rPr>
              <a:t>5</a:t>
            </a:r>
            <a:endParaRPr lang="zh-CN" altLang="en-US" dirty="0"/>
          </a:p>
        </p:txBody>
      </p:sp>
      <p:pic>
        <p:nvPicPr>
          <p:cNvPr id="7" name="图片 6">
            <a:extLst>
              <a:ext uri="{FF2B5EF4-FFF2-40B4-BE49-F238E27FC236}">
                <a16:creationId xmlns:a16="http://schemas.microsoft.com/office/drawing/2014/main" id="{A189613D-72C0-0B92-8EF1-0C09E2AEA7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668736"/>
            <a:ext cx="1646007" cy="1646007"/>
          </a:xfrm>
          <a:prstGeom prst="rect">
            <a:avLst/>
          </a:prstGeom>
        </p:spPr>
      </p:pic>
    </p:spTree>
    <p:extLst>
      <p:ext uri="{BB962C8B-B14F-4D97-AF65-F5344CB8AC3E}">
        <p14:creationId xmlns:p14="http://schemas.microsoft.com/office/powerpoint/2010/main" val="2487069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结束页">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AC2D96C7-663A-277B-C264-C547E8A89B5C}"/>
              </a:ext>
            </a:extLst>
          </p:cNvPr>
          <p:cNvSpPr/>
          <p:nvPr userDrawn="1"/>
        </p:nvSpPr>
        <p:spPr>
          <a:xfrm>
            <a:off x="0" y="1600200"/>
            <a:ext cx="9144000" cy="1783080"/>
          </a:xfrm>
          <a:prstGeom prst="rect">
            <a:avLst/>
          </a:prstGeom>
          <a:solidFill>
            <a:srgbClr val="C00000"/>
          </a:solidFill>
          <a:ln w="12700">
            <a:solidFill>
              <a:srgbClr val="C00000"/>
            </a:solidFill>
            <a:prstDash val="solid"/>
          </a:ln>
        </p:spPr>
      </p:sp>
      <p:sp>
        <p:nvSpPr>
          <p:cNvPr id="4" name="文本框 3">
            <a:extLst>
              <a:ext uri="{FF2B5EF4-FFF2-40B4-BE49-F238E27FC236}">
                <a16:creationId xmlns:a16="http://schemas.microsoft.com/office/drawing/2014/main" id="{9E3FF192-DEBA-285D-8FC9-4C94E6446D6D}"/>
              </a:ext>
            </a:extLst>
          </p:cNvPr>
          <p:cNvSpPr txBox="1"/>
          <p:nvPr userDrawn="1"/>
        </p:nvSpPr>
        <p:spPr>
          <a:xfrm>
            <a:off x="364498" y="2202418"/>
            <a:ext cx="6107864" cy="769441"/>
          </a:xfrm>
          <a:prstGeom prst="rect">
            <a:avLst/>
          </a:prstGeom>
          <a:noFill/>
        </p:spPr>
        <p:txBody>
          <a:bodyPr wrap="square" rtlCol="0">
            <a:spAutoFit/>
          </a:bodyPr>
          <a:lstStyle/>
          <a:p>
            <a:r>
              <a:rPr lang="en-US" altLang="zh-CN" sz="4400" kern="1200" dirty="0">
                <a:solidFill>
                  <a:schemeClr val="bg1"/>
                </a:solidFill>
                <a:latin typeface="微软雅黑" panose="020B0503020204020204" pitchFamily="34" charset="-122"/>
                <a:ea typeface="微软雅黑" panose="020B0503020204020204" pitchFamily="34" charset="-122"/>
                <a:cs typeface="+mj-cs"/>
              </a:rPr>
              <a:t>Thank You !</a:t>
            </a:r>
            <a:endParaRPr lang="zh-CN" altLang="en-US" sz="4400" kern="1200" dirty="0">
              <a:solidFill>
                <a:schemeClr val="bg1"/>
              </a:solidFill>
              <a:latin typeface="微软雅黑" panose="020B0503020204020204" pitchFamily="34" charset="-122"/>
              <a:ea typeface="微软雅黑" panose="020B0503020204020204" pitchFamily="34" charset="-122"/>
              <a:cs typeface="+mj-cs"/>
            </a:endParaRPr>
          </a:p>
        </p:txBody>
      </p:sp>
      <p:pic>
        <p:nvPicPr>
          <p:cNvPr id="5" name="图片 4">
            <a:extLst>
              <a:ext uri="{FF2B5EF4-FFF2-40B4-BE49-F238E27FC236}">
                <a16:creationId xmlns:a16="http://schemas.microsoft.com/office/drawing/2014/main" id="{29F03585-DD38-7330-E658-B8748250395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08304" y="1668736"/>
            <a:ext cx="1646007" cy="1646007"/>
          </a:xfrm>
          <a:prstGeom prst="rect">
            <a:avLst/>
          </a:prstGeom>
        </p:spPr>
      </p:pic>
    </p:spTree>
    <p:extLst>
      <p:ext uri="{BB962C8B-B14F-4D97-AF65-F5344CB8AC3E}">
        <p14:creationId xmlns:p14="http://schemas.microsoft.com/office/powerpoint/2010/main" val="75904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内容页">
    <p:spTree>
      <p:nvGrpSpPr>
        <p:cNvPr id="1" name=""/>
        <p:cNvGrpSpPr/>
        <p:nvPr/>
      </p:nvGrpSpPr>
      <p:grpSpPr>
        <a:xfrm>
          <a:off x="0" y="0"/>
          <a:ext cx="0" cy="0"/>
          <a:chOff x="0" y="0"/>
          <a:chExt cx="0" cy="0"/>
        </a:xfrm>
      </p:grpSpPr>
      <p:sp>
        <p:nvSpPr>
          <p:cNvPr id="20" name="TitleSquare"/>
          <p:cNvSpPr/>
          <p:nvPr userDrawn="1"/>
        </p:nvSpPr>
        <p:spPr>
          <a:xfrm>
            <a:off x="365760" y="429768"/>
            <a:ext cx="274320" cy="274320"/>
          </a:xfrm>
          <a:prstGeom prst="rect">
            <a:avLst/>
          </a:prstGeom>
          <a:solidFill>
            <a:srgbClr val="C00000"/>
          </a:solidFill>
          <a:ln>
            <a:noFill/>
          </a:ln>
        </p:spPr>
      </p:sp>
      <p:sp>
        <p:nvSpPr>
          <p:cNvPr id="21" name="TitleBar"/>
          <p:cNvSpPr/>
          <p:nvPr userDrawn="1"/>
        </p:nvSpPr>
        <p:spPr>
          <a:xfrm>
            <a:off x="708660" y="429768"/>
            <a:ext cx="54864" cy="274320"/>
          </a:xfrm>
          <a:prstGeom prst="rect">
            <a:avLst/>
          </a:prstGeom>
          <a:solidFill>
            <a:srgbClr val="C00000"/>
          </a:solidFill>
          <a:ln>
            <a:noFill/>
          </a:ln>
        </p:spPr>
      </p:sp>
      <p:sp>
        <p:nvSpPr>
          <p:cNvPr id="5" name="文本占位符 4">
            <a:extLst>
              <a:ext uri="{FF2B5EF4-FFF2-40B4-BE49-F238E27FC236}">
                <a16:creationId xmlns:a16="http://schemas.microsoft.com/office/drawing/2014/main" id="{E989F1DD-8CBC-69F0-D129-8542B6289CBA}"/>
              </a:ext>
            </a:extLst>
          </p:cNvPr>
          <p:cNvSpPr>
            <a:spLocks noGrp="1"/>
          </p:cNvSpPr>
          <p:nvPr>
            <p:ph type="body" sz="quarter" idx="10" hasCustomPrompt="1"/>
          </p:nvPr>
        </p:nvSpPr>
        <p:spPr>
          <a:xfrm>
            <a:off x="891540" y="365760"/>
            <a:ext cx="6776358" cy="402336"/>
          </a:xfrm>
          <a:prstGeom prst="rect">
            <a:avLst/>
          </a:prstGeom>
        </p:spPr>
        <p:txBody>
          <a:bodyPr/>
          <a:lstStyle>
            <a:lvl1pPr marL="0" indent="0">
              <a:buNone/>
              <a:defRPr lang="zh-CN" altLang="en-US" sz="2100" b="1" kern="1200" dirty="0" smtClean="0">
                <a:solidFill>
                  <a:srgbClr val="C00000"/>
                </a:solidFill>
                <a:latin typeface="Microsoft YaHei"/>
                <a:ea typeface="Microsoft YaHei"/>
                <a:cs typeface="+mn-cs"/>
              </a:defRPr>
            </a:lvl1pPr>
            <a:lvl2pPr marL="457200" indent="0">
              <a:buNone/>
              <a:defRPr/>
            </a:lvl2pPr>
          </a:lstStyle>
          <a:p>
            <a:pPr lvl="0"/>
            <a:r>
              <a:rPr lang="zh-CN" altLang="en-US" dirty="0"/>
              <a:t>请输入标题</a:t>
            </a:r>
          </a:p>
        </p:txBody>
      </p:sp>
      <p:sp>
        <p:nvSpPr>
          <p:cNvPr id="7" name="Text 5">
            <a:extLst>
              <a:ext uri="{FF2B5EF4-FFF2-40B4-BE49-F238E27FC236}">
                <a16:creationId xmlns:a16="http://schemas.microsoft.com/office/drawing/2014/main" id="{71CCC31E-5042-A3E0-F659-4F6C48652A03}"/>
              </a:ext>
            </a:extLst>
          </p:cNvPr>
          <p:cNvSpPr/>
          <p:nvPr userDrawn="1"/>
        </p:nvSpPr>
        <p:spPr>
          <a:xfrm>
            <a:off x="274320" y="4828032"/>
            <a:ext cx="4572000" cy="201168"/>
          </a:xfrm>
          <a:prstGeom prst="rect">
            <a:avLst/>
          </a:prstGeom>
          <a:noFill/>
          <a:ln/>
        </p:spPr>
        <p:txBody>
          <a:bodyPr wrap="square" lIns="0" tIns="0" rIns="0" bIns="0" rtlCol="0" anchor="ctr"/>
          <a:lstStyle/>
          <a:p>
            <a:pPr marL="0" indent="0">
              <a:buNone/>
            </a:pPr>
            <a:r>
              <a:rPr lang="en-US" sz="850" dirty="0">
                <a:solidFill>
                  <a:schemeClr val="bg1">
                    <a:lumMod val="50000"/>
                  </a:schemeClr>
                </a:solidFill>
                <a:latin typeface="Microsoft YaHei" pitchFamily="34" charset="0"/>
                <a:ea typeface="Microsoft YaHei" pitchFamily="34" charset="-122"/>
                <a:cs typeface="Microsoft YaHei" pitchFamily="34" charset="-120"/>
              </a:rPr>
              <a:t>版权归 VEX 学苑·丹阳 所有</a:t>
            </a:r>
            <a:endParaRPr lang="en-US" sz="850" dirty="0">
              <a:solidFill>
                <a:schemeClr val="bg1">
                  <a:lumMod val="50000"/>
                </a:schemeClr>
              </a:solidFill>
            </a:endParaRPr>
          </a:p>
        </p:txBody>
      </p:sp>
    </p:spTree>
    <p:extLst>
      <p:ext uri="{BB962C8B-B14F-4D97-AF65-F5344CB8AC3E}">
        <p14:creationId xmlns:p14="http://schemas.microsoft.com/office/powerpoint/2010/main" val="13393407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000C2ED-98A9-C23F-2EF5-0A11CBAFE302}"/>
              </a:ext>
            </a:extLst>
          </p:cNvPr>
          <p:cNvPicPr>
            <a:picLocks noChangeAspect="1"/>
          </p:cNvPicPr>
          <p:nvPr userDrawn="1"/>
        </p:nvPicPr>
        <p:blipFill>
          <a:blip r:embed="rId7"/>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49" r:id="rId3"/>
    <p:sldLayoutId id="2147483660" r:id="rId4"/>
    <p:sldLayoutId id="2147483670"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FE9C46FF-E243-89BC-AC4B-DE7EB960EB54}"/>
              </a:ext>
            </a:extLst>
          </p:cNvPr>
          <p:cNvSpPr/>
          <p:nvPr userDrawn="1"/>
        </p:nvSpPr>
        <p:spPr>
          <a:xfrm>
            <a:off x="0" y="0"/>
            <a:ext cx="9144000" cy="5143500"/>
          </a:xfrm>
          <a:prstGeom prst="rect">
            <a:avLst/>
          </a:prstGeom>
          <a:solidFill>
            <a:srgbClr val="F5F5F6"/>
          </a:solidFill>
          <a:ln w="12700">
            <a:solidFill>
              <a:srgbClr val="F5F5F6"/>
            </a:solidFill>
            <a:prstDash val="solid"/>
          </a:ln>
        </p:spPr>
      </p:sp>
    </p:spTree>
    <p:extLst>
      <p:ext uri="{BB962C8B-B14F-4D97-AF65-F5344CB8AC3E}">
        <p14:creationId xmlns:p14="http://schemas.microsoft.com/office/powerpoint/2010/main" val="1552035903"/>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r>
              <a:t>PH01</a:t>
            </a:r>
          </a:p>
        </p:txBody>
      </p:sp>
      <p:sp>
        <p:nvSpPr>
          <p:cNvPr id="4" name="Text Placeholder 3"/>
          <p:cNvSpPr>
            <a:spLocks noGrp="1"/>
          </p:cNvSpPr>
          <p:nvPr>
            <p:ph type="body" sz="quarter" idx="11"/>
          </p:nvPr>
        </p:nvSpPr>
        <p:spPr/>
        <p:txBody>
          <a:bodyPr/>
          <a:lstStyle/>
          <a:p>
            <a:r>
              <a:rPr lang="zh-CN" altLang="en-US" dirty="0"/>
              <a:t>物理学研究什么 </a:t>
            </a:r>
            <a:r>
              <a:rPr lang="en-US" altLang="zh-CN" dirty="0"/>
              <a:t>· </a:t>
            </a:r>
            <a:r>
              <a:rPr lang="zh-CN" altLang="en-US" dirty="0"/>
              <a:t>测量的概念 </a:t>
            </a:r>
            <a:r>
              <a:rPr lang="en-US" altLang="zh-CN" dirty="0"/>
              <a:t>· </a:t>
            </a:r>
            <a:r>
              <a:rPr lang="zh-CN" altLang="en-US" dirty="0"/>
              <a:t>测量工具 </a:t>
            </a:r>
            <a:r>
              <a:rPr lang="en-US" altLang="zh-CN" dirty="0"/>
              <a:t>· </a:t>
            </a:r>
            <a:r>
              <a:rPr lang="zh-CN" altLang="en-US" dirty="0"/>
              <a:t>测量方法 </a:t>
            </a:r>
            <a:r>
              <a:rPr lang="en-US" altLang="zh-CN" dirty="0"/>
              <a:t>· </a:t>
            </a:r>
            <a:r>
              <a:rPr lang="zh-CN" altLang="en-US" dirty="0"/>
              <a:t>数据记录</a:t>
            </a:r>
          </a:p>
        </p:txBody>
      </p:sp>
      <p:sp>
        <p:nvSpPr>
          <p:cNvPr id="7" name="标题 1">
            <a:extLst>
              <a:ext uri="{FF2B5EF4-FFF2-40B4-BE49-F238E27FC236}">
                <a16:creationId xmlns:a16="http://schemas.microsoft.com/office/drawing/2014/main" id="{F5365B5D-6E2D-C6CD-B7B6-F9235021D399}"/>
              </a:ext>
            </a:extLst>
          </p:cNvPr>
          <p:cNvSpPr>
            <a:spLocks noGrp="1"/>
          </p:cNvSpPr>
          <p:nvPr>
            <p:ph type="ctrTitle"/>
          </p:nvPr>
        </p:nvSpPr>
        <p:spPr>
          <a:xfrm>
            <a:off x="365125" y="2065338"/>
            <a:ext cx="7297316" cy="858837"/>
          </a:xfrm>
        </p:spPr>
        <p:txBody>
          <a:bodyPr/>
          <a:lstStyle/>
          <a:p>
            <a:r>
              <a:rPr lang="zh-CN" altLang="en-US" dirty="0"/>
              <a:t>初级物理 </a:t>
            </a:r>
            <a:r>
              <a:rPr lang="en-US" altLang="zh-CN" dirty="0"/>
              <a:t>·</a:t>
            </a:r>
            <a:r>
              <a:rPr lang="zh-CN" altLang="en-US" dirty="0"/>
              <a:t> 长度</a:t>
            </a:r>
            <a:r>
              <a:rPr lang="en-US" altLang="zh-CN" dirty="0"/>
              <a:t>/</a:t>
            </a:r>
            <a:r>
              <a:rPr lang="zh-CN" altLang="en-US" dirty="0"/>
              <a:t>时间的测量</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F1B1455D-B0FF-C583-3200-B6CEC6B37CDE}"/>
              </a:ext>
            </a:extLst>
          </p:cNvPr>
          <p:cNvSpPr/>
          <p:nvPr/>
        </p:nvSpPr>
        <p:spPr>
          <a:xfrm>
            <a:off x="256032" y="1234440"/>
            <a:ext cx="196596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BBAD166E-F3FC-767A-65A3-A204663510F9}"/>
              </a:ext>
            </a:extLst>
          </p:cNvPr>
          <p:cNvSpPr/>
          <p:nvPr/>
        </p:nvSpPr>
        <p:spPr>
          <a:xfrm>
            <a:off x="2478024" y="1234440"/>
            <a:ext cx="196596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E8CBF594-AFE9-B9FE-3EFF-6BE2E0D489CA}"/>
              </a:ext>
            </a:extLst>
          </p:cNvPr>
          <p:cNvSpPr/>
          <p:nvPr/>
        </p:nvSpPr>
        <p:spPr>
          <a:xfrm>
            <a:off x="4700016" y="1234440"/>
            <a:ext cx="196596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a:extLst>
              <a:ext uri="{FF2B5EF4-FFF2-40B4-BE49-F238E27FC236}">
                <a16:creationId xmlns:a16="http://schemas.microsoft.com/office/drawing/2014/main" id="{06830B1C-15A9-FEF8-2D9D-AF4EC0C29168}"/>
              </a:ext>
            </a:extLst>
          </p:cNvPr>
          <p:cNvSpPr/>
          <p:nvPr/>
        </p:nvSpPr>
        <p:spPr>
          <a:xfrm>
            <a:off x="6922007" y="1234440"/>
            <a:ext cx="1965960"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Placeholder 1"/>
          <p:cNvSpPr>
            <a:spLocks noGrp="1"/>
          </p:cNvSpPr>
          <p:nvPr>
            <p:ph type="body" sz="quarter" idx="10"/>
          </p:nvPr>
        </p:nvSpPr>
        <p:spPr/>
        <p:txBody>
          <a:bodyPr/>
          <a:lstStyle/>
          <a:p>
            <a:r>
              <a:rPr sz="2300" b="1">
                <a:solidFill>
                  <a:srgbClr val="C00000"/>
                </a:solidFill>
              </a:rPr>
              <a:t>先来看几个身边的现象</a:t>
            </a:r>
          </a:p>
        </p:txBody>
      </p:sp>
      <p:sp>
        <p:nvSpPr>
          <p:cNvPr id="4" name="Rounded Rectangle 3"/>
          <p:cNvSpPr/>
          <p:nvPr/>
        </p:nvSpPr>
        <p:spPr>
          <a:xfrm>
            <a:off x="256032" y="132588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h_rainbow.png"/>
          <p:cNvPicPr>
            <a:picLocks noChangeAspect="1"/>
          </p:cNvPicPr>
          <p:nvPr/>
        </p:nvPicPr>
        <p:blipFill>
          <a:blip r:embed="rId3">
            <a:clrChange>
              <a:clrFrom>
                <a:srgbClr val="000000">
                  <a:alpha val="0"/>
                </a:srgbClr>
              </a:clrFrom>
              <a:clrTo>
                <a:srgbClr val="000000">
                  <a:alpha val="0"/>
                </a:srgbClr>
              </a:clrTo>
            </a:clrChange>
          </a:blip>
          <a:stretch>
            <a:fillRect/>
          </a:stretch>
        </p:blipFill>
        <p:spPr>
          <a:xfrm>
            <a:off x="672084" y="1435608"/>
            <a:ext cx="1133856" cy="1133856"/>
          </a:xfrm>
          <a:prstGeom prst="rect">
            <a:avLst/>
          </a:prstGeom>
        </p:spPr>
      </p:pic>
      <p:sp>
        <p:nvSpPr>
          <p:cNvPr id="6" name="TextBox 5"/>
          <p:cNvSpPr txBox="1"/>
          <p:nvPr/>
        </p:nvSpPr>
        <p:spPr>
          <a:xfrm>
            <a:off x="393192" y="2624328"/>
            <a:ext cx="1691639" cy="502920"/>
          </a:xfrm>
          <a:prstGeom prst="rect">
            <a:avLst/>
          </a:prstGeom>
          <a:noFill/>
        </p:spPr>
        <p:txBody>
          <a:bodyPr wrap="square" lIns="0" tIns="0" rIns="0" bIns="0" anchor="t">
            <a:spAutoFit/>
          </a:bodyPr>
          <a:lstStyle/>
          <a:p>
            <a:pPr algn="ctr">
              <a:lnSpc>
                <a:spcPct val="112000"/>
              </a:lnSpc>
              <a:spcAft>
                <a:spcPts val="500"/>
              </a:spcAft>
            </a:pPr>
            <a:r>
              <a:rPr sz="1200" b="1" dirty="0" err="1">
                <a:solidFill>
                  <a:srgbClr val="2B2B2B"/>
                </a:solidFill>
                <a:latin typeface="微软雅黑"/>
              </a:rPr>
              <a:t>雨后天空出现彩虹</a:t>
            </a:r>
            <a:endParaRPr sz="1200" b="1" dirty="0">
              <a:solidFill>
                <a:srgbClr val="2B2B2B"/>
              </a:solidFill>
              <a:latin typeface="微软雅黑"/>
            </a:endParaRPr>
          </a:p>
        </p:txBody>
      </p:sp>
      <p:grpSp>
        <p:nvGrpSpPr>
          <p:cNvPr id="30" name="组合 29">
            <a:extLst>
              <a:ext uri="{FF2B5EF4-FFF2-40B4-BE49-F238E27FC236}">
                <a16:creationId xmlns:a16="http://schemas.microsoft.com/office/drawing/2014/main" id="{65673FC2-38CA-FF2A-7F64-DDB496072382}"/>
              </a:ext>
            </a:extLst>
          </p:cNvPr>
          <p:cNvGrpSpPr/>
          <p:nvPr/>
        </p:nvGrpSpPr>
        <p:grpSpPr>
          <a:xfrm>
            <a:off x="854964" y="3017520"/>
            <a:ext cx="768096" cy="274320"/>
            <a:chOff x="854964" y="3017520"/>
            <a:chExt cx="768096" cy="274320"/>
          </a:xfrm>
        </p:grpSpPr>
        <p:sp>
          <p:nvSpPr>
            <p:cNvPr id="7" name="Rounded Rectangle 6"/>
            <p:cNvSpPr/>
            <p:nvPr/>
          </p:nvSpPr>
          <p:spPr>
            <a:xfrm>
              <a:off x="854964" y="3017520"/>
              <a:ext cx="768096" cy="274320"/>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4964" y="3017520"/>
              <a:ext cx="768096" cy="274320"/>
            </a:xfrm>
            <a:prstGeom prst="rect">
              <a:avLst/>
            </a:prstGeom>
            <a:noFill/>
          </p:spPr>
          <p:txBody>
            <a:bodyPr wrap="square" lIns="0" tIns="0" rIns="0" bIns="0" anchor="ctr">
              <a:spAutoFit/>
            </a:bodyPr>
            <a:lstStyle/>
            <a:p>
              <a:pPr algn="ctr">
                <a:lnSpc>
                  <a:spcPct val="112000"/>
                </a:lnSpc>
                <a:spcAft>
                  <a:spcPts val="500"/>
                </a:spcAft>
              </a:pPr>
              <a:r>
                <a:rPr sz="1100" b="1">
                  <a:solidFill>
                    <a:srgbClr val="FFFFFF"/>
                  </a:solidFill>
                  <a:latin typeface="微软雅黑"/>
                </a:rPr>
                <a:t>光</a:t>
              </a:r>
            </a:p>
          </p:txBody>
        </p:sp>
      </p:grpSp>
      <p:sp>
        <p:nvSpPr>
          <p:cNvPr id="10" name="Rounded Rectangle 9"/>
          <p:cNvSpPr/>
          <p:nvPr/>
        </p:nvSpPr>
        <p:spPr>
          <a:xfrm>
            <a:off x="2478024" y="132588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h_apple.png"/>
          <p:cNvPicPr>
            <a:picLocks noChangeAspect="1"/>
          </p:cNvPicPr>
          <p:nvPr/>
        </p:nvPicPr>
        <p:blipFill>
          <a:blip r:embed="rId4">
            <a:clrChange>
              <a:clrFrom>
                <a:srgbClr val="000000">
                  <a:alpha val="0"/>
                </a:srgbClr>
              </a:clrFrom>
              <a:clrTo>
                <a:srgbClr val="000000">
                  <a:alpha val="0"/>
                </a:srgbClr>
              </a:clrTo>
            </a:clrChange>
          </a:blip>
          <a:stretch>
            <a:fillRect/>
          </a:stretch>
        </p:blipFill>
        <p:spPr>
          <a:xfrm>
            <a:off x="2894076" y="1435608"/>
            <a:ext cx="1133856" cy="1133856"/>
          </a:xfrm>
          <a:prstGeom prst="rect">
            <a:avLst/>
          </a:prstGeom>
        </p:spPr>
      </p:pic>
      <p:sp>
        <p:nvSpPr>
          <p:cNvPr id="12" name="TextBox 11"/>
          <p:cNvSpPr txBox="1"/>
          <p:nvPr/>
        </p:nvSpPr>
        <p:spPr>
          <a:xfrm>
            <a:off x="2615184" y="2624328"/>
            <a:ext cx="1691639" cy="502920"/>
          </a:xfrm>
          <a:prstGeom prst="rect">
            <a:avLst/>
          </a:prstGeom>
          <a:noFill/>
        </p:spPr>
        <p:txBody>
          <a:bodyPr wrap="square" lIns="0" tIns="0" rIns="0" bIns="0" anchor="t">
            <a:spAutoFit/>
          </a:bodyPr>
          <a:lstStyle/>
          <a:p>
            <a:pPr algn="ctr">
              <a:lnSpc>
                <a:spcPct val="112000"/>
              </a:lnSpc>
              <a:spcAft>
                <a:spcPts val="500"/>
              </a:spcAft>
            </a:pPr>
            <a:r>
              <a:rPr sz="1200" b="1">
                <a:solidFill>
                  <a:srgbClr val="2B2B2B"/>
                </a:solidFill>
                <a:latin typeface="微软雅黑"/>
              </a:rPr>
              <a:t>苹果总是落向地面</a:t>
            </a:r>
          </a:p>
        </p:txBody>
      </p:sp>
      <p:grpSp>
        <p:nvGrpSpPr>
          <p:cNvPr id="32" name="组合 31">
            <a:extLst>
              <a:ext uri="{FF2B5EF4-FFF2-40B4-BE49-F238E27FC236}">
                <a16:creationId xmlns:a16="http://schemas.microsoft.com/office/drawing/2014/main" id="{00FE0F51-788B-9C21-E8C6-9E444D6FF611}"/>
              </a:ext>
            </a:extLst>
          </p:cNvPr>
          <p:cNvGrpSpPr/>
          <p:nvPr/>
        </p:nvGrpSpPr>
        <p:grpSpPr>
          <a:xfrm>
            <a:off x="3076956" y="3017520"/>
            <a:ext cx="768096" cy="274320"/>
            <a:chOff x="3076956" y="3017520"/>
            <a:chExt cx="768096" cy="274320"/>
          </a:xfrm>
        </p:grpSpPr>
        <p:sp>
          <p:nvSpPr>
            <p:cNvPr id="13" name="Rounded Rectangle 12"/>
            <p:cNvSpPr/>
            <p:nvPr/>
          </p:nvSpPr>
          <p:spPr>
            <a:xfrm>
              <a:off x="3076956" y="3017520"/>
              <a:ext cx="768096" cy="274320"/>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76956" y="3017520"/>
              <a:ext cx="768096" cy="274320"/>
            </a:xfrm>
            <a:prstGeom prst="rect">
              <a:avLst/>
            </a:prstGeom>
            <a:noFill/>
          </p:spPr>
          <p:txBody>
            <a:bodyPr wrap="square" lIns="0" tIns="0" rIns="0" bIns="0" anchor="ctr">
              <a:spAutoFit/>
            </a:bodyPr>
            <a:lstStyle/>
            <a:p>
              <a:pPr algn="ctr">
                <a:lnSpc>
                  <a:spcPct val="112000"/>
                </a:lnSpc>
                <a:spcAft>
                  <a:spcPts val="500"/>
                </a:spcAft>
              </a:pPr>
              <a:r>
                <a:rPr sz="1100" b="1">
                  <a:solidFill>
                    <a:srgbClr val="FFFFFF"/>
                  </a:solidFill>
                  <a:latin typeface="微软雅黑"/>
                </a:rPr>
                <a:t>力</a:t>
              </a:r>
            </a:p>
          </p:txBody>
        </p:sp>
      </p:grpSp>
      <p:sp>
        <p:nvSpPr>
          <p:cNvPr id="16" name="Rounded Rectangle 15"/>
          <p:cNvSpPr/>
          <p:nvPr/>
        </p:nvSpPr>
        <p:spPr>
          <a:xfrm>
            <a:off x="4700016" y="132588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ph_magnet.png"/>
          <p:cNvPicPr>
            <a:picLocks noChangeAspect="1"/>
          </p:cNvPicPr>
          <p:nvPr/>
        </p:nvPicPr>
        <p:blipFill>
          <a:blip r:embed="rId5">
            <a:clrChange>
              <a:clrFrom>
                <a:srgbClr val="000000">
                  <a:alpha val="0"/>
                </a:srgbClr>
              </a:clrFrom>
              <a:clrTo>
                <a:srgbClr val="000000">
                  <a:alpha val="0"/>
                </a:srgbClr>
              </a:clrTo>
            </a:clrChange>
          </a:blip>
          <a:stretch>
            <a:fillRect/>
          </a:stretch>
        </p:blipFill>
        <p:spPr>
          <a:xfrm>
            <a:off x="5116068" y="1435608"/>
            <a:ext cx="1133856" cy="1133856"/>
          </a:xfrm>
          <a:prstGeom prst="rect">
            <a:avLst/>
          </a:prstGeom>
        </p:spPr>
      </p:pic>
      <p:sp>
        <p:nvSpPr>
          <p:cNvPr id="18" name="TextBox 17"/>
          <p:cNvSpPr txBox="1"/>
          <p:nvPr/>
        </p:nvSpPr>
        <p:spPr>
          <a:xfrm>
            <a:off x="4837176" y="2624328"/>
            <a:ext cx="1691639" cy="502920"/>
          </a:xfrm>
          <a:prstGeom prst="rect">
            <a:avLst/>
          </a:prstGeom>
          <a:noFill/>
        </p:spPr>
        <p:txBody>
          <a:bodyPr wrap="square" lIns="0" tIns="0" rIns="0" bIns="0" anchor="t">
            <a:spAutoFit/>
          </a:bodyPr>
          <a:lstStyle/>
          <a:p>
            <a:pPr algn="ctr">
              <a:lnSpc>
                <a:spcPct val="112000"/>
              </a:lnSpc>
              <a:spcAft>
                <a:spcPts val="500"/>
              </a:spcAft>
            </a:pPr>
            <a:r>
              <a:rPr sz="1200" b="1">
                <a:solidFill>
                  <a:srgbClr val="2B2B2B"/>
                </a:solidFill>
                <a:latin typeface="微软雅黑"/>
              </a:rPr>
              <a:t>磁铁隔空吸起铁钉</a:t>
            </a:r>
          </a:p>
        </p:txBody>
      </p:sp>
      <p:grpSp>
        <p:nvGrpSpPr>
          <p:cNvPr id="31" name="组合 30">
            <a:extLst>
              <a:ext uri="{FF2B5EF4-FFF2-40B4-BE49-F238E27FC236}">
                <a16:creationId xmlns:a16="http://schemas.microsoft.com/office/drawing/2014/main" id="{010CB77E-4C2F-29DE-F50F-C2CD840D6408}"/>
              </a:ext>
            </a:extLst>
          </p:cNvPr>
          <p:cNvGrpSpPr/>
          <p:nvPr/>
        </p:nvGrpSpPr>
        <p:grpSpPr>
          <a:xfrm>
            <a:off x="5298948" y="3017520"/>
            <a:ext cx="768096" cy="274320"/>
            <a:chOff x="5298948" y="3017520"/>
            <a:chExt cx="768096" cy="274320"/>
          </a:xfrm>
        </p:grpSpPr>
        <p:sp>
          <p:nvSpPr>
            <p:cNvPr id="19" name="Rounded Rectangle 18"/>
            <p:cNvSpPr/>
            <p:nvPr/>
          </p:nvSpPr>
          <p:spPr>
            <a:xfrm>
              <a:off x="5298948" y="3017520"/>
              <a:ext cx="768096" cy="274320"/>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98948" y="3017520"/>
              <a:ext cx="768096" cy="274320"/>
            </a:xfrm>
            <a:prstGeom prst="rect">
              <a:avLst/>
            </a:prstGeom>
            <a:noFill/>
          </p:spPr>
          <p:txBody>
            <a:bodyPr wrap="square" lIns="0" tIns="0" rIns="0" bIns="0" anchor="ctr">
              <a:spAutoFit/>
            </a:bodyPr>
            <a:lstStyle/>
            <a:p>
              <a:pPr algn="ctr">
                <a:lnSpc>
                  <a:spcPct val="112000"/>
                </a:lnSpc>
                <a:spcAft>
                  <a:spcPts val="500"/>
                </a:spcAft>
              </a:pPr>
              <a:r>
                <a:rPr sz="1100" b="1">
                  <a:solidFill>
                    <a:srgbClr val="FFFFFF"/>
                  </a:solidFill>
                  <a:latin typeface="微软雅黑"/>
                </a:rPr>
                <a:t>磁 / 电</a:t>
              </a:r>
            </a:p>
          </p:txBody>
        </p:sp>
      </p:grpSp>
      <p:sp>
        <p:nvSpPr>
          <p:cNvPr id="22" name="Rounded Rectangle 21"/>
          <p:cNvSpPr/>
          <p:nvPr/>
        </p:nvSpPr>
        <p:spPr>
          <a:xfrm>
            <a:off x="6922007" y="132588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ph_kettle.png"/>
          <p:cNvPicPr>
            <a:picLocks noChangeAspect="1"/>
          </p:cNvPicPr>
          <p:nvPr/>
        </p:nvPicPr>
        <p:blipFill>
          <a:blip r:embed="rId6">
            <a:clrChange>
              <a:clrFrom>
                <a:srgbClr val="000000">
                  <a:alpha val="0"/>
                </a:srgbClr>
              </a:clrFrom>
              <a:clrTo>
                <a:srgbClr val="000000">
                  <a:alpha val="0"/>
                </a:srgbClr>
              </a:clrTo>
            </a:clrChange>
          </a:blip>
          <a:stretch>
            <a:fillRect/>
          </a:stretch>
        </p:blipFill>
        <p:spPr>
          <a:xfrm>
            <a:off x="7338060" y="1435608"/>
            <a:ext cx="1133856" cy="1133856"/>
          </a:xfrm>
          <a:prstGeom prst="rect">
            <a:avLst/>
          </a:prstGeom>
        </p:spPr>
      </p:pic>
      <p:sp>
        <p:nvSpPr>
          <p:cNvPr id="24" name="TextBox 23"/>
          <p:cNvSpPr txBox="1"/>
          <p:nvPr/>
        </p:nvSpPr>
        <p:spPr>
          <a:xfrm>
            <a:off x="7059168" y="2624328"/>
            <a:ext cx="1691639" cy="502920"/>
          </a:xfrm>
          <a:prstGeom prst="rect">
            <a:avLst/>
          </a:prstGeom>
          <a:noFill/>
        </p:spPr>
        <p:txBody>
          <a:bodyPr wrap="square" lIns="0" tIns="0" rIns="0" bIns="0" anchor="t">
            <a:spAutoFit/>
          </a:bodyPr>
          <a:lstStyle/>
          <a:p>
            <a:pPr algn="ctr">
              <a:lnSpc>
                <a:spcPct val="112000"/>
              </a:lnSpc>
              <a:spcAft>
                <a:spcPts val="500"/>
              </a:spcAft>
            </a:pPr>
            <a:r>
              <a:rPr sz="1200" b="1">
                <a:solidFill>
                  <a:srgbClr val="2B2B2B"/>
                </a:solidFill>
                <a:latin typeface="微软雅黑"/>
              </a:rPr>
              <a:t>水烧开冒出『白气』</a:t>
            </a:r>
          </a:p>
        </p:txBody>
      </p:sp>
      <p:grpSp>
        <p:nvGrpSpPr>
          <p:cNvPr id="29" name="组合 28">
            <a:extLst>
              <a:ext uri="{FF2B5EF4-FFF2-40B4-BE49-F238E27FC236}">
                <a16:creationId xmlns:a16="http://schemas.microsoft.com/office/drawing/2014/main" id="{E7885C2E-B2FA-6203-37FF-A74C2C3D3424}"/>
              </a:ext>
            </a:extLst>
          </p:cNvPr>
          <p:cNvGrpSpPr/>
          <p:nvPr/>
        </p:nvGrpSpPr>
        <p:grpSpPr>
          <a:xfrm>
            <a:off x="7520940" y="3017520"/>
            <a:ext cx="768096" cy="274320"/>
            <a:chOff x="7520940" y="3017520"/>
            <a:chExt cx="768096" cy="274320"/>
          </a:xfrm>
        </p:grpSpPr>
        <p:sp>
          <p:nvSpPr>
            <p:cNvPr id="25" name="Rounded Rectangle 24"/>
            <p:cNvSpPr/>
            <p:nvPr/>
          </p:nvSpPr>
          <p:spPr>
            <a:xfrm>
              <a:off x="7520940" y="3017520"/>
              <a:ext cx="768096" cy="274320"/>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20940" y="3017520"/>
              <a:ext cx="768096" cy="274320"/>
            </a:xfrm>
            <a:prstGeom prst="rect">
              <a:avLst/>
            </a:prstGeom>
            <a:noFill/>
          </p:spPr>
          <p:txBody>
            <a:bodyPr wrap="square" lIns="0" tIns="0" rIns="0" bIns="0" anchor="ctr">
              <a:spAutoFit/>
            </a:bodyPr>
            <a:lstStyle/>
            <a:p>
              <a:pPr algn="ctr">
                <a:lnSpc>
                  <a:spcPct val="112000"/>
                </a:lnSpc>
                <a:spcAft>
                  <a:spcPts val="500"/>
                </a:spcAft>
              </a:pPr>
              <a:r>
                <a:rPr sz="1100" b="1">
                  <a:solidFill>
                    <a:srgbClr val="FFFFFF"/>
                  </a:solidFill>
                  <a:latin typeface="微软雅黑"/>
                </a:rPr>
                <a:t>热</a:t>
              </a:r>
            </a:p>
          </p:txBody>
        </p:sp>
      </p:grpSp>
      <p:sp>
        <p:nvSpPr>
          <p:cNvPr id="27" name="Rounded Rectangle 26"/>
          <p:cNvSpPr/>
          <p:nvPr/>
        </p:nvSpPr>
        <p:spPr>
          <a:xfrm>
            <a:off x="1371600" y="3977639"/>
            <a:ext cx="6400800" cy="566928"/>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554480" y="3977639"/>
            <a:ext cx="6035040" cy="566928"/>
          </a:xfrm>
          <a:prstGeom prst="rect">
            <a:avLst/>
          </a:prstGeom>
          <a:noFill/>
        </p:spPr>
        <p:txBody>
          <a:bodyPr wrap="square" lIns="0" tIns="0" rIns="0" bIns="0" anchor="ctr">
            <a:spAutoFit/>
          </a:bodyPr>
          <a:lstStyle/>
          <a:p>
            <a:pPr algn="ctr">
              <a:lnSpc>
                <a:spcPct val="112000"/>
              </a:lnSpc>
              <a:spcAft>
                <a:spcPts val="500"/>
              </a:spcAft>
            </a:pPr>
            <a:r>
              <a:rPr sz="1400" b="0">
                <a:solidFill>
                  <a:srgbClr val="FFFFFF"/>
                </a:solidFill>
                <a:latin typeface="微软雅黑"/>
              </a:rPr>
              <a:t>这些现象看似无关，背后却都藏着</a:t>
            </a:r>
            <a:r>
              <a:rPr sz="1400" b="1">
                <a:solidFill>
                  <a:srgbClr val="FFD88A"/>
                </a:solidFill>
                <a:latin typeface="微软雅黑"/>
              </a:rPr>
              <a:t>规律</a:t>
            </a:r>
            <a:r>
              <a:rPr sz="1400" b="0">
                <a:solidFill>
                  <a:srgbClr val="FFFFFF"/>
                </a:solidFill>
                <a:latin typeface="微软雅黑"/>
              </a:rPr>
              <a:t>。研究它们的，是同一门学科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00"/>
                                        <p:tgtEl>
                                          <p:spTgt spid="2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2">
            <a:extLst>
              <a:ext uri="{FF2B5EF4-FFF2-40B4-BE49-F238E27FC236}">
                <a16:creationId xmlns:a16="http://schemas.microsoft.com/office/drawing/2014/main" id="{06CB9DA2-ADA4-9620-D928-BA665950A7E3}"/>
              </a:ext>
            </a:extLst>
          </p:cNvPr>
          <p:cNvSpPr/>
          <p:nvPr/>
        </p:nvSpPr>
        <p:spPr>
          <a:xfrm>
            <a:off x="975360" y="1341120"/>
            <a:ext cx="7498079"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Placeholder 1"/>
          <p:cNvSpPr>
            <a:spLocks noGrp="1"/>
          </p:cNvSpPr>
          <p:nvPr>
            <p:ph type="body" sz="quarter" idx="10"/>
          </p:nvPr>
        </p:nvSpPr>
        <p:spPr/>
        <p:txBody>
          <a:bodyPr/>
          <a:lstStyle/>
          <a:p>
            <a:r>
              <a:rPr sz="2300" b="1" dirty="0">
                <a:solidFill>
                  <a:srgbClr val="C00000"/>
                </a:solidFill>
              </a:rPr>
              <a:t>物理学：研究什么？</a:t>
            </a:r>
          </a:p>
        </p:txBody>
      </p:sp>
      <p:sp>
        <p:nvSpPr>
          <p:cNvPr id="3" name="Rounded Rectangle 2"/>
          <p:cNvSpPr/>
          <p:nvPr/>
        </p:nvSpPr>
        <p:spPr>
          <a:xfrm>
            <a:off x="822960" y="1188720"/>
            <a:ext cx="7498079" cy="1234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280160"/>
            <a:ext cx="82296" cy="10515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389888"/>
            <a:ext cx="6949440" cy="890372"/>
          </a:xfrm>
          <a:prstGeom prst="rect">
            <a:avLst/>
          </a:prstGeom>
          <a:noFill/>
        </p:spPr>
        <p:txBody>
          <a:bodyPr wrap="square" lIns="0" tIns="0" rIns="0" bIns="0" anchor="t">
            <a:spAutoFit/>
          </a:bodyPr>
          <a:lstStyle/>
          <a:p>
            <a:pPr algn="l">
              <a:lnSpc>
                <a:spcPct val="112000"/>
              </a:lnSpc>
              <a:spcAft>
                <a:spcPts val="500"/>
              </a:spcAft>
            </a:pPr>
            <a:r>
              <a:rPr sz="1700" b="1" dirty="0" err="1">
                <a:solidFill>
                  <a:srgbClr val="C00000"/>
                </a:solidFill>
                <a:latin typeface="微软雅黑" panose="020B0503020204020204" pitchFamily="34" charset="-122"/>
                <a:ea typeface="微软雅黑" panose="020B0503020204020204" pitchFamily="34" charset="-122"/>
              </a:rPr>
              <a:t>物理学（Physics</a:t>
            </a:r>
            <a:r>
              <a:rPr sz="1700" b="1" dirty="0">
                <a:solidFill>
                  <a:srgbClr val="C00000"/>
                </a:solidFill>
                <a:latin typeface="微软雅黑" panose="020B0503020204020204" pitchFamily="34" charset="-122"/>
                <a:ea typeface="微软雅黑" panose="020B0503020204020204" pitchFamily="34" charset="-122"/>
              </a:rPr>
              <a:t>）</a:t>
            </a:r>
            <a:endParaRPr lang="en-US" sz="1700" b="1" dirty="0">
              <a:solidFill>
                <a:srgbClr val="C00000"/>
              </a:solidFill>
              <a:latin typeface="微软雅黑" panose="020B0503020204020204" pitchFamily="34" charset="-122"/>
              <a:ea typeface="微软雅黑" panose="020B0503020204020204" pitchFamily="34" charset="-122"/>
            </a:endParaRPr>
          </a:p>
          <a:p>
            <a:pPr>
              <a:lnSpc>
                <a:spcPct val="112000"/>
              </a:lnSpc>
              <a:spcAft>
                <a:spcPts val="500"/>
              </a:spcAft>
            </a:pPr>
            <a:r>
              <a:rPr lang="zh-CN" altLang="en-US" sz="1400" dirty="0">
                <a:solidFill>
                  <a:srgbClr val="2B2B2B"/>
                </a:solidFill>
                <a:latin typeface="微软雅黑" panose="020B0503020204020204" pitchFamily="34" charset="-122"/>
                <a:ea typeface="微软雅黑" panose="020B0503020204020204" pitchFamily="34" charset="-122"/>
              </a:rPr>
              <a:t>研究物质结构、相互作用和运动规律的一门自然科学</a:t>
            </a:r>
            <a:endParaRPr lang="en-US" altLang="zh-CN" sz="1400" dirty="0">
              <a:solidFill>
                <a:srgbClr val="2B2B2B"/>
              </a:solidFill>
              <a:latin typeface="微软雅黑" panose="020B0503020204020204" pitchFamily="34" charset="-122"/>
              <a:ea typeface="微软雅黑" panose="020B0503020204020204" pitchFamily="34" charset="-122"/>
            </a:endParaRPr>
          </a:p>
          <a:p>
            <a:pPr>
              <a:lnSpc>
                <a:spcPct val="112000"/>
              </a:lnSpc>
              <a:spcAft>
                <a:spcPts val="500"/>
              </a:spcAft>
            </a:pPr>
            <a:r>
              <a:rPr lang="zh-CN" altLang="en-US" sz="1400" dirty="0">
                <a:solidFill>
                  <a:srgbClr val="2B2B2B"/>
                </a:solidFill>
                <a:latin typeface="微软雅黑" panose="020B0503020204020204" pitchFamily="34" charset="-122"/>
                <a:ea typeface="微软雅黑" panose="020B0503020204020204" pitchFamily="34" charset="-122"/>
              </a:rPr>
              <a:t>涉及 </a:t>
            </a:r>
            <a:r>
              <a:rPr lang="zh-CN" altLang="en-US" sz="1400" b="1" dirty="0">
                <a:solidFill>
                  <a:srgbClr val="C00000"/>
                </a:solidFill>
                <a:latin typeface="微软雅黑" panose="020B0503020204020204" pitchFamily="34" charset="-122"/>
                <a:ea typeface="微软雅黑" panose="020B0503020204020204" pitchFamily="34" charset="-122"/>
              </a:rPr>
              <a:t>声、光、热、力、电</a:t>
            </a:r>
            <a:r>
              <a:rPr lang="zh-CN" altLang="en-US" sz="1400" dirty="0">
                <a:solidFill>
                  <a:srgbClr val="2B2B2B"/>
                </a:solidFill>
                <a:latin typeface="微软雅黑" panose="020B0503020204020204" pitchFamily="34" charset="-122"/>
                <a:ea typeface="微软雅黑" panose="020B0503020204020204" pitchFamily="34" charset="-122"/>
              </a:rPr>
              <a:t> 等自然现象，以及</a:t>
            </a:r>
            <a:r>
              <a:rPr lang="zh-CN" altLang="en-US" sz="1400" b="1" dirty="0">
                <a:solidFill>
                  <a:srgbClr val="C00000"/>
                </a:solidFill>
                <a:latin typeface="微软雅黑" panose="020B0503020204020204" pitchFamily="34" charset="-122"/>
                <a:ea typeface="微软雅黑" panose="020B0503020204020204" pitchFamily="34" charset="-122"/>
              </a:rPr>
              <a:t>原子、分子</a:t>
            </a:r>
            <a:r>
              <a:rPr lang="zh-CN" altLang="en-US" sz="1400" dirty="0">
                <a:solidFill>
                  <a:srgbClr val="2B2B2B"/>
                </a:solidFill>
                <a:latin typeface="微软雅黑" panose="020B0503020204020204" pitchFamily="34" charset="-122"/>
                <a:ea typeface="微软雅黑" panose="020B0503020204020204" pitchFamily="34" charset="-122"/>
              </a:rPr>
              <a:t>等微观世界</a:t>
            </a:r>
          </a:p>
        </p:txBody>
      </p:sp>
      <p:sp>
        <p:nvSpPr>
          <p:cNvPr id="7" name="Rounded Rectangle 6"/>
          <p:cNvSpPr/>
          <p:nvPr/>
        </p:nvSpPr>
        <p:spPr>
          <a:xfrm>
            <a:off x="612647" y="2788920"/>
            <a:ext cx="14813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7" y="2898648"/>
            <a:ext cx="1481328" cy="320040"/>
          </a:xfrm>
          <a:prstGeom prst="rect">
            <a:avLst/>
          </a:prstGeom>
          <a:noFill/>
        </p:spPr>
        <p:txBody>
          <a:bodyPr wrap="square" lIns="0" tIns="0" rIns="0" bIns="0" anchor="t">
            <a:spAutoFit/>
          </a:bodyPr>
          <a:lstStyle/>
          <a:p>
            <a:pPr algn="ctr">
              <a:lnSpc>
                <a:spcPct val="112000"/>
              </a:lnSpc>
              <a:spcAft>
                <a:spcPts val="500"/>
              </a:spcAft>
            </a:pPr>
            <a:r>
              <a:rPr sz="1200" b="0" dirty="0" err="1">
                <a:solidFill>
                  <a:srgbClr val="6B6B6B"/>
                </a:solidFill>
                <a:latin typeface="微软雅黑"/>
              </a:rPr>
              <a:t>彩虹</a:t>
            </a:r>
            <a:endParaRPr sz="1200" b="0" dirty="0">
              <a:solidFill>
                <a:srgbClr val="6B6B6B"/>
              </a:solidFill>
              <a:latin typeface="微软雅黑"/>
            </a:endParaRPr>
          </a:p>
        </p:txBody>
      </p:sp>
      <p:sp>
        <p:nvSpPr>
          <p:cNvPr id="9" name="TextBox 8"/>
          <p:cNvSpPr txBox="1"/>
          <p:nvPr/>
        </p:nvSpPr>
        <p:spPr>
          <a:xfrm>
            <a:off x="612647" y="3227832"/>
            <a:ext cx="1481328" cy="347472"/>
          </a:xfrm>
          <a:prstGeom prst="rect">
            <a:avLst/>
          </a:prstGeom>
          <a:noFill/>
        </p:spPr>
        <p:txBody>
          <a:bodyPr wrap="square" lIns="0" tIns="0" rIns="0" bIns="0" anchor="t">
            <a:spAutoFit/>
          </a:bodyPr>
          <a:lstStyle/>
          <a:p>
            <a:pPr algn="ctr">
              <a:lnSpc>
                <a:spcPct val="112000"/>
              </a:lnSpc>
              <a:spcAft>
                <a:spcPts val="500"/>
              </a:spcAft>
            </a:pPr>
            <a:r>
              <a:rPr sz="1400" b="1">
                <a:solidFill>
                  <a:srgbClr val="C00000"/>
                </a:solidFill>
                <a:latin typeface="微软雅黑"/>
              </a:rPr>
              <a:t>光学</a:t>
            </a:r>
          </a:p>
        </p:txBody>
      </p:sp>
      <p:sp>
        <p:nvSpPr>
          <p:cNvPr id="10" name="Rounded Rectangle 9"/>
          <p:cNvSpPr/>
          <p:nvPr/>
        </p:nvSpPr>
        <p:spPr>
          <a:xfrm>
            <a:off x="2221991" y="2788920"/>
            <a:ext cx="14813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21991" y="2898648"/>
            <a:ext cx="1481328" cy="320040"/>
          </a:xfrm>
          <a:prstGeom prst="rect">
            <a:avLst/>
          </a:prstGeom>
          <a:noFill/>
        </p:spPr>
        <p:txBody>
          <a:bodyPr wrap="square" lIns="0" tIns="0" rIns="0" bIns="0" anchor="t">
            <a:spAutoFit/>
          </a:bodyPr>
          <a:lstStyle/>
          <a:p>
            <a:pPr algn="ctr">
              <a:lnSpc>
                <a:spcPct val="112000"/>
              </a:lnSpc>
              <a:spcAft>
                <a:spcPts val="500"/>
              </a:spcAft>
            </a:pPr>
            <a:r>
              <a:rPr sz="1200" b="0">
                <a:solidFill>
                  <a:srgbClr val="6B6B6B"/>
                </a:solidFill>
                <a:latin typeface="微软雅黑"/>
              </a:rPr>
              <a:t>苹果落地</a:t>
            </a:r>
          </a:p>
        </p:txBody>
      </p:sp>
      <p:sp>
        <p:nvSpPr>
          <p:cNvPr id="12" name="TextBox 11"/>
          <p:cNvSpPr txBox="1"/>
          <p:nvPr/>
        </p:nvSpPr>
        <p:spPr>
          <a:xfrm>
            <a:off x="2221991" y="3227832"/>
            <a:ext cx="1481328" cy="347472"/>
          </a:xfrm>
          <a:prstGeom prst="rect">
            <a:avLst/>
          </a:prstGeom>
          <a:noFill/>
        </p:spPr>
        <p:txBody>
          <a:bodyPr wrap="square" lIns="0" tIns="0" rIns="0" bIns="0" anchor="t">
            <a:spAutoFit/>
          </a:bodyPr>
          <a:lstStyle/>
          <a:p>
            <a:pPr algn="ctr">
              <a:lnSpc>
                <a:spcPct val="112000"/>
              </a:lnSpc>
              <a:spcAft>
                <a:spcPts val="500"/>
              </a:spcAft>
            </a:pPr>
            <a:r>
              <a:rPr sz="1400" b="1">
                <a:solidFill>
                  <a:srgbClr val="C00000"/>
                </a:solidFill>
                <a:latin typeface="微软雅黑"/>
              </a:rPr>
              <a:t>力学</a:t>
            </a:r>
          </a:p>
        </p:txBody>
      </p:sp>
      <p:sp>
        <p:nvSpPr>
          <p:cNvPr id="13" name="Rounded Rectangle 12"/>
          <p:cNvSpPr/>
          <p:nvPr/>
        </p:nvSpPr>
        <p:spPr>
          <a:xfrm>
            <a:off x="3831335" y="2788920"/>
            <a:ext cx="14813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31335" y="2898648"/>
            <a:ext cx="1481328" cy="320040"/>
          </a:xfrm>
          <a:prstGeom prst="rect">
            <a:avLst/>
          </a:prstGeom>
          <a:noFill/>
        </p:spPr>
        <p:txBody>
          <a:bodyPr wrap="square" lIns="0" tIns="0" rIns="0" bIns="0" anchor="t">
            <a:spAutoFit/>
          </a:bodyPr>
          <a:lstStyle/>
          <a:p>
            <a:pPr algn="ctr">
              <a:lnSpc>
                <a:spcPct val="112000"/>
              </a:lnSpc>
              <a:spcAft>
                <a:spcPts val="500"/>
              </a:spcAft>
            </a:pPr>
            <a:r>
              <a:rPr sz="1200" b="0">
                <a:solidFill>
                  <a:srgbClr val="6B6B6B"/>
                </a:solidFill>
                <a:latin typeface="微软雅黑"/>
              </a:rPr>
              <a:t>磁铁吸铁</a:t>
            </a:r>
          </a:p>
        </p:txBody>
      </p:sp>
      <p:sp>
        <p:nvSpPr>
          <p:cNvPr id="15" name="TextBox 14"/>
          <p:cNvSpPr txBox="1"/>
          <p:nvPr/>
        </p:nvSpPr>
        <p:spPr>
          <a:xfrm>
            <a:off x="3831335" y="3227832"/>
            <a:ext cx="1481328" cy="347472"/>
          </a:xfrm>
          <a:prstGeom prst="rect">
            <a:avLst/>
          </a:prstGeom>
          <a:noFill/>
        </p:spPr>
        <p:txBody>
          <a:bodyPr wrap="square" lIns="0" tIns="0" rIns="0" bIns="0" anchor="t">
            <a:spAutoFit/>
          </a:bodyPr>
          <a:lstStyle/>
          <a:p>
            <a:pPr algn="ctr">
              <a:lnSpc>
                <a:spcPct val="112000"/>
              </a:lnSpc>
              <a:spcAft>
                <a:spcPts val="500"/>
              </a:spcAft>
            </a:pPr>
            <a:r>
              <a:rPr sz="1400" b="1">
                <a:solidFill>
                  <a:srgbClr val="C00000"/>
                </a:solidFill>
                <a:latin typeface="微软雅黑"/>
              </a:rPr>
              <a:t>电磁学</a:t>
            </a:r>
          </a:p>
        </p:txBody>
      </p:sp>
      <p:sp>
        <p:nvSpPr>
          <p:cNvPr id="16" name="Rounded Rectangle 15"/>
          <p:cNvSpPr/>
          <p:nvPr/>
        </p:nvSpPr>
        <p:spPr>
          <a:xfrm>
            <a:off x="5440680" y="2788920"/>
            <a:ext cx="14813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40680" y="2898648"/>
            <a:ext cx="1481328" cy="320040"/>
          </a:xfrm>
          <a:prstGeom prst="rect">
            <a:avLst/>
          </a:prstGeom>
          <a:noFill/>
        </p:spPr>
        <p:txBody>
          <a:bodyPr wrap="square" lIns="0" tIns="0" rIns="0" bIns="0" anchor="t">
            <a:spAutoFit/>
          </a:bodyPr>
          <a:lstStyle/>
          <a:p>
            <a:pPr algn="ctr">
              <a:lnSpc>
                <a:spcPct val="112000"/>
              </a:lnSpc>
              <a:spcAft>
                <a:spcPts val="500"/>
              </a:spcAft>
            </a:pPr>
            <a:r>
              <a:rPr sz="1200" b="0">
                <a:solidFill>
                  <a:srgbClr val="6B6B6B"/>
                </a:solidFill>
                <a:latin typeface="微软雅黑"/>
              </a:rPr>
              <a:t>水开白气</a:t>
            </a:r>
          </a:p>
        </p:txBody>
      </p:sp>
      <p:sp>
        <p:nvSpPr>
          <p:cNvPr id="18" name="TextBox 17"/>
          <p:cNvSpPr txBox="1"/>
          <p:nvPr/>
        </p:nvSpPr>
        <p:spPr>
          <a:xfrm>
            <a:off x="5440680" y="3227832"/>
            <a:ext cx="1481328" cy="347472"/>
          </a:xfrm>
          <a:prstGeom prst="rect">
            <a:avLst/>
          </a:prstGeom>
          <a:noFill/>
        </p:spPr>
        <p:txBody>
          <a:bodyPr wrap="square" lIns="0" tIns="0" rIns="0" bIns="0" anchor="t">
            <a:spAutoFit/>
          </a:bodyPr>
          <a:lstStyle/>
          <a:p>
            <a:pPr algn="ctr">
              <a:lnSpc>
                <a:spcPct val="112000"/>
              </a:lnSpc>
              <a:spcAft>
                <a:spcPts val="500"/>
              </a:spcAft>
            </a:pPr>
            <a:r>
              <a:rPr sz="1400" b="1">
                <a:solidFill>
                  <a:srgbClr val="C00000"/>
                </a:solidFill>
                <a:latin typeface="微软雅黑"/>
              </a:rPr>
              <a:t>热学</a:t>
            </a:r>
          </a:p>
        </p:txBody>
      </p:sp>
      <p:sp>
        <p:nvSpPr>
          <p:cNvPr id="19" name="Rounded Rectangle 18"/>
          <p:cNvSpPr/>
          <p:nvPr/>
        </p:nvSpPr>
        <p:spPr>
          <a:xfrm>
            <a:off x="7050024" y="2788920"/>
            <a:ext cx="1481328" cy="8412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50024" y="2898648"/>
            <a:ext cx="1481328" cy="320040"/>
          </a:xfrm>
          <a:prstGeom prst="rect">
            <a:avLst/>
          </a:prstGeom>
          <a:noFill/>
        </p:spPr>
        <p:txBody>
          <a:bodyPr wrap="square" lIns="0" tIns="0" rIns="0" bIns="0" anchor="t">
            <a:spAutoFit/>
          </a:bodyPr>
          <a:lstStyle/>
          <a:p>
            <a:pPr algn="ctr">
              <a:lnSpc>
                <a:spcPct val="112000"/>
              </a:lnSpc>
              <a:spcAft>
                <a:spcPts val="500"/>
              </a:spcAft>
            </a:pPr>
            <a:r>
              <a:rPr sz="1200" b="0">
                <a:solidFill>
                  <a:srgbClr val="6B6B6B"/>
                </a:solidFill>
                <a:latin typeface="微软雅黑"/>
              </a:rPr>
              <a:t>回声</a:t>
            </a:r>
          </a:p>
        </p:txBody>
      </p:sp>
      <p:sp>
        <p:nvSpPr>
          <p:cNvPr id="21" name="TextBox 20"/>
          <p:cNvSpPr txBox="1"/>
          <p:nvPr/>
        </p:nvSpPr>
        <p:spPr>
          <a:xfrm>
            <a:off x="7050024" y="3227832"/>
            <a:ext cx="1481328" cy="347472"/>
          </a:xfrm>
          <a:prstGeom prst="rect">
            <a:avLst/>
          </a:prstGeom>
          <a:noFill/>
        </p:spPr>
        <p:txBody>
          <a:bodyPr wrap="square" lIns="0" tIns="0" rIns="0" bIns="0" anchor="t">
            <a:spAutoFit/>
          </a:bodyPr>
          <a:lstStyle/>
          <a:p>
            <a:pPr algn="ctr">
              <a:lnSpc>
                <a:spcPct val="112000"/>
              </a:lnSpc>
              <a:spcAft>
                <a:spcPts val="500"/>
              </a:spcAft>
            </a:pPr>
            <a:r>
              <a:rPr sz="1400" b="1">
                <a:solidFill>
                  <a:srgbClr val="C00000"/>
                </a:solidFill>
                <a:latin typeface="微软雅黑"/>
              </a:rPr>
              <a:t>声学</a:t>
            </a:r>
          </a:p>
        </p:txBody>
      </p:sp>
      <p:sp>
        <p:nvSpPr>
          <p:cNvPr id="22" name="Rounded Rectangle 21"/>
          <p:cNvSpPr/>
          <p:nvPr/>
        </p:nvSpPr>
        <p:spPr>
          <a:xfrm>
            <a:off x="1645920" y="4041648"/>
            <a:ext cx="585216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28800" y="4041648"/>
            <a:ext cx="5486400"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刚才的每个现象，都能在物理学里找到答案</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zh-CN" altLang="en-US" sz="2300" dirty="0"/>
              <a:t>物理学：以实验为基础的自然科学</a:t>
            </a:r>
          </a:p>
        </p:txBody>
      </p:sp>
      <p:sp>
        <p:nvSpPr>
          <p:cNvPr id="3" name="TextBox 2"/>
          <p:cNvSpPr txBox="1"/>
          <p:nvPr/>
        </p:nvSpPr>
        <p:spPr>
          <a:xfrm>
            <a:off x="822960" y="1097280"/>
            <a:ext cx="7498079" cy="249299"/>
          </a:xfrm>
          <a:prstGeom prst="rect">
            <a:avLst/>
          </a:prstGeom>
          <a:noFill/>
        </p:spPr>
        <p:txBody>
          <a:bodyPr wrap="square" lIns="0" tIns="0" rIns="0" bIns="0" anchor="t">
            <a:spAutoFit/>
          </a:bodyPr>
          <a:lstStyle/>
          <a:p>
            <a:pPr algn="l">
              <a:lnSpc>
                <a:spcPct val="115000"/>
              </a:lnSpc>
              <a:spcAft>
                <a:spcPts val="500"/>
              </a:spcAft>
            </a:pPr>
            <a:r>
              <a:rPr sz="1500" b="0" dirty="0" err="1">
                <a:solidFill>
                  <a:srgbClr val="2B2B2B"/>
                </a:solidFill>
                <a:latin typeface="微软雅黑" panose="020B0503020204020204" pitchFamily="34" charset="-122"/>
                <a:ea typeface="微软雅黑" panose="020B0503020204020204" pitchFamily="34" charset="-122"/>
              </a:rPr>
              <a:t>物理学里</a:t>
            </a:r>
            <a:r>
              <a:rPr lang="zh-CN" altLang="en-US" sz="1500" b="0" dirty="0">
                <a:solidFill>
                  <a:srgbClr val="2B2B2B"/>
                </a:solidFill>
                <a:latin typeface="微软雅黑" panose="020B0503020204020204" pitchFamily="34" charset="-122"/>
                <a:ea typeface="微软雅黑" panose="020B0503020204020204" pitchFamily="34" charset="-122"/>
              </a:rPr>
              <a:t>很多</a:t>
            </a:r>
            <a:r>
              <a:rPr sz="1500" b="0" dirty="0" err="1">
                <a:solidFill>
                  <a:srgbClr val="2B2B2B"/>
                </a:solidFill>
                <a:latin typeface="微软雅黑" panose="020B0503020204020204" pitchFamily="34" charset="-122"/>
                <a:ea typeface="微软雅黑" panose="020B0503020204020204" pitchFamily="34" charset="-122"/>
              </a:rPr>
              <a:t>著名的</a:t>
            </a:r>
            <a:r>
              <a:rPr sz="1500" b="1" dirty="0" err="1">
                <a:solidFill>
                  <a:srgbClr val="C00000"/>
                </a:solidFill>
                <a:latin typeface="微软雅黑" panose="020B0503020204020204" pitchFamily="34" charset="-122"/>
                <a:ea typeface="微软雅黑" panose="020B0503020204020204" pitchFamily="34" charset="-122"/>
              </a:rPr>
              <a:t>『定律</a:t>
            </a:r>
            <a:r>
              <a:rPr sz="1500" b="1" dirty="0">
                <a:solidFill>
                  <a:srgbClr val="C00000"/>
                </a:solidFill>
                <a:latin typeface="微软雅黑" panose="020B0503020204020204" pitchFamily="34" charset="-122"/>
                <a:ea typeface="微软雅黑" panose="020B0503020204020204" pitchFamily="34" charset="-122"/>
              </a:rPr>
              <a:t>』</a:t>
            </a:r>
            <a:r>
              <a:rPr sz="1500" b="0" dirty="0">
                <a:solidFill>
                  <a:srgbClr val="2B2B2B"/>
                </a:solidFill>
                <a:latin typeface="微软雅黑" panose="020B0503020204020204" pitchFamily="34" charset="-122"/>
                <a:ea typeface="微软雅黑" panose="020B0503020204020204" pitchFamily="34" charset="-122"/>
              </a:rPr>
              <a:t>，</a:t>
            </a:r>
            <a:r>
              <a:rPr sz="1500" b="0" dirty="0" err="1">
                <a:solidFill>
                  <a:srgbClr val="2B2B2B"/>
                </a:solidFill>
                <a:latin typeface="微软雅黑" panose="020B0503020204020204" pitchFamily="34" charset="-122"/>
                <a:ea typeface="微软雅黑" panose="020B0503020204020204" pitchFamily="34" charset="-122"/>
              </a:rPr>
              <a:t>不是想出来的</a:t>
            </a:r>
            <a:r>
              <a:rPr sz="1500" b="0" dirty="0">
                <a:solidFill>
                  <a:srgbClr val="2B2B2B"/>
                </a:solidFill>
                <a:latin typeface="微软雅黑" panose="020B0503020204020204" pitchFamily="34" charset="-122"/>
                <a:ea typeface="微软雅黑" panose="020B0503020204020204" pitchFamily="34" charset="-122"/>
              </a:rPr>
              <a:t> —— </a:t>
            </a:r>
            <a:r>
              <a:rPr sz="1500" b="0" dirty="0" err="1">
                <a:solidFill>
                  <a:srgbClr val="2B2B2B"/>
                </a:solidFill>
                <a:latin typeface="微软雅黑" panose="020B0503020204020204" pitchFamily="34" charset="-122"/>
                <a:ea typeface="微软雅黑" panose="020B0503020204020204" pitchFamily="34" charset="-122"/>
              </a:rPr>
              <a:t>而是从</a:t>
            </a:r>
            <a:r>
              <a:rPr sz="1500" b="1" dirty="0" err="1">
                <a:solidFill>
                  <a:srgbClr val="C00000"/>
                </a:solidFill>
                <a:latin typeface="微软雅黑" panose="020B0503020204020204" pitchFamily="34" charset="-122"/>
                <a:ea typeface="微软雅黑" panose="020B0503020204020204" pitchFamily="34" charset="-122"/>
              </a:rPr>
              <a:t>大量实验</a:t>
            </a:r>
            <a:r>
              <a:rPr sz="1500" b="0" dirty="0" err="1">
                <a:solidFill>
                  <a:srgbClr val="2B2B2B"/>
                </a:solidFill>
                <a:latin typeface="微软雅黑" panose="020B0503020204020204" pitchFamily="34" charset="-122"/>
                <a:ea typeface="微软雅黑" panose="020B0503020204020204" pitchFamily="34" charset="-122"/>
              </a:rPr>
              <a:t>中总结出来的</a:t>
            </a:r>
            <a:r>
              <a:rPr sz="1500" b="0" dirty="0">
                <a:solidFill>
                  <a:srgbClr val="2B2B2B"/>
                </a:solidFill>
                <a:latin typeface="微软雅黑" panose="020B0503020204020204" pitchFamily="34" charset="-122"/>
                <a:ea typeface="微软雅黑" panose="020B0503020204020204" pitchFamily="34" charset="-122"/>
              </a:rPr>
              <a:t>。</a:t>
            </a:r>
          </a:p>
        </p:txBody>
      </p:sp>
      <p:sp>
        <p:nvSpPr>
          <p:cNvPr id="4" name="Rounded Rectangle 3"/>
          <p:cNvSpPr/>
          <p:nvPr/>
        </p:nvSpPr>
        <p:spPr>
          <a:xfrm>
            <a:off x="822960" y="1507741"/>
            <a:ext cx="3611880"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599181"/>
            <a:ext cx="82296" cy="2148839"/>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3080509"/>
            <a:ext cx="3063240" cy="320040"/>
          </a:xfrm>
          <a:prstGeom prst="rect">
            <a:avLst/>
          </a:prstGeom>
          <a:noFill/>
        </p:spPr>
        <p:txBody>
          <a:bodyPr wrap="square" lIns="0" tIns="0" rIns="0" bIns="0" anchor="t">
            <a:spAutoFit/>
          </a:bodyPr>
          <a:lstStyle/>
          <a:p>
            <a:pPr algn="l">
              <a:lnSpc>
                <a:spcPct val="115000"/>
              </a:lnSpc>
              <a:spcAft>
                <a:spcPts val="500"/>
              </a:spcAft>
            </a:pPr>
            <a:r>
              <a:rPr sz="1350" b="1">
                <a:solidFill>
                  <a:srgbClr val="C00000"/>
                </a:solidFill>
                <a:latin typeface="微软雅黑"/>
              </a:rPr>
              <a:t>伽利略 · 自由落体</a:t>
            </a:r>
          </a:p>
        </p:txBody>
      </p:sp>
      <p:sp>
        <p:nvSpPr>
          <p:cNvPr id="8" name="TextBox 7"/>
          <p:cNvSpPr txBox="1"/>
          <p:nvPr/>
        </p:nvSpPr>
        <p:spPr>
          <a:xfrm>
            <a:off x="1097280" y="3391405"/>
            <a:ext cx="3337560" cy="163250"/>
          </a:xfrm>
          <a:prstGeom prst="rect">
            <a:avLst/>
          </a:prstGeom>
          <a:noFill/>
        </p:spPr>
        <p:txBody>
          <a:bodyPr wrap="square" lIns="0" tIns="0" rIns="0" bIns="0" anchor="t">
            <a:spAutoFit/>
          </a:bodyPr>
          <a:lstStyle/>
          <a:p>
            <a:pPr algn="l">
              <a:lnSpc>
                <a:spcPct val="115000"/>
              </a:lnSpc>
              <a:spcAft>
                <a:spcPts val="500"/>
              </a:spcAft>
            </a:pPr>
            <a:r>
              <a:rPr sz="1000" b="0" dirty="0" err="1">
                <a:solidFill>
                  <a:srgbClr val="2B2B2B"/>
                </a:solidFill>
                <a:latin typeface="微软雅黑"/>
              </a:rPr>
              <a:t>反复</a:t>
            </a:r>
            <a:r>
              <a:rPr sz="1000" b="1" dirty="0" err="1">
                <a:solidFill>
                  <a:srgbClr val="2B2B2B"/>
                </a:solidFill>
                <a:latin typeface="微软雅黑"/>
              </a:rPr>
              <a:t>测量</a:t>
            </a:r>
            <a:r>
              <a:rPr sz="1000" b="0" dirty="0" err="1">
                <a:solidFill>
                  <a:srgbClr val="2B2B2B"/>
                </a:solidFill>
                <a:latin typeface="微软雅黑"/>
              </a:rPr>
              <a:t>小球下落的时间，推翻亚里士多德「重的落得快</a:t>
            </a:r>
            <a:r>
              <a:rPr sz="1000" b="0" dirty="0">
                <a:solidFill>
                  <a:srgbClr val="2B2B2B"/>
                </a:solidFill>
                <a:latin typeface="微软雅黑"/>
              </a:rPr>
              <a:t>」</a:t>
            </a:r>
          </a:p>
        </p:txBody>
      </p:sp>
      <p:sp>
        <p:nvSpPr>
          <p:cNvPr id="9" name="Rounded Rectangle 8"/>
          <p:cNvSpPr/>
          <p:nvPr/>
        </p:nvSpPr>
        <p:spPr>
          <a:xfrm>
            <a:off x="4709160" y="1507741"/>
            <a:ext cx="3611880"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09160" y="1599181"/>
            <a:ext cx="82296" cy="2148839"/>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83480" y="3080509"/>
            <a:ext cx="3063240" cy="320040"/>
          </a:xfrm>
          <a:prstGeom prst="rect">
            <a:avLst/>
          </a:prstGeom>
          <a:noFill/>
        </p:spPr>
        <p:txBody>
          <a:bodyPr wrap="square" lIns="0" tIns="0" rIns="0" bIns="0" anchor="t">
            <a:spAutoFit/>
          </a:bodyPr>
          <a:lstStyle/>
          <a:p>
            <a:pPr algn="l">
              <a:lnSpc>
                <a:spcPct val="115000"/>
              </a:lnSpc>
              <a:spcAft>
                <a:spcPts val="500"/>
              </a:spcAft>
            </a:pPr>
            <a:r>
              <a:rPr sz="1350" b="1">
                <a:solidFill>
                  <a:srgbClr val="C00000"/>
                </a:solidFill>
                <a:latin typeface="微软雅黑"/>
              </a:rPr>
              <a:t>欧姆 · 电流定律</a:t>
            </a:r>
          </a:p>
        </p:txBody>
      </p:sp>
      <p:sp>
        <p:nvSpPr>
          <p:cNvPr id="13" name="TextBox 12"/>
          <p:cNvSpPr txBox="1"/>
          <p:nvPr/>
        </p:nvSpPr>
        <p:spPr>
          <a:xfrm>
            <a:off x="4983480" y="3391405"/>
            <a:ext cx="3063240" cy="163250"/>
          </a:xfrm>
          <a:prstGeom prst="rect">
            <a:avLst/>
          </a:prstGeom>
          <a:noFill/>
        </p:spPr>
        <p:txBody>
          <a:bodyPr wrap="square" lIns="0" tIns="0" rIns="0" bIns="0" anchor="t">
            <a:spAutoFit/>
          </a:bodyPr>
          <a:lstStyle/>
          <a:p>
            <a:pPr algn="l">
              <a:lnSpc>
                <a:spcPct val="115000"/>
              </a:lnSpc>
              <a:spcAft>
                <a:spcPts val="500"/>
              </a:spcAft>
            </a:pPr>
            <a:r>
              <a:rPr sz="1000" b="0" dirty="0" err="1">
                <a:solidFill>
                  <a:srgbClr val="2B2B2B"/>
                </a:solidFill>
                <a:latin typeface="微软雅黑"/>
              </a:rPr>
              <a:t>大量</a:t>
            </a:r>
            <a:r>
              <a:rPr sz="1000" b="1" dirty="0" err="1">
                <a:solidFill>
                  <a:srgbClr val="2B2B2B"/>
                </a:solidFill>
                <a:latin typeface="微软雅黑"/>
              </a:rPr>
              <a:t>测量</a:t>
            </a:r>
            <a:r>
              <a:rPr sz="1000" b="0" dirty="0" err="1">
                <a:solidFill>
                  <a:srgbClr val="2B2B2B"/>
                </a:solidFill>
                <a:latin typeface="微软雅黑"/>
              </a:rPr>
              <a:t>电压和电流，才总结出</a:t>
            </a:r>
            <a:r>
              <a:rPr sz="1000" b="0" dirty="0">
                <a:solidFill>
                  <a:srgbClr val="2B2B2B"/>
                </a:solidFill>
                <a:latin typeface="微软雅黑"/>
              </a:rPr>
              <a:t> U = I × R </a:t>
            </a:r>
            <a:r>
              <a:rPr sz="1000" b="0" dirty="0" err="1">
                <a:solidFill>
                  <a:srgbClr val="2B2B2B"/>
                </a:solidFill>
                <a:latin typeface="微软雅黑"/>
              </a:rPr>
              <a:t>这条规律</a:t>
            </a:r>
            <a:endParaRPr sz="1000" b="0" dirty="0">
              <a:solidFill>
                <a:srgbClr val="2B2B2B"/>
              </a:solidFill>
              <a:latin typeface="微软雅黑"/>
            </a:endParaRPr>
          </a:p>
        </p:txBody>
      </p:sp>
      <p:sp>
        <p:nvSpPr>
          <p:cNvPr id="14" name="Rounded Rectangle 13"/>
          <p:cNvSpPr/>
          <p:nvPr/>
        </p:nvSpPr>
        <p:spPr>
          <a:xfrm>
            <a:off x="822960" y="4030307"/>
            <a:ext cx="7498079" cy="566928"/>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4191333"/>
            <a:ext cx="7132319" cy="244875"/>
          </a:xfrm>
          <a:prstGeom prst="rect">
            <a:avLst/>
          </a:prstGeom>
          <a:noFill/>
        </p:spPr>
        <p:txBody>
          <a:bodyPr wrap="square" lIns="0" tIns="0" rIns="0" bIns="0" anchor="ctr">
            <a:spAutoFit/>
          </a:bodyPr>
          <a:lstStyle/>
          <a:p>
            <a:pPr algn="ctr">
              <a:lnSpc>
                <a:spcPct val="115000"/>
              </a:lnSpc>
              <a:spcAft>
                <a:spcPts val="500"/>
              </a:spcAft>
            </a:pPr>
            <a:r>
              <a:rPr lang="zh-CN" altLang="en-US" sz="1500" b="1" dirty="0">
                <a:solidFill>
                  <a:srgbClr val="FFD88A"/>
                </a:solidFill>
                <a:latin typeface="微软雅黑" panose="020B0503020204020204" pitchFamily="34" charset="-122"/>
                <a:ea typeface="微软雅黑" panose="020B0503020204020204" pitchFamily="34" charset="-122"/>
              </a:rPr>
              <a:t>实验</a:t>
            </a:r>
            <a:r>
              <a:rPr lang="zh-CN" altLang="en-US" sz="1500" dirty="0">
                <a:solidFill>
                  <a:srgbClr val="FFFFFF"/>
                </a:solidFill>
                <a:latin typeface="微软雅黑" panose="020B0503020204020204" pitchFamily="34" charset="-122"/>
                <a:ea typeface="微软雅黑" panose="020B0503020204020204" pitchFamily="34" charset="-122"/>
              </a:rPr>
              <a:t> </a:t>
            </a:r>
            <a:r>
              <a:rPr lang="en-US" altLang="zh-CN" sz="1500" dirty="0">
                <a:solidFill>
                  <a:srgbClr val="FFFFFF"/>
                </a:solidFill>
                <a:latin typeface="微软雅黑" panose="020B0503020204020204" pitchFamily="34" charset="-122"/>
                <a:ea typeface="微软雅黑" panose="020B0503020204020204" pitchFamily="34" charset="-122"/>
              </a:rPr>
              <a:t>—— </a:t>
            </a:r>
            <a:r>
              <a:rPr lang="zh-CN" altLang="en-US" sz="1500" dirty="0">
                <a:solidFill>
                  <a:srgbClr val="FFFFFF"/>
                </a:solidFill>
                <a:latin typeface="微软雅黑" panose="020B0503020204020204" pitchFamily="34" charset="-122"/>
                <a:ea typeface="微软雅黑" panose="020B0503020204020204" pitchFamily="34" charset="-122"/>
              </a:rPr>
              <a:t>物理学建立和发展的基础</a:t>
            </a:r>
          </a:p>
        </p:txBody>
      </p:sp>
      <p:pic>
        <p:nvPicPr>
          <p:cNvPr id="16" name="Picture 15" descr="exp_galileo.png"/>
          <p:cNvPicPr>
            <a:picLocks noChangeAspect="1"/>
          </p:cNvPicPr>
          <p:nvPr/>
        </p:nvPicPr>
        <p:blipFill>
          <a:blip r:embed="rId2"/>
          <a:stretch>
            <a:fillRect/>
          </a:stretch>
        </p:blipFill>
        <p:spPr>
          <a:xfrm>
            <a:off x="960120" y="1599181"/>
            <a:ext cx="3337560" cy="1463040"/>
          </a:xfrm>
          <a:prstGeom prst="rect">
            <a:avLst/>
          </a:prstGeom>
        </p:spPr>
      </p:pic>
      <p:pic>
        <p:nvPicPr>
          <p:cNvPr id="17" name="Picture 16" descr="exp_ohm.png"/>
          <p:cNvPicPr>
            <a:picLocks noChangeAspect="1"/>
          </p:cNvPicPr>
          <p:nvPr/>
        </p:nvPicPr>
        <p:blipFill>
          <a:blip r:embed="rId3"/>
          <a:stretch>
            <a:fillRect/>
          </a:stretch>
        </p:blipFill>
        <p:spPr>
          <a:xfrm>
            <a:off x="4846321" y="1599181"/>
            <a:ext cx="3337560" cy="1463040"/>
          </a:xfrm>
          <a:prstGeom prst="rect">
            <a:avLst/>
          </a:prstGeom>
        </p:spPr>
      </p:pic>
      <p:sp>
        <p:nvSpPr>
          <p:cNvPr id="18" name="TextBox 17"/>
          <p:cNvSpPr txBox="1"/>
          <p:nvPr/>
        </p:nvSpPr>
        <p:spPr>
          <a:xfrm>
            <a:off x="2526205" y="2371341"/>
            <a:ext cx="205388" cy="81280"/>
          </a:xfrm>
          <a:prstGeom prst="rect">
            <a:avLst/>
          </a:prstGeom>
          <a:noFill/>
        </p:spPr>
        <p:txBody>
          <a:bodyPr wrap="square" lIns="0" tIns="0" rIns="0" bIns="0" anchor="ctr">
            <a:spAutoFit/>
          </a:bodyPr>
          <a:lstStyle/>
          <a:p>
            <a:pPr algn="ctr"/>
            <a:r>
              <a:rPr sz="1000" b="1">
                <a:solidFill>
                  <a:srgbClr val="2B2B2B"/>
                </a:solidFill>
                <a:latin typeface="微软雅黑"/>
              </a:rPr>
              <a:t>重</a:t>
            </a:r>
          </a:p>
        </p:txBody>
      </p:sp>
      <p:sp>
        <p:nvSpPr>
          <p:cNvPr id="19" name="TextBox 18"/>
          <p:cNvSpPr txBox="1"/>
          <p:nvPr/>
        </p:nvSpPr>
        <p:spPr>
          <a:xfrm>
            <a:off x="3007584" y="2379469"/>
            <a:ext cx="141204" cy="65024"/>
          </a:xfrm>
          <a:prstGeom prst="rect">
            <a:avLst/>
          </a:prstGeom>
          <a:noFill/>
        </p:spPr>
        <p:txBody>
          <a:bodyPr wrap="square" lIns="0" tIns="0" rIns="0" bIns="0" anchor="ctr">
            <a:spAutoFit/>
          </a:bodyPr>
          <a:lstStyle/>
          <a:p>
            <a:pPr algn="ctr"/>
            <a:r>
              <a:rPr sz="800" b="1">
                <a:solidFill>
                  <a:srgbClr val="2B2B2B"/>
                </a:solidFill>
                <a:latin typeface="微软雅黑"/>
              </a:rPr>
              <a:t>轻</a:t>
            </a:r>
          </a:p>
        </p:txBody>
      </p:sp>
      <p:sp>
        <p:nvSpPr>
          <p:cNvPr id="20" name="TextBox 19"/>
          <p:cNvSpPr txBox="1"/>
          <p:nvPr/>
        </p:nvSpPr>
        <p:spPr>
          <a:xfrm>
            <a:off x="2532624" y="2643467"/>
            <a:ext cx="641838" cy="138499"/>
          </a:xfrm>
          <a:prstGeom prst="rect">
            <a:avLst/>
          </a:prstGeom>
          <a:noFill/>
        </p:spPr>
        <p:txBody>
          <a:bodyPr wrap="square" lIns="0" tIns="0" rIns="0" bIns="0" anchor="ctr">
            <a:spAutoFit/>
          </a:bodyPr>
          <a:lstStyle/>
          <a:p>
            <a:pPr algn="ctr"/>
            <a:r>
              <a:rPr sz="900" b="1" dirty="0" err="1">
                <a:solidFill>
                  <a:srgbClr val="C00000"/>
                </a:solidFill>
                <a:latin typeface="微软雅黑"/>
              </a:rPr>
              <a:t>同时落地</a:t>
            </a:r>
            <a:endParaRPr sz="900" b="1" dirty="0">
              <a:solidFill>
                <a:srgbClr val="C00000"/>
              </a:solidFill>
              <a:latin typeface="微软雅黑"/>
            </a:endParaRPr>
          </a:p>
        </p:txBody>
      </p:sp>
      <p:sp>
        <p:nvSpPr>
          <p:cNvPr id="21" name="TextBox 20"/>
          <p:cNvSpPr txBox="1"/>
          <p:nvPr/>
        </p:nvSpPr>
        <p:spPr>
          <a:xfrm>
            <a:off x="6914836" y="2872963"/>
            <a:ext cx="641838" cy="89408"/>
          </a:xfrm>
          <a:prstGeom prst="rect">
            <a:avLst/>
          </a:prstGeom>
          <a:noFill/>
        </p:spPr>
        <p:txBody>
          <a:bodyPr wrap="square" lIns="0" tIns="0" rIns="0" bIns="0" anchor="ctr">
            <a:spAutoFit/>
          </a:bodyPr>
          <a:lstStyle/>
          <a:p>
            <a:pPr algn="ctr"/>
            <a:r>
              <a:rPr sz="900" b="1" dirty="0">
                <a:solidFill>
                  <a:srgbClr val="FFFFFF"/>
                </a:solidFill>
                <a:latin typeface="微软雅黑"/>
              </a:rPr>
              <a:t>(</a:t>
            </a:r>
            <a:r>
              <a:rPr sz="900" b="1" dirty="0" err="1">
                <a:solidFill>
                  <a:srgbClr val="FFFFFF"/>
                </a:solidFill>
                <a:latin typeface="微软雅黑"/>
              </a:rPr>
              <a:t>欧姆定律</a:t>
            </a:r>
            <a:r>
              <a:rPr sz="900" b="1" dirty="0">
                <a:solidFill>
                  <a:srgbClr val="FFFFFF"/>
                </a:solidFill>
                <a:latin typeface="微软雅黑"/>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你的眼睛，可靠吗？</a:t>
            </a:r>
          </a:p>
        </p:txBody>
      </p:sp>
      <p:sp>
        <p:nvSpPr>
          <p:cNvPr id="4" name="TextBox 3"/>
          <p:cNvSpPr txBox="1"/>
          <p:nvPr/>
        </p:nvSpPr>
        <p:spPr>
          <a:xfrm>
            <a:off x="5519059" y="1097280"/>
            <a:ext cx="2690946" cy="239681"/>
          </a:xfrm>
          <a:prstGeom prst="rect">
            <a:avLst/>
          </a:prstGeom>
          <a:noFill/>
        </p:spPr>
        <p:txBody>
          <a:bodyPr wrap="square" lIns="0" tIns="0" rIns="0" bIns="0" anchor="t">
            <a:spAutoFit/>
          </a:bodyPr>
          <a:lstStyle/>
          <a:p>
            <a:pPr algn="l">
              <a:lnSpc>
                <a:spcPct val="112000"/>
              </a:lnSpc>
              <a:spcAft>
                <a:spcPts val="500"/>
              </a:spcAft>
            </a:pPr>
            <a:r>
              <a:rPr sz="1500" b="1" dirty="0" err="1">
                <a:solidFill>
                  <a:srgbClr val="2B2B2B"/>
                </a:solidFill>
                <a:latin typeface="微软雅黑"/>
              </a:rPr>
              <a:t>先猜：</a:t>
            </a:r>
            <a:r>
              <a:rPr sz="1500" b="0" dirty="0" err="1">
                <a:solidFill>
                  <a:srgbClr val="2B2B2B"/>
                </a:solidFill>
                <a:latin typeface="微软雅黑"/>
              </a:rPr>
              <a:t>哪条线更长</a:t>
            </a:r>
            <a:r>
              <a:rPr sz="1500" b="0" dirty="0">
                <a:solidFill>
                  <a:srgbClr val="2B2B2B"/>
                </a:solidFill>
                <a:latin typeface="微软雅黑"/>
              </a:rPr>
              <a:t>？</a:t>
            </a:r>
          </a:p>
        </p:txBody>
      </p:sp>
      <p:sp>
        <p:nvSpPr>
          <p:cNvPr id="5" name="TextBox 4"/>
          <p:cNvSpPr txBox="1"/>
          <p:nvPr/>
        </p:nvSpPr>
        <p:spPr>
          <a:xfrm>
            <a:off x="5519059" y="1645919"/>
            <a:ext cx="2690946" cy="562333"/>
          </a:xfrm>
          <a:prstGeom prst="rect">
            <a:avLst/>
          </a:prstGeom>
          <a:noFill/>
        </p:spPr>
        <p:txBody>
          <a:bodyPr wrap="square" lIns="0" tIns="0" rIns="0" bIns="0" anchor="t">
            <a:spAutoFit/>
          </a:bodyPr>
          <a:lstStyle/>
          <a:p>
            <a:pPr algn="l">
              <a:lnSpc>
                <a:spcPct val="112000"/>
              </a:lnSpc>
              <a:spcAft>
                <a:spcPts val="500"/>
              </a:spcAft>
            </a:pPr>
            <a:r>
              <a:rPr sz="1500" b="0" dirty="0" err="1">
                <a:solidFill>
                  <a:srgbClr val="6B6B6B"/>
                </a:solidFill>
                <a:latin typeface="微软雅黑"/>
              </a:rPr>
              <a:t>再用尺量一量</a:t>
            </a:r>
            <a:r>
              <a:rPr sz="1500" b="0" dirty="0">
                <a:solidFill>
                  <a:srgbClr val="6B6B6B"/>
                </a:solidFill>
                <a:latin typeface="微软雅黑"/>
              </a:rPr>
              <a:t> ——</a:t>
            </a:r>
          </a:p>
          <a:p>
            <a:pPr algn="l">
              <a:lnSpc>
                <a:spcPct val="112000"/>
              </a:lnSpc>
              <a:spcAft>
                <a:spcPts val="500"/>
              </a:spcAft>
            </a:pPr>
            <a:r>
              <a:rPr sz="1500" b="0" dirty="0" err="1">
                <a:solidFill>
                  <a:srgbClr val="2B2B2B"/>
                </a:solidFill>
                <a:latin typeface="微软雅黑"/>
              </a:rPr>
              <a:t>其实</a:t>
            </a:r>
            <a:r>
              <a:rPr sz="1500" b="1" dirty="0" err="1">
                <a:solidFill>
                  <a:srgbClr val="C00000"/>
                </a:solidFill>
                <a:latin typeface="微软雅黑"/>
              </a:rPr>
              <a:t>一样长</a:t>
            </a:r>
            <a:r>
              <a:rPr sz="1500" b="0" dirty="0">
                <a:solidFill>
                  <a:srgbClr val="2B2B2B"/>
                </a:solidFill>
                <a:latin typeface="微软雅黑"/>
              </a:rPr>
              <a:t>！</a:t>
            </a:r>
          </a:p>
        </p:txBody>
      </p:sp>
      <p:sp>
        <p:nvSpPr>
          <p:cNvPr id="6" name="TextBox 5"/>
          <p:cNvSpPr txBox="1"/>
          <p:nvPr/>
        </p:nvSpPr>
        <p:spPr>
          <a:xfrm>
            <a:off x="5519059" y="2468880"/>
            <a:ext cx="2690946" cy="239681"/>
          </a:xfrm>
          <a:prstGeom prst="rect">
            <a:avLst/>
          </a:prstGeom>
          <a:noFill/>
        </p:spPr>
        <p:txBody>
          <a:bodyPr wrap="square" lIns="0" tIns="0" rIns="0" bIns="0" anchor="t">
            <a:spAutoFit/>
          </a:bodyPr>
          <a:lstStyle/>
          <a:p>
            <a:pPr algn="l">
              <a:lnSpc>
                <a:spcPct val="112000"/>
              </a:lnSpc>
              <a:spcAft>
                <a:spcPts val="500"/>
              </a:spcAft>
            </a:pPr>
            <a:r>
              <a:rPr sz="1500" b="1" dirty="0" err="1">
                <a:solidFill>
                  <a:srgbClr val="1E3A5C"/>
                </a:solidFill>
                <a:latin typeface="微软雅黑"/>
              </a:rPr>
              <a:t>感觉，会骗人</a:t>
            </a:r>
            <a:endParaRPr sz="1500" b="1" dirty="0">
              <a:solidFill>
                <a:srgbClr val="1E3A5C"/>
              </a:solidFill>
              <a:latin typeface="微软雅黑"/>
            </a:endParaRPr>
          </a:p>
        </p:txBody>
      </p:sp>
      <p:sp>
        <p:nvSpPr>
          <p:cNvPr id="7" name="Rounded Rectangle 6"/>
          <p:cNvSpPr/>
          <p:nvPr/>
        </p:nvSpPr>
        <p:spPr>
          <a:xfrm>
            <a:off x="914400" y="3801288"/>
            <a:ext cx="7315200"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953556"/>
            <a:ext cx="6949440" cy="244106"/>
          </a:xfrm>
          <a:prstGeom prst="rect">
            <a:avLst/>
          </a:prstGeom>
          <a:noFill/>
        </p:spPr>
        <p:txBody>
          <a:bodyPr wrap="square" lIns="0" tIns="0" rIns="0" bIns="0" anchor="ctr">
            <a:spAutoFit/>
          </a:bodyPr>
          <a:lstStyle/>
          <a:p>
            <a:pPr algn="ctr">
              <a:lnSpc>
                <a:spcPct val="112000"/>
              </a:lnSpc>
              <a:spcAft>
                <a:spcPts val="500"/>
              </a:spcAft>
            </a:pPr>
            <a:r>
              <a:rPr lang="zh-CN" altLang="en-US" sz="1500" dirty="0">
                <a:solidFill>
                  <a:srgbClr val="FFFFFF"/>
                </a:solidFill>
                <a:latin typeface="微软雅黑" panose="020B0503020204020204" pitchFamily="34" charset="-122"/>
                <a:ea typeface="微软雅黑" panose="020B0503020204020204" pitchFamily="34" charset="-122"/>
              </a:rPr>
              <a:t>要弄清楚一件事的真相，不能靠感觉，而要靠 </a:t>
            </a:r>
            <a:r>
              <a:rPr lang="zh-CN" altLang="en-US" sz="1500" b="1" dirty="0">
                <a:solidFill>
                  <a:srgbClr val="FFD88A"/>
                </a:solidFill>
                <a:latin typeface="微软雅黑" panose="020B0503020204020204" pitchFamily="34" charset="-122"/>
                <a:ea typeface="微软雅黑" panose="020B0503020204020204" pitchFamily="34" charset="-122"/>
              </a:rPr>
              <a:t>实验</a:t>
            </a:r>
            <a:r>
              <a:rPr lang="zh-CN" altLang="en-US" sz="1500" dirty="0">
                <a:solidFill>
                  <a:srgbClr val="FFFFFF"/>
                </a:solidFill>
                <a:latin typeface="微软雅黑" panose="020B0503020204020204" pitchFamily="34" charset="-122"/>
                <a:ea typeface="微软雅黑" panose="020B0503020204020204" pitchFamily="34" charset="-122"/>
              </a:rPr>
              <a:t> 说话，就离不开 </a:t>
            </a:r>
            <a:r>
              <a:rPr lang="en-US" altLang="zh-CN" sz="1500" dirty="0">
                <a:solidFill>
                  <a:srgbClr val="FFFFFF"/>
                </a:solidFill>
                <a:latin typeface="微软雅黑" panose="020B0503020204020204" pitchFamily="34" charset="-122"/>
                <a:ea typeface="微软雅黑" panose="020B0503020204020204" pitchFamily="34" charset="-122"/>
              </a:rPr>
              <a:t>—— </a:t>
            </a:r>
            <a:r>
              <a:rPr lang="zh-CN" altLang="en-US" sz="1500" b="1" dirty="0">
                <a:solidFill>
                  <a:srgbClr val="FFD88A"/>
                </a:solidFill>
                <a:latin typeface="微软雅黑"/>
              </a:rPr>
              <a:t>测量</a:t>
            </a:r>
            <a:endParaRPr sz="1500" b="1" dirty="0">
              <a:solidFill>
                <a:srgbClr val="FFD88A"/>
              </a:solidFill>
              <a:latin typeface="微软雅黑"/>
            </a:endParaRPr>
          </a:p>
        </p:txBody>
      </p:sp>
      <p:pic>
        <p:nvPicPr>
          <p:cNvPr id="15" name="图片 14">
            <a:extLst>
              <a:ext uri="{FF2B5EF4-FFF2-40B4-BE49-F238E27FC236}">
                <a16:creationId xmlns:a16="http://schemas.microsoft.com/office/drawing/2014/main" id="{6D7AB6A3-064E-BE07-A4D0-AB279948930B}"/>
              </a:ext>
            </a:extLst>
          </p:cNvPr>
          <p:cNvPicPr>
            <a:picLocks noChangeAspect="1"/>
          </p:cNvPicPr>
          <p:nvPr/>
        </p:nvPicPr>
        <p:blipFill>
          <a:blip r:embed="rId3"/>
          <a:stretch>
            <a:fillRect/>
          </a:stretch>
        </p:blipFill>
        <p:spPr>
          <a:xfrm>
            <a:off x="1007475" y="1097280"/>
            <a:ext cx="4185012" cy="24343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测量的本质：比较</a:t>
            </a:r>
          </a:p>
        </p:txBody>
      </p:sp>
      <p:sp>
        <p:nvSpPr>
          <p:cNvPr id="3" name="Rounded Rectangle 2"/>
          <p:cNvSpPr/>
          <p:nvPr/>
        </p:nvSpPr>
        <p:spPr>
          <a:xfrm>
            <a:off x="822960" y="1188720"/>
            <a:ext cx="7498079" cy="1188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280160"/>
            <a:ext cx="82296" cy="100584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1371600"/>
            <a:ext cx="6949440" cy="457200"/>
          </a:xfrm>
          <a:prstGeom prst="rect">
            <a:avLst/>
          </a:prstGeom>
          <a:noFill/>
        </p:spPr>
        <p:txBody>
          <a:bodyPr wrap="square" lIns="0" tIns="0" rIns="0" bIns="0" anchor="t">
            <a:spAutoFit/>
          </a:bodyPr>
          <a:lstStyle/>
          <a:p>
            <a:pPr algn="l">
              <a:lnSpc>
                <a:spcPct val="112000"/>
              </a:lnSpc>
              <a:spcAft>
                <a:spcPts val="500"/>
              </a:spcAft>
            </a:pPr>
            <a:r>
              <a:rPr sz="1600" b="1">
                <a:solidFill>
                  <a:srgbClr val="C00000"/>
                </a:solidFill>
                <a:latin typeface="微软雅黑"/>
              </a:rPr>
              <a:t>测量</a:t>
            </a:r>
            <a:r>
              <a:rPr sz="1400" b="0">
                <a:solidFill>
                  <a:srgbClr val="2B2B2B"/>
                </a:solidFill>
                <a:latin typeface="微软雅黑"/>
              </a:rPr>
              <a:t>：把待测的量与一个</a:t>
            </a:r>
            <a:r>
              <a:rPr sz="1400" b="1">
                <a:solidFill>
                  <a:srgbClr val="1E3A5C"/>
                </a:solidFill>
                <a:latin typeface="微软雅黑"/>
              </a:rPr>
              <a:t>公认的标准量</a:t>
            </a:r>
            <a:r>
              <a:rPr sz="1400" b="0">
                <a:solidFill>
                  <a:srgbClr val="2B2B2B"/>
                </a:solidFill>
                <a:latin typeface="微软雅黑"/>
              </a:rPr>
              <a:t>进行比较，看它是标准的多少倍。</a:t>
            </a:r>
          </a:p>
        </p:txBody>
      </p:sp>
      <p:sp>
        <p:nvSpPr>
          <p:cNvPr id="6" name="TextBox 5"/>
          <p:cNvSpPr txBox="1"/>
          <p:nvPr/>
        </p:nvSpPr>
        <p:spPr>
          <a:xfrm>
            <a:off x="1188720" y="1920240"/>
            <a:ext cx="6949440" cy="365760"/>
          </a:xfrm>
          <a:prstGeom prst="rect">
            <a:avLst/>
          </a:prstGeom>
          <a:noFill/>
        </p:spPr>
        <p:txBody>
          <a:bodyPr wrap="square" lIns="0" tIns="0" rIns="0" bIns="0" anchor="t">
            <a:spAutoFit/>
          </a:bodyPr>
          <a:lstStyle/>
          <a:p>
            <a:pPr algn="l">
              <a:lnSpc>
                <a:spcPct val="112000"/>
              </a:lnSpc>
              <a:spcAft>
                <a:spcPts val="500"/>
              </a:spcAft>
            </a:pPr>
            <a:r>
              <a:rPr sz="1300" b="0">
                <a:solidFill>
                  <a:srgbClr val="6B6B6B"/>
                </a:solidFill>
                <a:latin typeface="微软雅黑"/>
              </a:rPr>
              <a:t>这个公认的标准量，就叫做 </a:t>
            </a:r>
            <a:r>
              <a:rPr sz="1400" b="1">
                <a:solidFill>
                  <a:srgbClr val="C00000"/>
                </a:solidFill>
                <a:latin typeface="微软雅黑"/>
              </a:rPr>
              <a:t>单位</a:t>
            </a:r>
            <a:r>
              <a:rPr sz="1300" b="0">
                <a:solidFill>
                  <a:srgbClr val="6B6B6B"/>
                </a:solidFill>
                <a:latin typeface="微软雅黑"/>
              </a:rPr>
              <a:t>。</a:t>
            </a:r>
          </a:p>
        </p:txBody>
      </p:sp>
      <p:sp>
        <p:nvSpPr>
          <p:cNvPr id="11" name="Rounded Rectangle 10"/>
          <p:cNvSpPr/>
          <p:nvPr/>
        </p:nvSpPr>
        <p:spPr>
          <a:xfrm>
            <a:off x="1554480" y="4041648"/>
            <a:ext cx="603504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37360" y="4041648"/>
            <a:ext cx="5669279" cy="548640"/>
          </a:xfrm>
          <a:prstGeom prst="rect">
            <a:avLst/>
          </a:prstGeom>
          <a:noFill/>
        </p:spPr>
        <p:txBody>
          <a:bodyPr wrap="square" lIns="0" tIns="0" rIns="0" bIns="0" anchor="ctr">
            <a:spAutoFit/>
          </a:bodyPr>
          <a:lstStyle/>
          <a:p>
            <a:pPr algn="ctr">
              <a:lnSpc>
                <a:spcPct val="112000"/>
              </a:lnSpc>
              <a:spcAft>
                <a:spcPts val="500"/>
              </a:spcAft>
            </a:pPr>
            <a:r>
              <a:rPr sz="1400" b="0">
                <a:solidFill>
                  <a:srgbClr val="FFFFFF"/>
                </a:solidFill>
                <a:latin typeface="微软雅黑"/>
              </a:rPr>
              <a:t>测量结果 = </a:t>
            </a:r>
            <a:r>
              <a:rPr sz="1500" b="1">
                <a:solidFill>
                  <a:srgbClr val="FFD88A"/>
                </a:solidFill>
                <a:latin typeface="微软雅黑"/>
              </a:rPr>
              <a:t>数值 + 单位</a:t>
            </a:r>
            <a:r>
              <a:rPr sz="1400" b="0">
                <a:solidFill>
                  <a:srgbClr val="FFFFFF"/>
                </a:solidFill>
                <a:latin typeface="微软雅黑"/>
              </a:rPr>
              <a:t>，缺一不可</a:t>
            </a:r>
          </a:p>
        </p:txBody>
      </p:sp>
      <p:pic>
        <p:nvPicPr>
          <p:cNvPr id="13" name="Picture 12" descr="measure_concept.png"/>
          <p:cNvPicPr>
            <a:picLocks noChangeAspect="1"/>
          </p:cNvPicPr>
          <p:nvPr/>
        </p:nvPicPr>
        <p:blipFill>
          <a:blip r:embed="rId2"/>
          <a:stretch>
            <a:fillRect/>
          </a:stretch>
        </p:blipFill>
        <p:spPr>
          <a:xfrm>
            <a:off x="2011680" y="2514600"/>
            <a:ext cx="5120640" cy="2133600"/>
          </a:xfrm>
          <a:prstGeom prst="rect">
            <a:avLst/>
          </a:prstGeom>
        </p:spPr>
      </p:pic>
      <p:sp>
        <p:nvSpPr>
          <p:cNvPr id="14" name="TextBox 13"/>
          <p:cNvSpPr txBox="1"/>
          <p:nvPr/>
        </p:nvSpPr>
        <p:spPr>
          <a:xfrm>
            <a:off x="2377440" y="2496312"/>
            <a:ext cx="1188720" cy="274320"/>
          </a:xfrm>
          <a:prstGeom prst="rect">
            <a:avLst/>
          </a:prstGeom>
          <a:noFill/>
        </p:spPr>
        <p:txBody>
          <a:bodyPr wrap="square" lIns="0" tIns="0" rIns="0" bIns="0" anchor="t">
            <a:spAutoFit/>
          </a:bodyPr>
          <a:lstStyle/>
          <a:p>
            <a:pPr algn="l">
              <a:lnSpc>
                <a:spcPct val="115000"/>
              </a:lnSpc>
              <a:spcAft>
                <a:spcPts val="500"/>
              </a:spcAft>
            </a:pPr>
            <a:r>
              <a:rPr sz="1050" b="0">
                <a:solidFill>
                  <a:srgbClr val="6B6B6B"/>
                </a:solidFill>
                <a:latin typeface="微软雅黑"/>
              </a:rPr>
              <a:t>待测：木棍</a:t>
            </a:r>
          </a:p>
        </p:txBody>
      </p:sp>
      <p:sp>
        <p:nvSpPr>
          <p:cNvPr id="15" name="TextBox 14"/>
          <p:cNvSpPr txBox="1"/>
          <p:nvPr/>
        </p:nvSpPr>
        <p:spPr>
          <a:xfrm>
            <a:off x="2816860" y="3785615"/>
            <a:ext cx="914400" cy="274320"/>
          </a:xfrm>
          <a:prstGeom prst="rect">
            <a:avLst/>
          </a:prstGeom>
          <a:noFill/>
        </p:spPr>
        <p:txBody>
          <a:bodyPr wrap="square" lIns="0" tIns="0" rIns="0" bIns="0" anchor="ctr">
            <a:spAutoFit/>
          </a:bodyPr>
          <a:lstStyle/>
          <a:p>
            <a:pPr algn="ctr">
              <a:lnSpc>
                <a:spcPct val="115000"/>
              </a:lnSpc>
              <a:spcAft>
                <a:spcPts val="500"/>
              </a:spcAft>
            </a:pPr>
            <a:r>
              <a:rPr sz="1200" b="1">
                <a:solidFill>
                  <a:srgbClr val="FFFFFF"/>
                </a:solidFill>
                <a:latin typeface="微软雅黑"/>
              </a:rPr>
              <a:t>1 米</a:t>
            </a:r>
          </a:p>
        </p:txBody>
      </p:sp>
      <p:sp>
        <p:nvSpPr>
          <p:cNvPr id="16" name="TextBox 15"/>
          <p:cNvSpPr txBox="1"/>
          <p:nvPr/>
        </p:nvSpPr>
        <p:spPr>
          <a:xfrm>
            <a:off x="4097020" y="3785615"/>
            <a:ext cx="914400" cy="274320"/>
          </a:xfrm>
          <a:prstGeom prst="rect">
            <a:avLst/>
          </a:prstGeom>
          <a:noFill/>
        </p:spPr>
        <p:txBody>
          <a:bodyPr wrap="square" lIns="0" tIns="0" rIns="0" bIns="0" anchor="ctr">
            <a:spAutoFit/>
          </a:bodyPr>
          <a:lstStyle/>
          <a:p>
            <a:pPr algn="ctr">
              <a:lnSpc>
                <a:spcPct val="115000"/>
              </a:lnSpc>
              <a:spcAft>
                <a:spcPts val="500"/>
              </a:spcAft>
            </a:pPr>
            <a:r>
              <a:rPr sz="1200" b="1">
                <a:solidFill>
                  <a:srgbClr val="FFFFFF"/>
                </a:solidFill>
                <a:latin typeface="微软雅黑"/>
              </a:rPr>
              <a:t>1 米</a:t>
            </a:r>
          </a:p>
        </p:txBody>
      </p:sp>
      <p:sp>
        <p:nvSpPr>
          <p:cNvPr id="17" name="TextBox 16"/>
          <p:cNvSpPr txBox="1"/>
          <p:nvPr/>
        </p:nvSpPr>
        <p:spPr>
          <a:xfrm>
            <a:off x="5377180" y="3785615"/>
            <a:ext cx="914400" cy="274320"/>
          </a:xfrm>
          <a:prstGeom prst="rect">
            <a:avLst/>
          </a:prstGeom>
          <a:noFill/>
        </p:spPr>
        <p:txBody>
          <a:bodyPr wrap="square" lIns="0" tIns="0" rIns="0" bIns="0" anchor="ctr">
            <a:spAutoFit/>
          </a:bodyPr>
          <a:lstStyle/>
          <a:p>
            <a:pPr algn="ctr">
              <a:lnSpc>
                <a:spcPct val="115000"/>
              </a:lnSpc>
              <a:spcAft>
                <a:spcPts val="500"/>
              </a:spcAft>
            </a:pPr>
            <a:r>
              <a:rPr sz="1200" b="1">
                <a:solidFill>
                  <a:srgbClr val="FFFFFF"/>
                </a:solidFill>
                <a:latin typeface="微软雅黑"/>
              </a:rPr>
              <a:t>1 米</a:t>
            </a:r>
          </a:p>
        </p:txBody>
      </p:sp>
      <p:sp>
        <p:nvSpPr>
          <p:cNvPr id="18" name="TextBox 17"/>
          <p:cNvSpPr txBox="1"/>
          <p:nvPr/>
        </p:nvSpPr>
        <p:spPr>
          <a:xfrm>
            <a:off x="822960" y="4693920"/>
            <a:ext cx="7498079" cy="320040"/>
          </a:xfrm>
          <a:prstGeom prst="rect">
            <a:avLst/>
          </a:prstGeom>
          <a:noFill/>
        </p:spPr>
        <p:txBody>
          <a:bodyPr wrap="square" lIns="0" tIns="0" rIns="0" bIns="0" anchor="t">
            <a:spAutoFit/>
          </a:bodyPr>
          <a:lstStyle/>
          <a:p>
            <a:pPr algn="ctr">
              <a:lnSpc>
                <a:spcPct val="115000"/>
              </a:lnSpc>
              <a:spcAft>
                <a:spcPts val="500"/>
              </a:spcAft>
            </a:pPr>
            <a:r>
              <a:rPr sz="1200" b="0">
                <a:solidFill>
                  <a:srgbClr val="2B2B2B"/>
                </a:solidFill>
                <a:latin typeface="微软雅黑"/>
              </a:rPr>
              <a:t>这根木棍的长度 = </a:t>
            </a:r>
            <a:r>
              <a:rPr sz="1250" b="1">
                <a:solidFill>
                  <a:srgbClr val="C00000"/>
                </a:solidFill>
                <a:latin typeface="微软雅黑"/>
              </a:rPr>
              <a:t>1 米</a:t>
            </a:r>
            <a:r>
              <a:rPr sz="1200" b="0">
                <a:solidFill>
                  <a:srgbClr val="2B2B2B"/>
                </a:solidFill>
                <a:latin typeface="微软雅黑"/>
              </a:rPr>
              <a:t> 这个标准的 </a:t>
            </a:r>
            <a:r>
              <a:rPr sz="1300" b="1">
                <a:solidFill>
                  <a:srgbClr val="E8922A"/>
                </a:solidFill>
                <a:latin typeface="微软雅黑"/>
              </a:rPr>
              <a:t>3</a:t>
            </a:r>
            <a:r>
              <a:rPr sz="1200" b="0">
                <a:solidFill>
                  <a:srgbClr val="2B2B2B"/>
                </a:solidFill>
                <a:latin typeface="微软雅黑"/>
              </a:rPr>
              <a:t> 倍 → </a:t>
            </a:r>
            <a:r>
              <a:rPr sz="1300" b="1">
                <a:solidFill>
                  <a:srgbClr val="C00000"/>
                </a:solidFill>
                <a:latin typeface="微软雅黑"/>
              </a:rPr>
              <a:t>3 米</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国际单位制：物理学的通用语言</a:t>
            </a:r>
          </a:p>
        </p:txBody>
      </p:sp>
      <p:sp>
        <p:nvSpPr>
          <p:cNvPr id="3" name="TextBox 2"/>
          <p:cNvSpPr txBox="1"/>
          <p:nvPr/>
        </p:nvSpPr>
        <p:spPr>
          <a:xfrm>
            <a:off x="822960" y="1097280"/>
            <a:ext cx="7498079" cy="411480"/>
          </a:xfrm>
          <a:prstGeom prst="rect">
            <a:avLst/>
          </a:prstGeom>
          <a:noFill/>
        </p:spPr>
        <p:txBody>
          <a:bodyPr wrap="square" lIns="0" tIns="0" rIns="0" bIns="0" anchor="t">
            <a:spAutoFit/>
          </a:bodyPr>
          <a:lstStyle/>
          <a:p>
            <a:pPr algn="l">
              <a:lnSpc>
                <a:spcPct val="115000"/>
              </a:lnSpc>
              <a:spcAft>
                <a:spcPts val="500"/>
              </a:spcAft>
            </a:pPr>
            <a:r>
              <a:rPr sz="1400" b="0">
                <a:solidFill>
                  <a:srgbClr val="2B2B2B"/>
                </a:solidFill>
                <a:latin typeface="微软雅黑"/>
              </a:rPr>
              <a:t>全世界的科学家在做测量时，都遵循 </a:t>
            </a:r>
            <a:r>
              <a:rPr sz="1400" b="1">
                <a:solidFill>
                  <a:srgbClr val="C00000"/>
                </a:solidFill>
                <a:latin typeface="微软雅黑"/>
              </a:rPr>
              <a:t>同一套标准</a:t>
            </a:r>
            <a:r>
              <a:rPr sz="1400" b="0">
                <a:solidFill>
                  <a:srgbClr val="2B2B2B"/>
                </a:solidFill>
                <a:latin typeface="微软雅黑"/>
              </a:rPr>
              <a:t> —— 它叫 </a:t>
            </a:r>
            <a:r>
              <a:rPr sz="1450" b="1">
                <a:solidFill>
                  <a:srgbClr val="C00000"/>
                </a:solidFill>
                <a:latin typeface="微软雅黑"/>
              </a:rPr>
              <a:t>国际单位制 (SI)</a:t>
            </a:r>
            <a:r>
              <a:rPr sz="1400" b="0">
                <a:solidFill>
                  <a:srgbClr val="2B2B2B"/>
                </a:solidFill>
                <a:latin typeface="微软雅黑"/>
              </a:rPr>
              <a:t>，规定了 </a:t>
            </a:r>
            <a:r>
              <a:rPr sz="1450" b="1">
                <a:solidFill>
                  <a:srgbClr val="C00000"/>
                </a:solidFill>
                <a:latin typeface="微软雅黑"/>
              </a:rPr>
              <a:t>7 个基本量</a:t>
            </a:r>
            <a:r>
              <a:rPr sz="1400" b="0">
                <a:solidFill>
                  <a:srgbClr val="2B2B2B"/>
                </a:solidFill>
                <a:latin typeface="微软雅黑"/>
              </a:rPr>
              <a:t> 及其单位。</a:t>
            </a:r>
          </a:p>
        </p:txBody>
      </p:sp>
      <p:sp>
        <p:nvSpPr>
          <p:cNvPr id="4" name="Rounded Rectangle 3"/>
          <p:cNvSpPr/>
          <p:nvPr/>
        </p:nvSpPr>
        <p:spPr>
          <a:xfrm>
            <a:off x="566928" y="1920240"/>
            <a:ext cx="1097280" cy="17830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920240"/>
            <a:ext cx="1097280" cy="292608"/>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长度</a:t>
            </a:r>
          </a:p>
        </p:txBody>
      </p:sp>
      <p:sp>
        <p:nvSpPr>
          <p:cNvPr id="7" name="TextBox 6"/>
          <p:cNvSpPr txBox="1"/>
          <p:nvPr/>
        </p:nvSpPr>
        <p:spPr>
          <a:xfrm>
            <a:off x="566928"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C00000"/>
                </a:solidFill>
                <a:latin typeface="微软雅黑"/>
              </a:rPr>
              <a:t>米</a:t>
            </a:r>
          </a:p>
        </p:txBody>
      </p:sp>
      <p:sp>
        <p:nvSpPr>
          <p:cNvPr id="8" name="TextBox 7"/>
          <p:cNvSpPr txBox="1"/>
          <p:nvPr/>
        </p:nvSpPr>
        <p:spPr>
          <a:xfrm>
            <a:off x="566928"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C00000"/>
                </a:solidFill>
                <a:latin typeface="微软雅黑"/>
              </a:rPr>
              <a:t>(m)</a:t>
            </a:r>
          </a:p>
        </p:txBody>
      </p:sp>
      <p:sp>
        <p:nvSpPr>
          <p:cNvPr id="9" name="Rectangle 8"/>
          <p:cNvSpPr/>
          <p:nvPr/>
        </p:nvSpPr>
        <p:spPr>
          <a:xfrm>
            <a:off x="704088"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3273552"/>
            <a:ext cx="1097280" cy="320040"/>
          </a:xfrm>
          <a:prstGeom prst="rect">
            <a:avLst/>
          </a:prstGeom>
          <a:noFill/>
        </p:spPr>
        <p:txBody>
          <a:bodyPr wrap="square" lIns="0" tIns="0" rIns="0" bIns="0" anchor="ctr">
            <a:spAutoFit/>
          </a:bodyPr>
          <a:lstStyle/>
          <a:p>
            <a:pPr algn="ctr">
              <a:lnSpc>
                <a:spcPct val="115000"/>
              </a:lnSpc>
              <a:spcAft>
                <a:spcPts val="500"/>
              </a:spcAft>
            </a:pPr>
            <a:r>
              <a:rPr sz="900" b="1">
                <a:solidFill>
                  <a:srgbClr val="C00000"/>
                </a:solidFill>
                <a:latin typeface="微软雅黑"/>
              </a:rPr>
              <a:t>本课重点</a:t>
            </a:r>
          </a:p>
        </p:txBody>
      </p:sp>
      <p:sp>
        <p:nvSpPr>
          <p:cNvPr id="11" name="Rounded Rectangle 10"/>
          <p:cNvSpPr/>
          <p:nvPr/>
        </p:nvSpPr>
        <p:spPr>
          <a:xfrm>
            <a:off x="1719072" y="1920240"/>
            <a:ext cx="1097280" cy="17830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719072" y="1920240"/>
            <a:ext cx="1097280" cy="292608"/>
          </a:xfrm>
          <a:prstGeom prst="roundRect">
            <a:avLst>
              <a:gd name="adj" fmla="val 1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719072"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时间</a:t>
            </a:r>
          </a:p>
        </p:txBody>
      </p:sp>
      <p:sp>
        <p:nvSpPr>
          <p:cNvPr id="14" name="TextBox 13"/>
          <p:cNvSpPr txBox="1"/>
          <p:nvPr/>
        </p:nvSpPr>
        <p:spPr>
          <a:xfrm>
            <a:off x="1719072"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C00000"/>
                </a:solidFill>
                <a:latin typeface="微软雅黑"/>
              </a:rPr>
              <a:t>秒</a:t>
            </a:r>
          </a:p>
        </p:txBody>
      </p:sp>
      <p:sp>
        <p:nvSpPr>
          <p:cNvPr id="15" name="TextBox 14"/>
          <p:cNvSpPr txBox="1"/>
          <p:nvPr/>
        </p:nvSpPr>
        <p:spPr>
          <a:xfrm>
            <a:off x="1719072"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C00000"/>
                </a:solidFill>
                <a:latin typeface="微软雅黑"/>
              </a:rPr>
              <a:t>(s)</a:t>
            </a:r>
          </a:p>
        </p:txBody>
      </p:sp>
      <p:sp>
        <p:nvSpPr>
          <p:cNvPr id="16" name="Rectangle 15"/>
          <p:cNvSpPr/>
          <p:nvPr/>
        </p:nvSpPr>
        <p:spPr>
          <a:xfrm>
            <a:off x="1856232"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719072" y="3273552"/>
            <a:ext cx="1097280" cy="320040"/>
          </a:xfrm>
          <a:prstGeom prst="rect">
            <a:avLst/>
          </a:prstGeom>
          <a:noFill/>
        </p:spPr>
        <p:txBody>
          <a:bodyPr wrap="square" lIns="0" tIns="0" rIns="0" bIns="0" anchor="ctr">
            <a:spAutoFit/>
          </a:bodyPr>
          <a:lstStyle/>
          <a:p>
            <a:pPr algn="ctr">
              <a:lnSpc>
                <a:spcPct val="115000"/>
              </a:lnSpc>
              <a:spcAft>
                <a:spcPts val="500"/>
              </a:spcAft>
            </a:pPr>
            <a:r>
              <a:rPr sz="900" b="1">
                <a:solidFill>
                  <a:srgbClr val="C00000"/>
                </a:solidFill>
                <a:latin typeface="微软雅黑"/>
              </a:rPr>
              <a:t>本课重点</a:t>
            </a:r>
          </a:p>
        </p:txBody>
      </p:sp>
      <p:sp>
        <p:nvSpPr>
          <p:cNvPr id="18" name="Rounded Rectangle 17"/>
          <p:cNvSpPr/>
          <p:nvPr/>
        </p:nvSpPr>
        <p:spPr>
          <a:xfrm>
            <a:off x="2871216" y="1920240"/>
            <a:ext cx="1097280" cy="1783080"/>
          </a:xfrm>
          <a:prstGeom prst="roundRect">
            <a:avLst>
              <a:gd name="adj" fmla="val 10000"/>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871216" y="1920240"/>
            <a:ext cx="1097280" cy="292608"/>
          </a:xfrm>
          <a:prstGeom prst="roundRect">
            <a:avLst>
              <a:gd name="adj" fmla="val 10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71216"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质量</a:t>
            </a:r>
          </a:p>
        </p:txBody>
      </p:sp>
      <p:sp>
        <p:nvSpPr>
          <p:cNvPr id="21" name="TextBox 20"/>
          <p:cNvSpPr txBox="1"/>
          <p:nvPr/>
        </p:nvSpPr>
        <p:spPr>
          <a:xfrm>
            <a:off x="2871216"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2B2B2B"/>
                </a:solidFill>
                <a:latin typeface="微软雅黑"/>
              </a:rPr>
              <a:t>千克</a:t>
            </a:r>
          </a:p>
        </p:txBody>
      </p:sp>
      <p:sp>
        <p:nvSpPr>
          <p:cNvPr id="22" name="TextBox 21"/>
          <p:cNvSpPr txBox="1"/>
          <p:nvPr/>
        </p:nvSpPr>
        <p:spPr>
          <a:xfrm>
            <a:off x="2871216"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6B6B6B"/>
                </a:solidFill>
                <a:latin typeface="微软雅黑"/>
              </a:rPr>
              <a:t>(kg)</a:t>
            </a:r>
          </a:p>
        </p:txBody>
      </p:sp>
      <p:sp>
        <p:nvSpPr>
          <p:cNvPr id="23" name="Rectangle 22"/>
          <p:cNvSpPr/>
          <p:nvPr/>
        </p:nvSpPr>
        <p:spPr>
          <a:xfrm>
            <a:off x="3008376"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023360" y="1920240"/>
            <a:ext cx="1097280" cy="1783080"/>
          </a:xfrm>
          <a:prstGeom prst="roundRect">
            <a:avLst>
              <a:gd name="adj" fmla="val 10000"/>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4023360" y="1920240"/>
            <a:ext cx="1097280" cy="292608"/>
          </a:xfrm>
          <a:prstGeom prst="roundRect">
            <a:avLst>
              <a:gd name="adj" fmla="val 10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23360"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温度</a:t>
            </a:r>
          </a:p>
        </p:txBody>
      </p:sp>
      <p:sp>
        <p:nvSpPr>
          <p:cNvPr id="27" name="TextBox 26"/>
          <p:cNvSpPr txBox="1"/>
          <p:nvPr/>
        </p:nvSpPr>
        <p:spPr>
          <a:xfrm>
            <a:off x="4023360"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2B2B2B"/>
                </a:solidFill>
                <a:latin typeface="微软雅黑"/>
              </a:rPr>
              <a:t>开尔文</a:t>
            </a:r>
          </a:p>
        </p:txBody>
      </p:sp>
      <p:sp>
        <p:nvSpPr>
          <p:cNvPr id="28" name="TextBox 27"/>
          <p:cNvSpPr txBox="1"/>
          <p:nvPr/>
        </p:nvSpPr>
        <p:spPr>
          <a:xfrm>
            <a:off x="4023360"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6B6B6B"/>
                </a:solidFill>
                <a:latin typeface="微软雅黑"/>
              </a:rPr>
              <a:t>(K)</a:t>
            </a:r>
          </a:p>
        </p:txBody>
      </p:sp>
      <p:sp>
        <p:nvSpPr>
          <p:cNvPr id="29" name="Rectangle 28"/>
          <p:cNvSpPr/>
          <p:nvPr/>
        </p:nvSpPr>
        <p:spPr>
          <a:xfrm>
            <a:off x="4160520"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175504" y="1920240"/>
            <a:ext cx="1097280" cy="1783080"/>
          </a:xfrm>
          <a:prstGeom prst="roundRect">
            <a:avLst>
              <a:gd name="adj" fmla="val 10000"/>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175504" y="1920240"/>
            <a:ext cx="1097280" cy="292608"/>
          </a:xfrm>
          <a:prstGeom prst="roundRect">
            <a:avLst>
              <a:gd name="adj" fmla="val 10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175504"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电流</a:t>
            </a:r>
          </a:p>
        </p:txBody>
      </p:sp>
      <p:sp>
        <p:nvSpPr>
          <p:cNvPr id="33" name="TextBox 32"/>
          <p:cNvSpPr txBox="1"/>
          <p:nvPr/>
        </p:nvSpPr>
        <p:spPr>
          <a:xfrm>
            <a:off x="5175504"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2B2B2B"/>
                </a:solidFill>
                <a:latin typeface="微软雅黑"/>
              </a:rPr>
              <a:t>安培</a:t>
            </a:r>
          </a:p>
        </p:txBody>
      </p:sp>
      <p:sp>
        <p:nvSpPr>
          <p:cNvPr id="34" name="TextBox 33"/>
          <p:cNvSpPr txBox="1"/>
          <p:nvPr/>
        </p:nvSpPr>
        <p:spPr>
          <a:xfrm>
            <a:off x="5175504"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6B6B6B"/>
                </a:solidFill>
                <a:latin typeface="微软雅黑"/>
              </a:rPr>
              <a:t>(A)</a:t>
            </a:r>
          </a:p>
        </p:txBody>
      </p:sp>
      <p:sp>
        <p:nvSpPr>
          <p:cNvPr id="35" name="Rectangle 34"/>
          <p:cNvSpPr/>
          <p:nvPr/>
        </p:nvSpPr>
        <p:spPr>
          <a:xfrm>
            <a:off x="5312664"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327648" y="1920240"/>
            <a:ext cx="1097280" cy="1783080"/>
          </a:xfrm>
          <a:prstGeom prst="roundRect">
            <a:avLst>
              <a:gd name="adj" fmla="val 10000"/>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327648" y="1920240"/>
            <a:ext cx="1097280" cy="292608"/>
          </a:xfrm>
          <a:prstGeom prst="roundRect">
            <a:avLst>
              <a:gd name="adj" fmla="val 10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27648"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物质的量</a:t>
            </a:r>
          </a:p>
        </p:txBody>
      </p:sp>
      <p:sp>
        <p:nvSpPr>
          <p:cNvPr id="39" name="TextBox 38"/>
          <p:cNvSpPr txBox="1"/>
          <p:nvPr/>
        </p:nvSpPr>
        <p:spPr>
          <a:xfrm>
            <a:off x="6327648"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2B2B2B"/>
                </a:solidFill>
                <a:latin typeface="微软雅黑"/>
              </a:rPr>
              <a:t>摩尔</a:t>
            </a:r>
          </a:p>
        </p:txBody>
      </p:sp>
      <p:sp>
        <p:nvSpPr>
          <p:cNvPr id="40" name="TextBox 39"/>
          <p:cNvSpPr txBox="1"/>
          <p:nvPr/>
        </p:nvSpPr>
        <p:spPr>
          <a:xfrm>
            <a:off x="6327648"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6B6B6B"/>
                </a:solidFill>
                <a:latin typeface="微软雅黑"/>
              </a:rPr>
              <a:t>(mol)</a:t>
            </a:r>
          </a:p>
        </p:txBody>
      </p:sp>
      <p:sp>
        <p:nvSpPr>
          <p:cNvPr id="41" name="Rectangle 40"/>
          <p:cNvSpPr/>
          <p:nvPr/>
        </p:nvSpPr>
        <p:spPr>
          <a:xfrm>
            <a:off x="6464808"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7479792" y="1920240"/>
            <a:ext cx="1097280" cy="1783080"/>
          </a:xfrm>
          <a:prstGeom prst="roundRect">
            <a:avLst>
              <a:gd name="adj" fmla="val 10000"/>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479792" y="1920240"/>
            <a:ext cx="1097280" cy="292608"/>
          </a:xfrm>
          <a:prstGeom prst="roundRect">
            <a:avLst>
              <a:gd name="adj" fmla="val 10000"/>
            </a:avLst>
          </a:prstGeom>
          <a:solidFill>
            <a:srgbClr val="6B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79792" y="1956816"/>
            <a:ext cx="1097280" cy="228600"/>
          </a:xfrm>
          <a:prstGeom prst="rect">
            <a:avLst/>
          </a:prstGeom>
          <a:noFill/>
        </p:spPr>
        <p:txBody>
          <a:bodyPr wrap="square" lIns="0" tIns="0" rIns="0" bIns="0" anchor="ctr">
            <a:spAutoFit/>
          </a:bodyPr>
          <a:lstStyle/>
          <a:p>
            <a:pPr algn="ctr">
              <a:lnSpc>
                <a:spcPct val="115000"/>
              </a:lnSpc>
              <a:spcAft>
                <a:spcPts val="500"/>
              </a:spcAft>
            </a:pPr>
            <a:r>
              <a:rPr sz="1100" b="1">
                <a:solidFill>
                  <a:srgbClr val="FFFFFF"/>
                </a:solidFill>
                <a:latin typeface="微软雅黑"/>
              </a:rPr>
              <a:t>发光强度</a:t>
            </a:r>
          </a:p>
        </p:txBody>
      </p:sp>
      <p:sp>
        <p:nvSpPr>
          <p:cNvPr id="45" name="TextBox 44"/>
          <p:cNvSpPr txBox="1"/>
          <p:nvPr/>
        </p:nvSpPr>
        <p:spPr>
          <a:xfrm>
            <a:off x="7479792" y="2359152"/>
            <a:ext cx="1097280" cy="502920"/>
          </a:xfrm>
          <a:prstGeom prst="rect">
            <a:avLst/>
          </a:prstGeom>
          <a:noFill/>
        </p:spPr>
        <p:txBody>
          <a:bodyPr wrap="square" lIns="0" tIns="0" rIns="0" bIns="0" anchor="ctr">
            <a:spAutoFit/>
          </a:bodyPr>
          <a:lstStyle/>
          <a:p>
            <a:pPr algn="ctr">
              <a:lnSpc>
                <a:spcPct val="115000"/>
              </a:lnSpc>
              <a:spcAft>
                <a:spcPts val="500"/>
              </a:spcAft>
            </a:pPr>
            <a:r>
              <a:rPr sz="1500" b="1">
                <a:solidFill>
                  <a:srgbClr val="2B2B2B"/>
                </a:solidFill>
                <a:latin typeface="微软雅黑"/>
              </a:rPr>
              <a:t>坎德拉</a:t>
            </a:r>
          </a:p>
        </p:txBody>
      </p:sp>
      <p:sp>
        <p:nvSpPr>
          <p:cNvPr id="46" name="TextBox 45"/>
          <p:cNvSpPr txBox="1"/>
          <p:nvPr/>
        </p:nvSpPr>
        <p:spPr>
          <a:xfrm>
            <a:off x="7479792" y="2880360"/>
            <a:ext cx="1097280" cy="320040"/>
          </a:xfrm>
          <a:prstGeom prst="rect">
            <a:avLst/>
          </a:prstGeom>
          <a:noFill/>
        </p:spPr>
        <p:txBody>
          <a:bodyPr wrap="square" lIns="0" tIns="0" rIns="0" bIns="0" anchor="ctr">
            <a:spAutoFit/>
          </a:bodyPr>
          <a:lstStyle/>
          <a:p>
            <a:pPr algn="ctr">
              <a:lnSpc>
                <a:spcPct val="115000"/>
              </a:lnSpc>
              <a:spcAft>
                <a:spcPts val="500"/>
              </a:spcAft>
            </a:pPr>
            <a:r>
              <a:rPr sz="1200" b="0">
                <a:solidFill>
                  <a:srgbClr val="6B6B6B"/>
                </a:solidFill>
                <a:latin typeface="微软雅黑"/>
              </a:rPr>
              <a:t>(cd)</a:t>
            </a:r>
          </a:p>
        </p:txBody>
      </p:sp>
      <p:sp>
        <p:nvSpPr>
          <p:cNvPr id="47" name="Rectangle 46"/>
          <p:cNvSpPr/>
          <p:nvPr/>
        </p:nvSpPr>
        <p:spPr>
          <a:xfrm>
            <a:off x="7616952" y="3200400"/>
            <a:ext cx="822959" cy="9144"/>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22960" y="4069080"/>
            <a:ext cx="7498079"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05840" y="4069080"/>
            <a:ext cx="7132319" cy="548640"/>
          </a:xfrm>
          <a:prstGeom prst="rect">
            <a:avLst/>
          </a:prstGeom>
          <a:noFill/>
        </p:spPr>
        <p:txBody>
          <a:bodyPr wrap="square" lIns="0" tIns="0" rIns="0" bIns="0" anchor="ctr">
            <a:spAutoFit/>
          </a:bodyPr>
          <a:lstStyle/>
          <a:p>
            <a:pPr algn="ctr">
              <a:lnSpc>
                <a:spcPct val="115000"/>
              </a:lnSpc>
              <a:spcAft>
                <a:spcPts val="500"/>
              </a:spcAft>
            </a:pPr>
            <a:r>
              <a:rPr sz="1400" b="0">
                <a:solidFill>
                  <a:srgbClr val="FFFFFF"/>
                </a:solidFill>
                <a:latin typeface="微软雅黑"/>
              </a:rPr>
              <a:t>这节课要学的 </a:t>
            </a:r>
            <a:r>
              <a:rPr sz="1450" b="1">
                <a:solidFill>
                  <a:srgbClr val="FFD88A"/>
                </a:solidFill>
                <a:latin typeface="微软雅黑"/>
              </a:rPr>
              <a:t>长度（米）</a:t>
            </a:r>
            <a:r>
              <a:rPr sz="1400" b="0">
                <a:solidFill>
                  <a:srgbClr val="FFFFFF"/>
                </a:solidFill>
                <a:latin typeface="微软雅黑"/>
              </a:rPr>
              <a:t> 和 </a:t>
            </a:r>
            <a:r>
              <a:rPr sz="1450" b="1">
                <a:solidFill>
                  <a:srgbClr val="FFD88A"/>
                </a:solidFill>
                <a:latin typeface="微软雅黑"/>
              </a:rPr>
              <a:t>时间（秒）</a:t>
            </a:r>
            <a:r>
              <a:rPr sz="1400" b="0">
                <a:solidFill>
                  <a:srgbClr val="FFFFFF"/>
                </a:solidFill>
                <a:latin typeface="微软雅黑"/>
              </a:rPr>
              <a:t>，就是 7 个基本量里的两个</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米，是怎么定义的？</a:t>
            </a:r>
          </a:p>
        </p:txBody>
      </p:sp>
      <p:sp>
        <p:nvSpPr>
          <p:cNvPr id="3" name="TextBox 2"/>
          <p:cNvSpPr txBox="1"/>
          <p:nvPr/>
        </p:nvSpPr>
        <p:spPr>
          <a:xfrm>
            <a:off x="822960" y="1005840"/>
            <a:ext cx="7498079" cy="384048"/>
          </a:xfrm>
          <a:prstGeom prst="rect">
            <a:avLst/>
          </a:prstGeom>
          <a:noFill/>
        </p:spPr>
        <p:txBody>
          <a:bodyPr wrap="square" lIns="0" tIns="0" rIns="0" bIns="0" anchor="t">
            <a:spAutoFit/>
          </a:bodyPr>
          <a:lstStyle/>
          <a:p>
            <a:pPr algn="l">
              <a:lnSpc>
                <a:spcPct val="115000"/>
              </a:lnSpc>
              <a:spcAft>
                <a:spcPts val="500"/>
              </a:spcAft>
            </a:pPr>
            <a:r>
              <a:rPr sz="1350" b="0">
                <a:solidFill>
                  <a:srgbClr val="2B2B2B"/>
                </a:solidFill>
                <a:latin typeface="微软雅黑"/>
              </a:rPr>
              <a:t>一个标准要被全世界认可，就必须 </a:t>
            </a:r>
            <a:r>
              <a:rPr sz="1400" b="1">
                <a:solidFill>
                  <a:srgbClr val="C00000"/>
                </a:solidFill>
                <a:latin typeface="微软雅黑"/>
              </a:rPr>
              <a:t>稳定、可复现</a:t>
            </a:r>
            <a:r>
              <a:rPr sz="1350" b="0">
                <a:solidFill>
                  <a:srgbClr val="2B2B2B"/>
                </a:solidFill>
                <a:latin typeface="微软雅黑"/>
              </a:rPr>
              <a:t>。米的定义走了三步：</a:t>
            </a:r>
          </a:p>
        </p:txBody>
      </p:sp>
      <p:pic>
        <p:nvPicPr>
          <p:cNvPr id="4" name="Picture 3" descr="meter_history.png"/>
          <p:cNvPicPr>
            <a:picLocks noChangeAspect="1"/>
          </p:cNvPicPr>
          <p:nvPr/>
        </p:nvPicPr>
        <p:blipFill>
          <a:blip r:embed="rId3"/>
          <a:stretch>
            <a:fillRect/>
          </a:stretch>
        </p:blipFill>
        <p:spPr>
          <a:xfrm>
            <a:off x="822960" y="1508760"/>
            <a:ext cx="7498079" cy="2166112"/>
          </a:xfrm>
          <a:prstGeom prst="rect">
            <a:avLst/>
          </a:prstGeom>
        </p:spPr>
      </p:pic>
      <p:sp>
        <p:nvSpPr>
          <p:cNvPr id="5" name="TextBox 4"/>
          <p:cNvSpPr txBox="1"/>
          <p:nvPr/>
        </p:nvSpPr>
        <p:spPr>
          <a:xfrm>
            <a:off x="975360" y="3720591"/>
            <a:ext cx="2194560" cy="329184"/>
          </a:xfrm>
          <a:prstGeom prst="rect">
            <a:avLst/>
          </a:prstGeom>
          <a:noFill/>
        </p:spPr>
        <p:txBody>
          <a:bodyPr wrap="square" lIns="0" tIns="0" rIns="0" bIns="0" anchor="t">
            <a:spAutoFit/>
          </a:bodyPr>
          <a:lstStyle/>
          <a:p>
            <a:pPr algn="ctr">
              <a:lnSpc>
                <a:spcPct val="115000"/>
              </a:lnSpc>
              <a:spcAft>
                <a:spcPts val="500"/>
              </a:spcAft>
            </a:pPr>
            <a:r>
              <a:rPr sz="1200" b="1">
                <a:solidFill>
                  <a:srgbClr val="C00000"/>
                </a:solidFill>
                <a:latin typeface="微软雅黑"/>
              </a:rPr>
              <a:t>1791 年 · 法国</a:t>
            </a:r>
          </a:p>
        </p:txBody>
      </p:sp>
      <p:sp>
        <p:nvSpPr>
          <p:cNvPr id="6" name="TextBox 5"/>
          <p:cNvSpPr txBox="1"/>
          <p:nvPr/>
        </p:nvSpPr>
        <p:spPr>
          <a:xfrm>
            <a:off x="975360" y="4086351"/>
            <a:ext cx="2194560" cy="502920"/>
          </a:xfrm>
          <a:prstGeom prst="rect">
            <a:avLst/>
          </a:prstGeom>
          <a:noFill/>
        </p:spPr>
        <p:txBody>
          <a:bodyPr wrap="square" lIns="0" tIns="0" rIns="0" bIns="0" anchor="t">
            <a:spAutoFit/>
          </a:bodyPr>
          <a:lstStyle/>
          <a:p>
            <a:pPr algn="ctr">
              <a:lnSpc>
                <a:spcPct val="125000"/>
              </a:lnSpc>
              <a:spcAft>
                <a:spcPts val="500"/>
              </a:spcAft>
            </a:pPr>
            <a:r>
              <a:rPr sz="1050" b="0">
                <a:solidFill>
                  <a:srgbClr val="2B2B2B"/>
                </a:solidFill>
                <a:latin typeface="微软雅黑"/>
              </a:rPr>
              <a:t>地球赤道到北极距离的 </a:t>
            </a:r>
            <a:r>
              <a:rPr sz="1100" b="1">
                <a:solidFill>
                  <a:srgbClr val="2B2B2B"/>
                </a:solidFill>
                <a:latin typeface="微软雅黑"/>
              </a:rPr>
              <a:t>千万分之一</a:t>
            </a:r>
          </a:p>
        </p:txBody>
      </p:sp>
      <p:sp>
        <p:nvSpPr>
          <p:cNvPr id="7" name="TextBox 6"/>
          <p:cNvSpPr txBox="1"/>
          <p:nvPr/>
        </p:nvSpPr>
        <p:spPr>
          <a:xfrm>
            <a:off x="3474720" y="3720591"/>
            <a:ext cx="2194560" cy="329184"/>
          </a:xfrm>
          <a:prstGeom prst="rect">
            <a:avLst/>
          </a:prstGeom>
          <a:noFill/>
        </p:spPr>
        <p:txBody>
          <a:bodyPr wrap="square" lIns="0" tIns="0" rIns="0" bIns="0" anchor="t">
            <a:spAutoFit/>
          </a:bodyPr>
          <a:lstStyle/>
          <a:p>
            <a:pPr algn="ctr">
              <a:lnSpc>
                <a:spcPct val="115000"/>
              </a:lnSpc>
              <a:spcAft>
                <a:spcPts val="500"/>
              </a:spcAft>
            </a:pPr>
            <a:r>
              <a:rPr sz="1200" b="1">
                <a:solidFill>
                  <a:srgbClr val="C00000"/>
                </a:solidFill>
                <a:latin typeface="微软雅黑"/>
              </a:rPr>
              <a:t>1889 年 · 米原器</a:t>
            </a:r>
          </a:p>
        </p:txBody>
      </p:sp>
      <p:sp>
        <p:nvSpPr>
          <p:cNvPr id="8" name="TextBox 7"/>
          <p:cNvSpPr txBox="1"/>
          <p:nvPr/>
        </p:nvSpPr>
        <p:spPr>
          <a:xfrm>
            <a:off x="3474720" y="4086351"/>
            <a:ext cx="2194560" cy="502920"/>
          </a:xfrm>
          <a:prstGeom prst="rect">
            <a:avLst/>
          </a:prstGeom>
          <a:noFill/>
        </p:spPr>
        <p:txBody>
          <a:bodyPr wrap="square" lIns="0" tIns="0" rIns="0" bIns="0" anchor="t">
            <a:spAutoFit/>
          </a:bodyPr>
          <a:lstStyle/>
          <a:p>
            <a:pPr algn="ctr">
              <a:lnSpc>
                <a:spcPct val="125000"/>
              </a:lnSpc>
              <a:spcAft>
                <a:spcPts val="500"/>
              </a:spcAft>
            </a:pPr>
            <a:r>
              <a:rPr sz="1050" b="0">
                <a:solidFill>
                  <a:srgbClr val="2B2B2B"/>
                </a:solidFill>
                <a:latin typeface="微软雅黑"/>
              </a:rPr>
              <a:t>铂铱合金 </a:t>
            </a:r>
            <a:r>
              <a:rPr sz="1100" b="1">
                <a:solidFill>
                  <a:srgbClr val="2B2B2B"/>
                </a:solidFill>
                <a:latin typeface="微软雅黑"/>
              </a:rPr>
              <a:t>标准杆</a:t>
            </a:r>
            <a:r>
              <a:rPr sz="1050" b="0">
                <a:solidFill>
                  <a:srgbClr val="2B2B2B"/>
                </a:solidFill>
                <a:latin typeface="微软雅黑"/>
              </a:rPr>
              <a:t> 上两刻线的距离</a:t>
            </a:r>
          </a:p>
        </p:txBody>
      </p:sp>
      <p:sp>
        <p:nvSpPr>
          <p:cNvPr id="9" name="TextBox 8"/>
          <p:cNvSpPr txBox="1"/>
          <p:nvPr/>
        </p:nvSpPr>
        <p:spPr>
          <a:xfrm>
            <a:off x="5974080" y="3720591"/>
            <a:ext cx="2194560" cy="329184"/>
          </a:xfrm>
          <a:prstGeom prst="rect">
            <a:avLst/>
          </a:prstGeom>
          <a:noFill/>
        </p:spPr>
        <p:txBody>
          <a:bodyPr wrap="square" lIns="0" tIns="0" rIns="0" bIns="0" anchor="t">
            <a:spAutoFit/>
          </a:bodyPr>
          <a:lstStyle/>
          <a:p>
            <a:pPr algn="ctr">
              <a:lnSpc>
                <a:spcPct val="115000"/>
              </a:lnSpc>
              <a:spcAft>
                <a:spcPts val="500"/>
              </a:spcAft>
            </a:pPr>
            <a:r>
              <a:rPr sz="1200" b="1">
                <a:solidFill>
                  <a:srgbClr val="C00000"/>
                </a:solidFill>
                <a:latin typeface="微软雅黑"/>
              </a:rPr>
              <a:t>1983 年 · 至今</a:t>
            </a:r>
          </a:p>
        </p:txBody>
      </p:sp>
      <p:sp>
        <p:nvSpPr>
          <p:cNvPr id="10" name="TextBox 9"/>
          <p:cNvSpPr txBox="1"/>
          <p:nvPr/>
        </p:nvSpPr>
        <p:spPr>
          <a:xfrm>
            <a:off x="5974080" y="4086351"/>
            <a:ext cx="2194560" cy="502920"/>
          </a:xfrm>
          <a:prstGeom prst="rect">
            <a:avLst/>
          </a:prstGeom>
          <a:noFill/>
        </p:spPr>
        <p:txBody>
          <a:bodyPr wrap="square" lIns="0" tIns="0" rIns="0" bIns="0" anchor="t">
            <a:spAutoFit/>
          </a:bodyPr>
          <a:lstStyle/>
          <a:p>
            <a:pPr algn="ctr">
              <a:lnSpc>
                <a:spcPct val="125000"/>
              </a:lnSpc>
              <a:spcAft>
                <a:spcPts val="500"/>
              </a:spcAft>
            </a:pPr>
            <a:r>
              <a:rPr sz="1050" b="0">
                <a:solidFill>
                  <a:srgbClr val="2B2B2B"/>
                </a:solidFill>
                <a:latin typeface="微软雅黑"/>
              </a:rPr>
              <a:t>光在真空中 </a:t>
            </a:r>
            <a:r>
              <a:rPr sz="1050" b="1">
                <a:solidFill>
                  <a:srgbClr val="2B2B2B"/>
                </a:solidFill>
                <a:latin typeface="微软雅黑"/>
              </a:rPr>
              <a:t>1/299,792,458 秒</a:t>
            </a:r>
            <a:r>
              <a:rPr sz="1050" b="0">
                <a:solidFill>
                  <a:srgbClr val="2B2B2B"/>
                </a:solidFill>
                <a:latin typeface="微软雅黑"/>
              </a:rPr>
              <a:t> 走过的距离</a:t>
            </a:r>
          </a:p>
        </p:txBody>
      </p:sp>
      <p:sp>
        <p:nvSpPr>
          <p:cNvPr id="11" name="Rounded Rectangle 10"/>
          <p:cNvSpPr/>
          <p:nvPr/>
        </p:nvSpPr>
        <p:spPr>
          <a:xfrm>
            <a:off x="822960" y="4114800"/>
            <a:ext cx="7498079"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114800"/>
            <a:ext cx="7132319" cy="548640"/>
          </a:xfrm>
          <a:prstGeom prst="rect">
            <a:avLst/>
          </a:prstGeom>
          <a:noFill/>
        </p:spPr>
        <p:txBody>
          <a:bodyPr wrap="square" lIns="0" tIns="0" rIns="0" bIns="0" anchor="ctr">
            <a:spAutoFit/>
          </a:bodyPr>
          <a:lstStyle/>
          <a:p>
            <a:pPr algn="ctr">
              <a:lnSpc>
                <a:spcPct val="115000"/>
              </a:lnSpc>
              <a:spcAft>
                <a:spcPts val="500"/>
              </a:spcAft>
            </a:pPr>
            <a:r>
              <a:rPr sz="1400" b="0">
                <a:solidFill>
                  <a:srgbClr val="FFFFFF"/>
                </a:solidFill>
                <a:latin typeface="微软雅黑"/>
              </a:rPr>
              <a:t>为什么最终用光？因为 </a:t>
            </a:r>
            <a:r>
              <a:rPr sz="1450" b="1">
                <a:solidFill>
                  <a:srgbClr val="FFD88A"/>
                </a:solidFill>
                <a:latin typeface="微软雅黑"/>
              </a:rPr>
              <a:t>真空中的光速是自然界最稳定的常数</a:t>
            </a:r>
            <a:r>
              <a:rPr sz="1400" b="0">
                <a:solidFill>
                  <a:srgbClr val="FFFFFF"/>
                </a:solidFill>
                <a:latin typeface="微软雅黑"/>
              </a:rPr>
              <a:t> —— </a:t>
            </a:r>
            <a:r>
              <a:rPr sz="1450" b="1">
                <a:solidFill>
                  <a:srgbClr val="FFD88A"/>
                </a:solidFill>
                <a:latin typeface="微软雅黑"/>
              </a:rPr>
              <a:t>标准，必须稳定</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latin typeface="微软雅黑"/>
              </a:rPr>
              <a:t>长度的其他单位与换算</a:t>
            </a:r>
          </a:p>
        </p:txBody>
      </p:sp>
      <p:sp>
        <p:nvSpPr>
          <p:cNvPr id="3" name="TextBox 2"/>
          <p:cNvSpPr txBox="1"/>
          <p:nvPr/>
        </p:nvSpPr>
        <p:spPr>
          <a:xfrm>
            <a:off x="822960" y="1143000"/>
            <a:ext cx="7498079" cy="411480"/>
          </a:xfrm>
          <a:prstGeom prst="rect">
            <a:avLst/>
          </a:prstGeom>
          <a:noFill/>
        </p:spPr>
        <p:txBody>
          <a:bodyPr wrap="square" lIns="0" tIns="0" rIns="0" bIns="0" anchor="t">
            <a:spAutoFit/>
          </a:bodyPr>
          <a:lstStyle/>
          <a:p>
            <a:pPr algn="l">
              <a:lnSpc>
                <a:spcPct val="112000"/>
              </a:lnSpc>
              <a:spcAft>
                <a:spcPts val="500"/>
              </a:spcAft>
            </a:pPr>
            <a:r>
              <a:rPr sz="1400" b="0">
                <a:solidFill>
                  <a:srgbClr val="2B2B2B"/>
                </a:solidFill>
                <a:latin typeface="微软雅黑"/>
              </a:rPr>
              <a:t>长度只有一个基本单位 —— </a:t>
            </a:r>
            <a:r>
              <a:rPr sz="1500" b="1">
                <a:solidFill>
                  <a:srgbClr val="C00000"/>
                </a:solidFill>
                <a:latin typeface="微软雅黑"/>
              </a:rPr>
              <a:t>米（m）</a:t>
            </a:r>
            <a:r>
              <a:rPr sz="1400" b="0">
                <a:solidFill>
                  <a:srgbClr val="2B2B2B"/>
                </a:solidFill>
                <a:latin typeface="微软雅黑"/>
              </a:rPr>
              <a:t>。其余单位，都是人为约定的换算：</a:t>
            </a:r>
          </a:p>
        </p:txBody>
      </p:sp>
      <p:sp>
        <p:nvSpPr>
          <p:cNvPr id="4" name="Rounded Rectangle 3"/>
          <p:cNvSpPr/>
          <p:nvPr/>
        </p:nvSpPr>
        <p:spPr>
          <a:xfrm>
            <a:off x="585216"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5216"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km</a:t>
            </a:r>
          </a:p>
        </p:txBody>
      </p:sp>
      <p:sp>
        <p:nvSpPr>
          <p:cNvPr id="6" name="TextBox 5"/>
          <p:cNvSpPr txBox="1"/>
          <p:nvPr/>
        </p:nvSpPr>
        <p:spPr>
          <a:xfrm>
            <a:off x="1371600"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×10³</a:t>
            </a:r>
          </a:p>
        </p:txBody>
      </p:sp>
      <p:sp>
        <p:nvSpPr>
          <p:cNvPr id="7" name="Right Arrow 6"/>
          <p:cNvSpPr/>
          <p:nvPr/>
        </p:nvSpPr>
        <p:spPr>
          <a:xfrm>
            <a:off x="1426464"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783080" y="1874519"/>
            <a:ext cx="786384" cy="566928"/>
          </a:xfrm>
          <a:prstGeom prst="roundRect">
            <a:avLst>
              <a:gd name="adj" fmla="val 14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783080"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FFFFFF"/>
                </a:solidFill>
                <a:latin typeface="微软雅黑"/>
              </a:rPr>
              <a:t>m</a:t>
            </a:r>
          </a:p>
        </p:txBody>
      </p:sp>
      <p:sp>
        <p:nvSpPr>
          <p:cNvPr id="10" name="TextBox 9"/>
          <p:cNvSpPr txBox="1"/>
          <p:nvPr/>
        </p:nvSpPr>
        <p:spPr>
          <a:xfrm>
            <a:off x="2569464"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a:t>
            </a:r>
          </a:p>
        </p:txBody>
      </p:sp>
      <p:sp>
        <p:nvSpPr>
          <p:cNvPr id="11" name="Right Arrow 10"/>
          <p:cNvSpPr/>
          <p:nvPr/>
        </p:nvSpPr>
        <p:spPr>
          <a:xfrm>
            <a:off x="2624328"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980944"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80944"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dm</a:t>
            </a:r>
          </a:p>
        </p:txBody>
      </p:sp>
      <p:sp>
        <p:nvSpPr>
          <p:cNvPr id="14" name="TextBox 13"/>
          <p:cNvSpPr txBox="1"/>
          <p:nvPr/>
        </p:nvSpPr>
        <p:spPr>
          <a:xfrm>
            <a:off x="3767328"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a:t>
            </a:r>
          </a:p>
        </p:txBody>
      </p:sp>
      <p:sp>
        <p:nvSpPr>
          <p:cNvPr id="15" name="Right Arrow 14"/>
          <p:cNvSpPr/>
          <p:nvPr/>
        </p:nvSpPr>
        <p:spPr>
          <a:xfrm>
            <a:off x="3822192"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178808"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78808"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cm</a:t>
            </a:r>
          </a:p>
        </p:txBody>
      </p:sp>
      <p:sp>
        <p:nvSpPr>
          <p:cNvPr id="18" name="TextBox 17"/>
          <p:cNvSpPr txBox="1"/>
          <p:nvPr/>
        </p:nvSpPr>
        <p:spPr>
          <a:xfrm>
            <a:off x="4965192"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a:t>
            </a:r>
          </a:p>
        </p:txBody>
      </p:sp>
      <p:sp>
        <p:nvSpPr>
          <p:cNvPr id="19" name="Right Arrow 18"/>
          <p:cNvSpPr/>
          <p:nvPr/>
        </p:nvSpPr>
        <p:spPr>
          <a:xfrm>
            <a:off x="5020056"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376672"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76672"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mm</a:t>
            </a:r>
          </a:p>
        </p:txBody>
      </p:sp>
      <p:sp>
        <p:nvSpPr>
          <p:cNvPr id="22" name="TextBox 21"/>
          <p:cNvSpPr txBox="1"/>
          <p:nvPr/>
        </p:nvSpPr>
        <p:spPr>
          <a:xfrm>
            <a:off x="6163056"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×10³</a:t>
            </a:r>
          </a:p>
        </p:txBody>
      </p:sp>
      <p:sp>
        <p:nvSpPr>
          <p:cNvPr id="23" name="Right Arrow 22"/>
          <p:cNvSpPr/>
          <p:nvPr/>
        </p:nvSpPr>
        <p:spPr>
          <a:xfrm>
            <a:off x="6217920"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574536"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74536"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μm</a:t>
            </a:r>
          </a:p>
        </p:txBody>
      </p:sp>
      <p:sp>
        <p:nvSpPr>
          <p:cNvPr id="26" name="TextBox 25"/>
          <p:cNvSpPr txBox="1"/>
          <p:nvPr/>
        </p:nvSpPr>
        <p:spPr>
          <a:xfrm>
            <a:off x="7360920" y="1892807"/>
            <a:ext cx="411480" cy="274320"/>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×10³</a:t>
            </a:r>
          </a:p>
        </p:txBody>
      </p:sp>
      <p:sp>
        <p:nvSpPr>
          <p:cNvPr id="27" name="Right Arrow 26"/>
          <p:cNvSpPr/>
          <p:nvPr/>
        </p:nvSpPr>
        <p:spPr>
          <a:xfrm>
            <a:off x="7415784" y="2185415"/>
            <a:ext cx="301752" cy="182880"/>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772400" y="1874519"/>
            <a:ext cx="786384" cy="56692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0" y="1874519"/>
            <a:ext cx="786384" cy="566928"/>
          </a:xfrm>
          <a:prstGeom prst="rect">
            <a:avLst/>
          </a:prstGeom>
          <a:noFill/>
        </p:spPr>
        <p:txBody>
          <a:bodyPr wrap="square" lIns="0" tIns="0" rIns="0" bIns="0" anchor="ctr">
            <a:spAutoFit/>
          </a:bodyPr>
          <a:lstStyle/>
          <a:p>
            <a:pPr algn="ctr">
              <a:lnSpc>
                <a:spcPct val="112000"/>
              </a:lnSpc>
              <a:spcAft>
                <a:spcPts val="500"/>
              </a:spcAft>
            </a:pPr>
            <a:r>
              <a:rPr sz="1350" b="1">
                <a:solidFill>
                  <a:srgbClr val="C00000"/>
                </a:solidFill>
                <a:latin typeface="微软雅黑"/>
              </a:rPr>
              <a:t>nm</a:t>
            </a:r>
          </a:p>
        </p:txBody>
      </p:sp>
      <p:sp>
        <p:nvSpPr>
          <p:cNvPr id="30" name="Rounded Rectangle 29"/>
          <p:cNvSpPr/>
          <p:nvPr/>
        </p:nvSpPr>
        <p:spPr>
          <a:xfrm>
            <a:off x="822960" y="2880360"/>
            <a:ext cx="7498079" cy="960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22960" y="2971800"/>
            <a:ext cx="82296" cy="777240"/>
          </a:xfrm>
          <a:prstGeom prst="roundRect">
            <a:avLst>
              <a:gd name="adj" fmla="val 50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88720" y="3017520"/>
            <a:ext cx="6949440" cy="365760"/>
          </a:xfrm>
          <a:prstGeom prst="rect">
            <a:avLst/>
          </a:prstGeom>
          <a:noFill/>
        </p:spPr>
        <p:txBody>
          <a:bodyPr wrap="square" lIns="0" tIns="0" rIns="0" bIns="0" anchor="t">
            <a:spAutoFit/>
          </a:bodyPr>
          <a:lstStyle/>
          <a:p>
            <a:pPr algn="l">
              <a:lnSpc>
                <a:spcPct val="112000"/>
              </a:lnSpc>
              <a:spcAft>
                <a:spcPts val="500"/>
              </a:spcAft>
            </a:pPr>
            <a:r>
              <a:rPr sz="1300" b="1">
                <a:solidFill>
                  <a:srgbClr val="1E3A5C"/>
                </a:solidFill>
                <a:latin typeface="微软雅黑"/>
              </a:rPr>
              <a:t>几个『长度常识』帮你建立手感：</a:t>
            </a:r>
          </a:p>
        </p:txBody>
      </p:sp>
      <p:sp>
        <p:nvSpPr>
          <p:cNvPr id="33" name="TextBox 32"/>
          <p:cNvSpPr txBox="1"/>
          <p:nvPr/>
        </p:nvSpPr>
        <p:spPr>
          <a:xfrm>
            <a:off x="1188720" y="3383280"/>
            <a:ext cx="6949440" cy="365760"/>
          </a:xfrm>
          <a:prstGeom prst="rect">
            <a:avLst/>
          </a:prstGeom>
          <a:noFill/>
        </p:spPr>
        <p:txBody>
          <a:bodyPr wrap="square" lIns="0" tIns="0" rIns="0" bIns="0" anchor="t">
            <a:spAutoFit/>
          </a:bodyPr>
          <a:lstStyle/>
          <a:p>
            <a:pPr algn="l">
              <a:lnSpc>
                <a:spcPct val="112000"/>
              </a:lnSpc>
              <a:spcAft>
                <a:spcPts val="500"/>
              </a:spcAft>
            </a:pPr>
            <a:r>
              <a:rPr sz="1250" b="0">
                <a:solidFill>
                  <a:srgbClr val="2B2B2B"/>
                </a:solidFill>
                <a:latin typeface="微软雅黑"/>
              </a:rPr>
              <a:t>指甲宽 ≈ 1 cm　·　课本长 ≈ 26 cm　·　头发直径 ≈ 70 μm　·　教室高 ≈ 3 m</a:t>
            </a:r>
          </a:p>
        </p:txBody>
      </p:sp>
      <p:sp>
        <p:nvSpPr>
          <p:cNvPr id="34" name="Rounded Rectangle 33"/>
          <p:cNvSpPr/>
          <p:nvPr/>
        </p:nvSpPr>
        <p:spPr>
          <a:xfrm>
            <a:off x="1920240" y="4041648"/>
            <a:ext cx="5303520" cy="530352"/>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03120" y="4041648"/>
            <a:ext cx="4937759" cy="530352"/>
          </a:xfrm>
          <a:prstGeom prst="rect">
            <a:avLst/>
          </a:prstGeom>
          <a:noFill/>
        </p:spPr>
        <p:txBody>
          <a:bodyPr wrap="square" lIns="0" tIns="0" rIns="0" bIns="0" anchor="ctr">
            <a:spAutoFit/>
          </a:bodyPr>
          <a:lstStyle/>
          <a:p>
            <a:pPr algn="ctr">
              <a:lnSpc>
                <a:spcPct val="112000"/>
              </a:lnSpc>
              <a:spcAft>
                <a:spcPts val="500"/>
              </a:spcAft>
            </a:pPr>
            <a:r>
              <a:rPr sz="1350" b="1">
                <a:solidFill>
                  <a:srgbClr val="FFFFFF"/>
                </a:solidFill>
                <a:latin typeface="微软雅黑"/>
              </a:rPr>
              <a:t>km、cm、mm 都 </a:t>
            </a:r>
            <a:r>
              <a:rPr sz="1400" b="1">
                <a:solidFill>
                  <a:srgbClr val="FFD88A"/>
                </a:solidFill>
                <a:latin typeface="微软雅黑"/>
              </a:rPr>
              <a:t>不是基本单位</a:t>
            </a:r>
            <a:r>
              <a:rPr sz="1350" b="0">
                <a:solidFill>
                  <a:srgbClr val="FFFFFF"/>
                </a:solidFill>
                <a:latin typeface="微软雅黑"/>
              </a:rPr>
              <a:t> —— 它们只是米的 </a:t>
            </a:r>
            <a:r>
              <a:rPr sz="1400" b="1">
                <a:solidFill>
                  <a:srgbClr val="FFD88A"/>
                </a:solidFill>
                <a:latin typeface="微软雅黑"/>
              </a:rPr>
              <a:t>十进制换算</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认识刻度尺：先看两个『参数』</a:t>
            </a:r>
          </a:p>
        </p:txBody>
      </p:sp>
      <p:sp>
        <p:nvSpPr>
          <p:cNvPr id="3" name="Rounded Rectangle 2"/>
          <p:cNvSpPr/>
          <p:nvPr/>
        </p:nvSpPr>
        <p:spPr>
          <a:xfrm>
            <a:off x="822960" y="1280160"/>
            <a:ext cx="361188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371600"/>
            <a:ext cx="82296" cy="1920239"/>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70432" y="1481328"/>
            <a:ext cx="3108960" cy="411480"/>
          </a:xfrm>
          <a:prstGeom prst="rect">
            <a:avLst/>
          </a:prstGeom>
          <a:noFill/>
        </p:spPr>
        <p:txBody>
          <a:bodyPr wrap="square" lIns="0" tIns="0" rIns="0" bIns="0" anchor="t">
            <a:spAutoFit/>
          </a:bodyPr>
          <a:lstStyle/>
          <a:p>
            <a:pPr algn="l">
              <a:lnSpc>
                <a:spcPct val="112000"/>
              </a:lnSpc>
              <a:spcAft>
                <a:spcPts val="500"/>
              </a:spcAft>
            </a:pPr>
            <a:r>
              <a:rPr sz="1700" b="1">
                <a:solidFill>
                  <a:srgbClr val="C00000"/>
                </a:solidFill>
                <a:latin typeface="微软雅黑"/>
              </a:rPr>
              <a:t>量程</a:t>
            </a:r>
          </a:p>
        </p:txBody>
      </p:sp>
      <p:sp>
        <p:nvSpPr>
          <p:cNvPr id="6" name="TextBox 5"/>
          <p:cNvSpPr txBox="1"/>
          <p:nvPr/>
        </p:nvSpPr>
        <p:spPr>
          <a:xfrm>
            <a:off x="1170432" y="1920240"/>
            <a:ext cx="3108960" cy="548640"/>
          </a:xfrm>
          <a:prstGeom prst="rect">
            <a:avLst/>
          </a:prstGeom>
          <a:noFill/>
        </p:spPr>
        <p:txBody>
          <a:bodyPr wrap="square" lIns="0" tIns="0" rIns="0" bIns="0" anchor="t">
            <a:spAutoFit/>
          </a:bodyPr>
          <a:lstStyle/>
          <a:p>
            <a:pPr algn="l">
              <a:lnSpc>
                <a:spcPct val="112000"/>
              </a:lnSpc>
              <a:spcAft>
                <a:spcPts val="500"/>
              </a:spcAft>
            </a:pPr>
            <a:r>
              <a:rPr sz="1300" b="0">
                <a:solidFill>
                  <a:srgbClr val="2B2B2B"/>
                </a:solidFill>
                <a:latin typeface="微软雅黑"/>
              </a:rPr>
              <a:t>尺子能测量的</a:t>
            </a:r>
            <a:r>
              <a:rPr sz="1300" b="1">
                <a:solidFill>
                  <a:srgbClr val="2B2B2B"/>
                </a:solidFill>
                <a:latin typeface="微软雅黑"/>
              </a:rPr>
              <a:t>最大范围</a:t>
            </a:r>
          </a:p>
        </p:txBody>
      </p:sp>
      <p:sp>
        <p:nvSpPr>
          <p:cNvPr id="7" name="TextBox 6"/>
          <p:cNvSpPr txBox="1"/>
          <p:nvPr/>
        </p:nvSpPr>
        <p:spPr>
          <a:xfrm>
            <a:off x="1170432" y="2514600"/>
            <a:ext cx="3108960" cy="640080"/>
          </a:xfrm>
          <a:prstGeom prst="rect">
            <a:avLst/>
          </a:prstGeom>
          <a:noFill/>
        </p:spPr>
        <p:txBody>
          <a:bodyPr wrap="square" lIns="0" tIns="0" rIns="0" bIns="0" anchor="t">
            <a:spAutoFit/>
          </a:bodyPr>
          <a:lstStyle/>
          <a:p>
            <a:pPr algn="l">
              <a:lnSpc>
                <a:spcPct val="112000"/>
              </a:lnSpc>
              <a:spcAft>
                <a:spcPts val="500"/>
              </a:spcAft>
            </a:pPr>
            <a:r>
              <a:rPr sz="1200" b="0">
                <a:solidFill>
                  <a:srgbClr val="6B6B6B"/>
                </a:solidFill>
                <a:latin typeface="微软雅黑"/>
              </a:rPr>
              <a:t>30 cm 的尺，量不了 2 m 的黑板 —— 量程不够</a:t>
            </a:r>
          </a:p>
        </p:txBody>
      </p:sp>
      <p:sp>
        <p:nvSpPr>
          <p:cNvPr id="8" name="Rounded Rectangle 7"/>
          <p:cNvSpPr/>
          <p:nvPr/>
        </p:nvSpPr>
        <p:spPr>
          <a:xfrm>
            <a:off x="4709160" y="1280160"/>
            <a:ext cx="361188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709160" y="1371600"/>
            <a:ext cx="82296" cy="1920239"/>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56632" y="1481328"/>
            <a:ext cx="3108960" cy="411480"/>
          </a:xfrm>
          <a:prstGeom prst="rect">
            <a:avLst/>
          </a:prstGeom>
          <a:noFill/>
        </p:spPr>
        <p:txBody>
          <a:bodyPr wrap="square" lIns="0" tIns="0" rIns="0" bIns="0" anchor="t">
            <a:spAutoFit/>
          </a:bodyPr>
          <a:lstStyle/>
          <a:p>
            <a:pPr algn="l">
              <a:lnSpc>
                <a:spcPct val="112000"/>
              </a:lnSpc>
              <a:spcAft>
                <a:spcPts val="500"/>
              </a:spcAft>
            </a:pPr>
            <a:r>
              <a:rPr sz="1700" b="1">
                <a:solidFill>
                  <a:srgbClr val="E8922A"/>
                </a:solidFill>
                <a:latin typeface="微软雅黑"/>
              </a:rPr>
              <a:t>分度值</a:t>
            </a:r>
          </a:p>
        </p:txBody>
      </p:sp>
      <p:sp>
        <p:nvSpPr>
          <p:cNvPr id="11" name="TextBox 10"/>
          <p:cNvSpPr txBox="1"/>
          <p:nvPr/>
        </p:nvSpPr>
        <p:spPr>
          <a:xfrm>
            <a:off x="5056632" y="1920240"/>
            <a:ext cx="3108960" cy="548640"/>
          </a:xfrm>
          <a:prstGeom prst="rect">
            <a:avLst/>
          </a:prstGeom>
          <a:noFill/>
        </p:spPr>
        <p:txBody>
          <a:bodyPr wrap="square" lIns="0" tIns="0" rIns="0" bIns="0" anchor="t">
            <a:spAutoFit/>
          </a:bodyPr>
          <a:lstStyle/>
          <a:p>
            <a:pPr algn="l">
              <a:lnSpc>
                <a:spcPct val="112000"/>
              </a:lnSpc>
              <a:spcAft>
                <a:spcPts val="500"/>
              </a:spcAft>
            </a:pPr>
            <a:r>
              <a:rPr sz="1300" b="0">
                <a:solidFill>
                  <a:srgbClr val="2B2B2B"/>
                </a:solidFill>
                <a:latin typeface="微软雅黑"/>
              </a:rPr>
              <a:t>相邻刻度线之间的距离，即</a:t>
            </a:r>
            <a:r>
              <a:rPr sz="1300" b="1">
                <a:solidFill>
                  <a:srgbClr val="2B2B2B"/>
                </a:solidFill>
                <a:latin typeface="微软雅黑"/>
              </a:rPr>
              <a:t>最小一格</a:t>
            </a:r>
          </a:p>
        </p:txBody>
      </p:sp>
      <p:sp>
        <p:nvSpPr>
          <p:cNvPr id="12" name="TextBox 11"/>
          <p:cNvSpPr txBox="1"/>
          <p:nvPr/>
        </p:nvSpPr>
        <p:spPr>
          <a:xfrm>
            <a:off x="5056632" y="2514600"/>
            <a:ext cx="3108960" cy="640080"/>
          </a:xfrm>
          <a:prstGeom prst="rect">
            <a:avLst/>
          </a:prstGeom>
          <a:noFill/>
        </p:spPr>
        <p:txBody>
          <a:bodyPr wrap="square" lIns="0" tIns="0" rIns="0" bIns="0" anchor="t">
            <a:spAutoFit/>
          </a:bodyPr>
          <a:lstStyle/>
          <a:p>
            <a:pPr algn="l">
              <a:lnSpc>
                <a:spcPct val="112000"/>
              </a:lnSpc>
              <a:spcAft>
                <a:spcPts val="500"/>
              </a:spcAft>
            </a:pPr>
            <a:r>
              <a:rPr sz="1200" b="0">
                <a:solidFill>
                  <a:srgbClr val="6B6B6B"/>
                </a:solidFill>
                <a:latin typeface="微软雅黑"/>
              </a:rPr>
              <a:t>分度值越小，测得越精细 —— 它决定了尺的精度</a:t>
            </a:r>
          </a:p>
        </p:txBody>
      </p:sp>
      <p:sp>
        <p:nvSpPr>
          <p:cNvPr id="13" name="Rounded Rectangle 12"/>
          <p:cNvSpPr/>
          <p:nvPr/>
        </p:nvSpPr>
        <p:spPr>
          <a:xfrm>
            <a:off x="1234440" y="3749039"/>
            <a:ext cx="6675120" cy="566928"/>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17320" y="3749039"/>
            <a:ext cx="6309359" cy="566928"/>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动手：拿起你文具盒里的尺 —— 量程多大？分度值是多少？</a:t>
            </a:r>
          </a:p>
        </p:txBody>
      </p:sp>
      <p:sp>
        <p:nvSpPr>
          <p:cNvPr id="15" name="TextBox 14"/>
          <p:cNvSpPr txBox="1"/>
          <p:nvPr/>
        </p:nvSpPr>
        <p:spPr>
          <a:xfrm>
            <a:off x="1234440" y="4434840"/>
            <a:ext cx="6675120" cy="320040"/>
          </a:xfrm>
          <a:prstGeom prst="rect">
            <a:avLst/>
          </a:prstGeom>
          <a:noFill/>
        </p:spPr>
        <p:txBody>
          <a:bodyPr wrap="square" lIns="0" tIns="0" rIns="0" bIns="0" anchor="t">
            <a:spAutoFit/>
          </a:bodyPr>
          <a:lstStyle/>
          <a:p>
            <a:pPr algn="ctr">
              <a:lnSpc>
                <a:spcPct val="112000"/>
              </a:lnSpc>
              <a:spcAft>
                <a:spcPts val="500"/>
              </a:spcAft>
            </a:pPr>
            <a:r>
              <a:rPr sz="1200" b="0">
                <a:solidFill>
                  <a:srgbClr val="6B6B6B"/>
                </a:solidFill>
                <a:latin typeface="微软雅黑"/>
              </a:rPr>
              <a:t>使用任何测量工具前，先看清量程与分度值</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刻度尺怎么用：五步法</a:t>
            </a:r>
          </a:p>
        </p:txBody>
      </p:sp>
      <p:sp>
        <p:nvSpPr>
          <p:cNvPr id="3" name="Rounded Rectangle 2"/>
          <p:cNvSpPr/>
          <p:nvPr/>
        </p:nvSpPr>
        <p:spPr>
          <a:xfrm>
            <a:off x="347471" y="1325880"/>
            <a:ext cx="1572768"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7471" y="141732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0391" y="152704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1" y="1527048"/>
            <a:ext cx="566928" cy="566928"/>
          </a:xfrm>
          <a:prstGeom prst="rect">
            <a:avLst/>
          </a:prstGeom>
          <a:noFill/>
        </p:spPr>
        <p:txBody>
          <a:bodyPr wrap="square" lIns="0" tIns="0" rIns="0" bIns="0" anchor="ctr">
            <a:spAutoFit/>
          </a:bodyPr>
          <a:lstStyle/>
          <a:p>
            <a:pPr algn="ctr">
              <a:lnSpc>
                <a:spcPct val="112000"/>
              </a:lnSpc>
              <a:spcAft>
                <a:spcPts val="500"/>
              </a:spcAft>
            </a:pPr>
            <a:r>
              <a:rPr sz="2000" b="1">
                <a:solidFill>
                  <a:srgbClr val="FFFFFF"/>
                </a:solidFill>
                <a:latin typeface="微软雅黑"/>
              </a:rPr>
              <a:t>选</a:t>
            </a:r>
          </a:p>
        </p:txBody>
      </p:sp>
      <p:sp>
        <p:nvSpPr>
          <p:cNvPr id="7" name="TextBox 6"/>
          <p:cNvSpPr txBox="1"/>
          <p:nvPr/>
        </p:nvSpPr>
        <p:spPr>
          <a:xfrm>
            <a:off x="457199" y="2258568"/>
            <a:ext cx="1353312" cy="365760"/>
          </a:xfrm>
          <a:prstGeom prst="rect">
            <a:avLst/>
          </a:prstGeom>
          <a:noFill/>
        </p:spPr>
        <p:txBody>
          <a:bodyPr wrap="square" lIns="0" tIns="0" rIns="0" bIns="0" anchor="t">
            <a:spAutoFit/>
          </a:bodyPr>
          <a:lstStyle/>
          <a:p>
            <a:pPr algn="ctr">
              <a:lnSpc>
                <a:spcPct val="112000"/>
              </a:lnSpc>
              <a:spcAft>
                <a:spcPts val="500"/>
              </a:spcAft>
            </a:pPr>
            <a:r>
              <a:rPr sz="1300" b="1">
                <a:solidFill>
                  <a:srgbClr val="2B2B2B"/>
                </a:solidFill>
                <a:latin typeface="微软雅黑"/>
              </a:rPr>
              <a:t>按需选尺</a:t>
            </a:r>
          </a:p>
        </p:txBody>
      </p:sp>
      <p:sp>
        <p:nvSpPr>
          <p:cNvPr id="8" name="TextBox 7"/>
          <p:cNvSpPr txBox="1"/>
          <p:nvPr/>
        </p:nvSpPr>
        <p:spPr>
          <a:xfrm>
            <a:off x="475487" y="2624328"/>
            <a:ext cx="1316736" cy="777240"/>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量程、分度值要合适</a:t>
            </a:r>
          </a:p>
        </p:txBody>
      </p:sp>
      <p:sp>
        <p:nvSpPr>
          <p:cNvPr id="9" name="Rounded Rectangle 8"/>
          <p:cNvSpPr/>
          <p:nvPr/>
        </p:nvSpPr>
        <p:spPr>
          <a:xfrm>
            <a:off x="2066543" y="1325880"/>
            <a:ext cx="1572768"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066543" y="141732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569463" y="152704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69463" y="1527048"/>
            <a:ext cx="566928" cy="566928"/>
          </a:xfrm>
          <a:prstGeom prst="rect">
            <a:avLst/>
          </a:prstGeom>
          <a:noFill/>
        </p:spPr>
        <p:txBody>
          <a:bodyPr wrap="square" lIns="0" tIns="0" rIns="0" bIns="0" anchor="ctr">
            <a:spAutoFit/>
          </a:bodyPr>
          <a:lstStyle/>
          <a:p>
            <a:pPr algn="ctr">
              <a:lnSpc>
                <a:spcPct val="112000"/>
              </a:lnSpc>
              <a:spcAft>
                <a:spcPts val="500"/>
              </a:spcAft>
            </a:pPr>
            <a:r>
              <a:rPr sz="2000" b="1">
                <a:solidFill>
                  <a:srgbClr val="FFFFFF"/>
                </a:solidFill>
                <a:latin typeface="微软雅黑"/>
              </a:rPr>
              <a:t>观</a:t>
            </a:r>
          </a:p>
        </p:txBody>
      </p:sp>
      <p:sp>
        <p:nvSpPr>
          <p:cNvPr id="13" name="TextBox 12"/>
          <p:cNvSpPr txBox="1"/>
          <p:nvPr/>
        </p:nvSpPr>
        <p:spPr>
          <a:xfrm>
            <a:off x="2176272" y="2258568"/>
            <a:ext cx="1353312" cy="365760"/>
          </a:xfrm>
          <a:prstGeom prst="rect">
            <a:avLst/>
          </a:prstGeom>
          <a:noFill/>
        </p:spPr>
        <p:txBody>
          <a:bodyPr wrap="square" lIns="0" tIns="0" rIns="0" bIns="0" anchor="t">
            <a:spAutoFit/>
          </a:bodyPr>
          <a:lstStyle/>
          <a:p>
            <a:pPr algn="ctr">
              <a:lnSpc>
                <a:spcPct val="112000"/>
              </a:lnSpc>
              <a:spcAft>
                <a:spcPts val="500"/>
              </a:spcAft>
            </a:pPr>
            <a:r>
              <a:rPr sz="1300" b="1">
                <a:solidFill>
                  <a:srgbClr val="2B2B2B"/>
                </a:solidFill>
                <a:latin typeface="微软雅黑"/>
              </a:rPr>
              <a:t>观察检查</a:t>
            </a:r>
          </a:p>
        </p:txBody>
      </p:sp>
      <p:sp>
        <p:nvSpPr>
          <p:cNvPr id="14" name="TextBox 13"/>
          <p:cNvSpPr txBox="1"/>
          <p:nvPr/>
        </p:nvSpPr>
        <p:spPr>
          <a:xfrm>
            <a:off x="2194560" y="2624328"/>
            <a:ext cx="1316736" cy="777240"/>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零刻度线是否磨损</a:t>
            </a:r>
          </a:p>
        </p:txBody>
      </p:sp>
      <p:sp>
        <p:nvSpPr>
          <p:cNvPr id="15" name="Rounded Rectangle 14"/>
          <p:cNvSpPr/>
          <p:nvPr/>
        </p:nvSpPr>
        <p:spPr>
          <a:xfrm>
            <a:off x="3785615" y="1325880"/>
            <a:ext cx="1572768"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785615" y="141732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288536" y="152704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88536" y="1527048"/>
            <a:ext cx="566928" cy="566928"/>
          </a:xfrm>
          <a:prstGeom prst="rect">
            <a:avLst/>
          </a:prstGeom>
          <a:noFill/>
        </p:spPr>
        <p:txBody>
          <a:bodyPr wrap="square" lIns="0" tIns="0" rIns="0" bIns="0" anchor="ctr">
            <a:spAutoFit/>
          </a:bodyPr>
          <a:lstStyle/>
          <a:p>
            <a:pPr algn="ctr">
              <a:lnSpc>
                <a:spcPct val="112000"/>
              </a:lnSpc>
              <a:spcAft>
                <a:spcPts val="500"/>
              </a:spcAft>
            </a:pPr>
            <a:r>
              <a:rPr sz="2000" b="1">
                <a:solidFill>
                  <a:srgbClr val="FFFFFF"/>
                </a:solidFill>
                <a:latin typeface="微软雅黑"/>
              </a:rPr>
              <a:t>放</a:t>
            </a:r>
          </a:p>
        </p:txBody>
      </p:sp>
      <p:sp>
        <p:nvSpPr>
          <p:cNvPr id="19" name="TextBox 18"/>
          <p:cNvSpPr txBox="1"/>
          <p:nvPr/>
        </p:nvSpPr>
        <p:spPr>
          <a:xfrm>
            <a:off x="3895344" y="2258568"/>
            <a:ext cx="1353312" cy="365760"/>
          </a:xfrm>
          <a:prstGeom prst="rect">
            <a:avLst/>
          </a:prstGeom>
          <a:noFill/>
        </p:spPr>
        <p:txBody>
          <a:bodyPr wrap="square" lIns="0" tIns="0" rIns="0" bIns="0" anchor="t">
            <a:spAutoFit/>
          </a:bodyPr>
          <a:lstStyle/>
          <a:p>
            <a:pPr algn="ctr">
              <a:lnSpc>
                <a:spcPct val="112000"/>
              </a:lnSpc>
              <a:spcAft>
                <a:spcPts val="500"/>
              </a:spcAft>
            </a:pPr>
            <a:r>
              <a:rPr sz="1300" b="1">
                <a:solidFill>
                  <a:srgbClr val="2B2B2B"/>
                </a:solidFill>
                <a:latin typeface="微软雅黑"/>
              </a:rPr>
              <a:t>放正贴紧</a:t>
            </a:r>
          </a:p>
        </p:txBody>
      </p:sp>
      <p:sp>
        <p:nvSpPr>
          <p:cNvPr id="20" name="TextBox 19"/>
          <p:cNvSpPr txBox="1"/>
          <p:nvPr/>
        </p:nvSpPr>
        <p:spPr>
          <a:xfrm>
            <a:off x="3913631" y="2624328"/>
            <a:ext cx="1316736" cy="777240"/>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刻度线紧贴被测物、不歪斜</a:t>
            </a:r>
          </a:p>
        </p:txBody>
      </p:sp>
      <p:sp>
        <p:nvSpPr>
          <p:cNvPr id="21" name="Rounded Rectangle 20"/>
          <p:cNvSpPr/>
          <p:nvPr/>
        </p:nvSpPr>
        <p:spPr>
          <a:xfrm>
            <a:off x="5504688" y="1325880"/>
            <a:ext cx="1572768"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504688" y="141732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07608" y="152704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07608" y="1527048"/>
            <a:ext cx="566928" cy="566928"/>
          </a:xfrm>
          <a:prstGeom prst="rect">
            <a:avLst/>
          </a:prstGeom>
          <a:noFill/>
        </p:spPr>
        <p:txBody>
          <a:bodyPr wrap="square" lIns="0" tIns="0" rIns="0" bIns="0" anchor="ctr">
            <a:spAutoFit/>
          </a:bodyPr>
          <a:lstStyle/>
          <a:p>
            <a:pPr algn="ctr">
              <a:lnSpc>
                <a:spcPct val="112000"/>
              </a:lnSpc>
              <a:spcAft>
                <a:spcPts val="500"/>
              </a:spcAft>
            </a:pPr>
            <a:r>
              <a:rPr sz="2000" b="1">
                <a:solidFill>
                  <a:srgbClr val="FFFFFF"/>
                </a:solidFill>
                <a:latin typeface="微软雅黑"/>
              </a:rPr>
              <a:t>读</a:t>
            </a:r>
          </a:p>
        </p:txBody>
      </p:sp>
      <p:sp>
        <p:nvSpPr>
          <p:cNvPr id="25" name="TextBox 24"/>
          <p:cNvSpPr txBox="1"/>
          <p:nvPr/>
        </p:nvSpPr>
        <p:spPr>
          <a:xfrm>
            <a:off x="5614416" y="2258568"/>
            <a:ext cx="1353312" cy="365760"/>
          </a:xfrm>
          <a:prstGeom prst="rect">
            <a:avLst/>
          </a:prstGeom>
          <a:noFill/>
        </p:spPr>
        <p:txBody>
          <a:bodyPr wrap="square" lIns="0" tIns="0" rIns="0" bIns="0" anchor="t">
            <a:spAutoFit/>
          </a:bodyPr>
          <a:lstStyle/>
          <a:p>
            <a:pPr algn="ctr">
              <a:lnSpc>
                <a:spcPct val="112000"/>
              </a:lnSpc>
              <a:spcAft>
                <a:spcPts val="500"/>
              </a:spcAft>
            </a:pPr>
            <a:r>
              <a:rPr sz="1300" b="1">
                <a:solidFill>
                  <a:srgbClr val="2B2B2B"/>
                </a:solidFill>
                <a:latin typeface="微软雅黑"/>
              </a:rPr>
              <a:t>视线垂直</a:t>
            </a:r>
          </a:p>
        </p:txBody>
      </p:sp>
      <p:sp>
        <p:nvSpPr>
          <p:cNvPr id="26" name="TextBox 25"/>
          <p:cNvSpPr txBox="1"/>
          <p:nvPr/>
        </p:nvSpPr>
        <p:spPr>
          <a:xfrm>
            <a:off x="5632703" y="2624328"/>
            <a:ext cx="1316736" cy="777240"/>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正对刻度读数，读到分度值下一位</a:t>
            </a:r>
          </a:p>
        </p:txBody>
      </p:sp>
      <p:sp>
        <p:nvSpPr>
          <p:cNvPr id="27" name="Rounded Rectangle 26"/>
          <p:cNvSpPr/>
          <p:nvPr/>
        </p:nvSpPr>
        <p:spPr>
          <a:xfrm>
            <a:off x="7223759" y="1325880"/>
            <a:ext cx="1572768"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223759" y="1417320"/>
            <a:ext cx="82296" cy="196596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726679" y="152704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26679" y="1527048"/>
            <a:ext cx="566928" cy="566928"/>
          </a:xfrm>
          <a:prstGeom prst="rect">
            <a:avLst/>
          </a:prstGeom>
          <a:noFill/>
        </p:spPr>
        <p:txBody>
          <a:bodyPr wrap="square" lIns="0" tIns="0" rIns="0" bIns="0" anchor="ctr">
            <a:spAutoFit/>
          </a:bodyPr>
          <a:lstStyle/>
          <a:p>
            <a:pPr algn="ctr">
              <a:lnSpc>
                <a:spcPct val="112000"/>
              </a:lnSpc>
              <a:spcAft>
                <a:spcPts val="500"/>
              </a:spcAft>
            </a:pPr>
            <a:r>
              <a:rPr sz="2000" b="1">
                <a:solidFill>
                  <a:srgbClr val="FFFFFF"/>
                </a:solidFill>
                <a:latin typeface="微软雅黑"/>
              </a:rPr>
              <a:t>记</a:t>
            </a:r>
          </a:p>
        </p:txBody>
      </p:sp>
      <p:sp>
        <p:nvSpPr>
          <p:cNvPr id="31" name="TextBox 30"/>
          <p:cNvSpPr txBox="1"/>
          <p:nvPr/>
        </p:nvSpPr>
        <p:spPr>
          <a:xfrm>
            <a:off x="7333488" y="2258568"/>
            <a:ext cx="1353312" cy="365760"/>
          </a:xfrm>
          <a:prstGeom prst="rect">
            <a:avLst/>
          </a:prstGeom>
          <a:noFill/>
        </p:spPr>
        <p:txBody>
          <a:bodyPr wrap="square" lIns="0" tIns="0" rIns="0" bIns="0" anchor="t">
            <a:spAutoFit/>
          </a:bodyPr>
          <a:lstStyle/>
          <a:p>
            <a:pPr algn="ctr">
              <a:lnSpc>
                <a:spcPct val="112000"/>
              </a:lnSpc>
              <a:spcAft>
                <a:spcPts val="500"/>
              </a:spcAft>
            </a:pPr>
            <a:r>
              <a:rPr sz="1300" b="1">
                <a:solidFill>
                  <a:srgbClr val="2B2B2B"/>
                </a:solidFill>
                <a:latin typeface="微软雅黑"/>
              </a:rPr>
              <a:t>数值+单位</a:t>
            </a:r>
          </a:p>
        </p:txBody>
      </p:sp>
      <p:sp>
        <p:nvSpPr>
          <p:cNvPr id="32" name="TextBox 31"/>
          <p:cNvSpPr txBox="1"/>
          <p:nvPr/>
        </p:nvSpPr>
        <p:spPr>
          <a:xfrm>
            <a:off x="7351775" y="2624328"/>
            <a:ext cx="1316736" cy="777240"/>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别忘单位，别漏估读位</a:t>
            </a:r>
          </a:p>
        </p:txBody>
      </p:sp>
      <p:sp>
        <p:nvSpPr>
          <p:cNvPr id="33" name="Rounded Rectangle 32"/>
          <p:cNvSpPr/>
          <p:nvPr/>
        </p:nvSpPr>
        <p:spPr>
          <a:xfrm>
            <a:off x="1737360" y="3931920"/>
            <a:ext cx="566928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20240" y="3931920"/>
            <a:ext cx="5303520"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其中『读』这一步，藏着本课最重要的问题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重点：为什么要估读？</a:t>
            </a:r>
          </a:p>
        </p:txBody>
      </p:sp>
      <p:pic>
        <p:nvPicPr>
          <p:cNvPr id="3" name="Picture 2" descr="ruler_est.png"/>
          <p:cNvPicPr>
            <a:picLocks noChangeAspect="1"/>
          </p:cNvPicPr>
          <p:nvPr/>
        </p:nvPicPr>
        <p:blipFill>
          <a:blip r:embed="rId2"/>
          <a:stretch>
            <a:fillRect/>
          </a:stretch>
        </p:blipFill>
        <p:spPr>
          <a:xfrm>
            <a:off x="685800" y="1051560"/>
            <a:ext cx="4937760" cy="2015412"/>
          </a:xfrm>
          <a:prstGeom prst="rect">
            <a:avLst/>
          </a:prstGeom>
        </p:spPr>
      </p:pic>
      <p:sp>
        <p:nvSpPr>
          <p:cNvPr id="4" name="TextBox 3"/>
          <p:cNvSpPr txBox="1"/>
          <p:nvPr/>
        </p:nvSpPr>
        <p:spPr>
          <a:xfrm>
            <a:off x="5897880" y="1143000"/>
            <a:ext cx="2880360" cy="914400"/>
          </a:xfrm>
          <a:prstGeom prst="rect">
            <a:avLst/>
          </a:prstGeom>
          <a:noFill/>
        </p:spPr>
        <p:txBody>
          <a:bodyPr wrap="square" lIns="0" tIns="0" rIns="0" bIns="0" anchor="t">
            <a:spAutoFit/>
          </a:bodyPr>
          <a:lstStyle/>
          <a:p>
            <a:pPr algn="l">
              <a:lnSpc>
                <a:spcPct val="112000"/>
              </a:lnSpc>
              <a:spcAft>
                <a:spcPts val="500"/>
              </a:spcAft>
            </a:pPr>
            <a:r>
              <a:rPr sz="1300" b="1">
                <a:solidFill>
                  <a:srgbClr val="2B2B2B"/>
                </a:solidFill>
                <a:latin typeface="微软雅黑"/>
              </a:rPr>
              <a:t>一把分度值 1 mm 的尺：</a:t>
            </a:r>
          </a:p>
          <a:p>
            <a:pPr algn="l">
              <a:lnSpc>
                <a:spcPct val="112000"/>
              </a:lnSpc>
              <a:spcAft>
                <a:spcPts val="500"/>
              </a:spcAft>
            </a:pPr>
            <a:r>
              <a:rPr sz="1250" b="0">
                <a:solidFill>
                  <a:srgbClr val="2B2B2B"/>
                </a:solidFill>
                <a:latin typeface="微软雅黑"/>
              </a:rPr>
              <a:t>物体末端落在 5.6 cm 与 5.7 cm 之间</a:t>
            </a:r>
          </a:p>
        </p:txBody>
      </p:sp>
      <p:sp>
        <p:nvSpPr>
          <p:cNvPr id="5" name="TextBox 4"/>
          <p:cNvSpPr txBox="1"/>
          <p:nvPr/>
        </p:nvSpPr>
        <p:spPr>
          <a:xfrm>
            <a:off x="5897880" y="2103120"/>
            <a:ext cx="2880360" cy="1051560"/>
          </a:xfrm>
          <a:prstGeom prst="rect">
            <a:avLst/>
          </a:prstGeom>
          <a:noFill/>
        </p:spPr>
        <p:txBody>
          <a:bodyPr wrap="square" lIns="0" tIns="0" rIns="0" bIns="0" anchor="t">
            <a:spAutoFit/>
          </a:bodyPr>
          <a:lstStyle/>
          <a:p>
            <a:pPr algn="l">
              <a:lnSpc>
                <a:spcPct val="112000"/>
              </a:lnSpc>
              <a:spcAft>
                <a:spcPts val="500"/>
              </a:spcAft>
            </a:pPr>
            <a:r>
              <a:rPr sz="1250" b="0">
                <a:solidFill>
                  <a:srgbClr val="6B6B6B"/>
                </a:solidFill>
                <a:latin typeface="微软雅黑"/>
              </a:rPr>
              <a:t>只读 5.6 —— 丢掉了信息</a:t>
            </a:r>
          </a:p>
          <a:p>
            <a:pPr algn="l">
              <a:lnSpc>
                <a:spcPct val="112000"/>
              </a:lnSpc>
              <a:spcAft>
                <a:spcPts val="500"/>
              </a:spcAft>
            </a:pPr>
            <a:r>
              <a:rPr sz="1250" b="0">
                <a:solidFill>
                  <a:srgbClr val="2B2B2B"/>
                </a:solidFill>
                <a:latin typeface="微软雅黑"/>
              </a:rPr>
              <a:t>于是我们</a:t>
            </a:r>
            <a:r>
              <a:rPr sz="1300" b="1">
                <a:solidFill>
                  <a:srgbClr val="C00000"/>
                </a:solidFill>
                <a:latin typeface="微软雅黑"/>
              </a:rPr>
              <a:t>再往下估一位</a:t>
            </a:r>
            <a:r>
              <a:rPr sz="1250" b="0">
                <a:solidFill>
                  <a:srgbClr val="2B2B2B"/>
                </a:solidFill>
                <a:latin typeface="微软雅黑"/>
              </a:rPr>
              <a:t>：</a:t>
            </a:r>
          </a:p>
          <a:p>
            <a:pPr algn="l">
              <a:lnSpc>
                <a:spcPct val="112000"/>
              </a:lnSpc>
              <a:spcAft>
                <a:spcPts val="500"/>
              </a:spcAft>
            </a:pPr>
            <a:r>
              <a:rPr sz="1500" b="1">
                <a:solidFill>
                  <a:srgbClr val="2B2B2B"/>
                </a:solidFill>
                <a:latin typeface="微软雅黑"/>
              </a:rPr>
              <a:t>读作 5.6</a:t>
            </a:r>
            <a:r>
              <a:rPr sz="1500" b="1">
                <a:solidFill>
                  <a:srgbClr val="C00000"/>
                </a:solidFill>
                <a:latin typeface="微软雅黑"/>
              </a:rPr>
              <a:t>3</a:t>
            </a:r>
            <a:r>
              <a:rPr sz="1500" b="1">
                <a:solidFill>
                  <a:srgbClr val="2B2B2B"/>
                </a:solidFill>
                <a:latin typeface="微软雅黑"/>
              </a:rPr>
              <a:t> cm</a:t>
            </a:r>
          </a:p>
        </p:txBody>
      </p:sp>
      <p:sp>
        <p:nvSpPr>
          <p:cNvPr id="6" name="TextBox 5"/>
          <p:cNvSpPr txBox="1"/>
          <p:nvPr/>
        </p:nvSpPr>
        <p:spPr>
          <a:xfrm>
            <a:off x="5897880" y="3200400"/>
            <a:ext cx="2880360" cy="548640"/>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『3』就是估读出来的存疑数字</a:t>
            </a:r>
          </a:p>
        </p:txBody>
      </p:sp>
      <p:sp>
        <p:nvSpPr>
          <p:cNvPr id="7" name="Rounded Rectangle 6"/>
          <p:cNvSpPr/>
          <p:nvPr/>
        </p:nvSpPr>
        <p:spPr>
          <a:xfrm>
            <a:off x="822960" y="3931920"/>
            <a:ext cx="7498079"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931920"/>
            <a:ext cx="7132319" cy="548640"/>
          </a:xfrm>
          <a:prstGeom prst="rect">
            <a:avLst/>
          </a:prstGeom>
          <a:noFill/>
        </p:spPr>
        <p:txBody>
          <a:bodyPr wrap="square" lIns="0" tIns="0" rIns="0" bIns="0" anchor="ctr">
            <a:spAutoFit/>
          </a:bodyPr>
          <a:lstStyle/>
          <a:p>
            <a:pPr algn="ctr">
              <a:lnSpc>
                <a:spcPct val="112000"/>
              </a:lnSpc>
              <a:spcAft>
                <a:spcPts val="500"/>
              </a:spcAft>
            </a:pPr>
            <a:r>
              <a:rPr sz="1350" b="0">
                <a:solidFill>
                  <a:srgbClr val="FFFFFF"/>
                </a:solidFill>
                <a:latin typeface="微软雅黑"/>
              </a:rPr>
              <a:t>长度是连续的，刻度是离散的 —— 读数 = </a:t>
            </a:r>
            <a:r>
              <a:rPr sz="1400" b="1">
                <a:solidFill>
                  <a:srgbClr val="FFD88A"/>
                </a:solidFill>
                <a:latin typeface="微软雅黑"/>
              </a:rPr>
              <a:t>准确值 + 估读一位</a:t>
            </a:r>
          </a:p>
        </p:txBody>
      </p:sp>
      <p:sp>
        <p:nvSpPr>
          <p:cNvPr id="9" name="TextBox 8"/>
          <p:cNvSpPr txBox="1"/>
          <p:nvPr/>
        </p:nvSpPr>
        <p:spPr>
          <a:xfrm>
            <a:off x="822960" y="4572000"/>
            <a:ext cx="7498079" cy="320040"/>
          </a:xfrm>
          <a:prstGeom prst="rect">
            <a:avLst/>
          </a:prstGeom>
          <a:noFill/>
        </p:spPr>
        <p:txBody>
          <a:bodyPr wrap="square" lIns="0" tIns="0" rIns="0" bIns="0" anchor="t">
            <a:spAutoFit/>
          </a:bodyPr>
          <a:lstStyle/>
          <a:p>
            <a:pPr algn="ctr">
              <a:lnSpc>
                <a:spcPct val="112000"/>
              </a:lnSpc>
              <a:spcAft>
                <a:spcPts val="500"/>
              </a:spcAft>
            </a:pPr>
            <a:r>
              <a:rPr sz="1150" b="0">
                <a:solidFill>
                  <a:srgbClr val="6B6B6B"/>
                </a:solidFill>
                <a:latin typeface="微软雅黑"/>
              </a:rPr>
              <a:t>估读到分度值的下一位；这也解释了为什么记录 5.60 cm 与 5.6 cm 含义不同</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所有工具都要估读吗？</a:t>
            </a:r>
          </a:p>
        </p:txBody>
      </p:sp>
      <p:sp>
        <p:nvSpPr>
          <p:cNvPr id="3" name="TextBox 2"/>
          <p:cNvSpPr txBox="1"/>
          <p:nvPr/>
        </p:nvSpPr>
        <p:spPr>
          <a:xfrm>
            <a:off x="822960" y="1115568"/>
            <a:ext cx="7498079" cy="411480"/>
          </a:xfrm>
          <a:prstGeom prst="rect">
            <a:avLst/>
          </a:prstGeom>
          <a:noFill/>
        </p:spPr>
        <p:txBody>
          <a:bodyPr wrap="square" lIns="0" tIns="0" rIns="0" bIns="0" anchor="t">
            <a:spAutoFit/>
          </a:bodyPr>
          <a:lstStyle/>
          <a:p>
            <a:pPr algn="l">
              <a:lnSpc>
                <a:spcPct val="112000"/>
              </a:lnSpc>
              <a:spcAft>
                <a:spcPts val="500"/>
              </a:spcAft>
            </a:pPr>
            <a:r>
              <a:rPr sz="1600" b="1">
                <a:solidFill>
                  <a:srgbClr val="C00000"/>
                </a:solidFill>
                <a:latin typeface="微软雅黑"/>
              </a:rPr>
              <a:t>不是。</a:t>
            </a:r>
            <a:r>
              <a:rPr sz="1400" b="0">
                <a:solidFill>
                  <a:srgbClr val="2B2B2B"/>
                </a:solidFill>
                <a:latin typeface="微软雅黑"/>
              </a:rPr>
              <a:t>要不要估读，取决于仪器的</a:t>
            </a:r>
            <a:r>
              <a:rPr sz="1400" b="1">
                <a:solidFill>
                  <a:srgbClr val="1E3A5C"/>
                </a:solidFill>
                <a:latin typeface="微软雅黑"/>
              </a:rPr>
              <a:t>原理类型</a:t>
            </a:r>
            <a:r>
              <a:rPr sz="1400" b="0">
                <a:solidFill>
                  <a:srgbClr val="2B2B2B"/>
                </a:solidFill>
                <a:latin typeface="微软雅黑"/>
              </a:rPr>
              <a:t>。</a:t>
            </a:r>
          </a:p>
        </p:txBody>
      </p:sp>
      <p:sp>
        <p:nvSpPr>
          <p:cNvPr id="4" name="Rounded Rectangle 3"/>
          <p:cNvSpPr/>
          <p:nvPr/>
        </p:nvSpPr>
        <p:spPr>
          <a:xfrm>
            <a:off x="822960" y="1691640"/>
            <a:ext cx="361188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22960" y="1783080"/>
            <a:ext cx="82296" cy="1920239"/>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70432" y="1856231"/>
            <a:ext cx="3108960" cy="384048"/>
          </a:xfrm>
          <a:prstGeom prst="rect">
            <a:avLst/>
          </a:prstGeom>
          <a:noFill/>
        </p:spPr>
        <p:txBody>
          <a:bodyPr wrap="square" lIns="0" tIns="0" rIns="0" bIns="0" anchor="t">
            <a:spAutoFit/>
          </a:bodyPr>
          <a:lstStyle/>
          <a:p>
            <a:pPr algn="l">
              <a:lnSpc>
                <a:spcPct val="112000"/>
              </a:lnSpc>
              <a:spcAft>
                <a:spcPts val="500"/>
              </a:spcAft>
            </a:pPr>
            <a:r>
              <a:rPr sz="1500" b="1">
                <a:solidFill>
                  <a:srgbClr val="C00000"/>
                </a:solidFill>
                <a:latin typeface="微软雅黑"/>
              </a:rPr>
              <a:t>需要估读</a:t>
            </a:r>
          </a:p>
        </p:txBody>
      </p:sp>
      <p:sp>
        <p:nvSpPr>
          <p:cNvPr id="7" name="TextBox 6"/>
          <p:cNvSpPr txBox="1"/>
          <p:nvPr/>
        </p:nvSpPr>
        <p:spPr>
          <a:xfrm>
            <a:off x="1170432" y="2249424"/>
            <a:ext cx="3108960" cy="566928"/>
          </a:xfrm>
          <a:prstGeom prst="rect">
            <a:avLst/>
          </a:prstGeom>
          <a:noFill/>
        </p:spPr>
        <p:txBody>
          <a:bodyPr wrap="square" lIns="0" tIns="0" rIns="0" bIns="0" anchor="t">
            <a:spAutoFit/>
          </a:bodyPr>
          <a:lstStyle/>
          <a:p>
            <a:pPr algn="l">
              <a:lnSpc>
                <a:spcPct val="112000"/>
              </a:lnSpc>
              <a:spcAft>
                <a:spcPts val="500"/>
              </a:spcAft>
            </a:pPr>
            <a:r>
              <a:rPr sz="1250" b="1">
                <a:solidFill>
                  <a:srgbClr val="2B2B2B"/>
                </a:solidFill>
                <a:latin typeface="微软雅黑"/>
              </a:rPr>
              <a:t>连续刻度 · 靠目测定位</a:t>
            </a:r>
          </a:p>
          <a:p>
            <a:pPr algn="l">
              <a:lnSpc>
                <a:spcPct val="112000"/>
              </a:lnSpc>
              <a:spcAft>
                <a:spcPts val="500"/>
              </a:spcAft>
            </a:pPr>
            <a:r>
              <a:rPr sz="1150" b="0">
                <a:solidFill>
                  <a:srgbClr val="6B6B6B"/>
                </a:solidFill>
                <a:latin typeface="微软雅黑"/>
              </a:rPr>
              <a:t>末端/指针可以落在两格之间</a:t>
            </a:r>
          </a:p>
        </p:txBody>
      </p:sp>
      <p:sp>
        <p:nvSpPr>
          <p:cNvPr id="8" name="TextBox 7"/>
          <p:cNvSpPr txBox="1"/>
          <p:nvPr/>
        </p:nvSpPr>
        <p:spPr>
          <a:xfrm>
            <a:off x="1170432" y="3017520"/>
            <a:ext cx="3108960" cy="640080"/>
          </a:xfrm>
          <a:prstGeom prst="rect">
            <a:avLst/>
          </a:prstGeom>
          <a:noFill/>
        </p:spPr>
        <p:txBody>
          <a:bodyPr wrap="square" lIns="0" tIns="0" rIns="0" bIns="0" anchor="t">
            <a:spAutoFit/>
          </a:bodyPr>
          <a:lstStyle/>
          <a:p>
            <a:pPr algn="l">
              <a:lnSpc>
                <a:spcPct val="112000"/>
              </a:lnSpc>
              <a:spcAft>
                <a:spcPts val="500"/>
              </a:spcAft>
            </a:pPr>
            <a:r>
              <a:rPr sz="1200" b="0">
                <a:solidFill>
                  <a:srgbClr val="1E3A5C"/>
                </a:solidFill>
                <a:latin typeface="微软雅黑"/>
              </a:rPr>
              <a:t>刻度尺 · 温度计 · 弹簧测力计 · 电流表 · 量筒</a:t>
            </a:r>
          </a:p>
        </p:txBody>
      </p:sp>
      <p:sp>
        <p:nvSpPr>
          <p:cNvPr id="9" name="Rounded Rectangle 8"/>
          <p:cNvSpPr/>
          <p:nvPr/>
        </p:nvSpPr>
        <p:spPr>
          <a:xfrm>
            <a:off x="4709160" y="1691640"/>
            <a:ext cx="3611880" cy="21031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09160" y="1783080"/>
            <a:ext cx="82296" cy="1920239"/>
          </a:xfrm>
          <a:prstGeom prst="roundRect">
            <a:avLst>
              <a:gd name="adj" fmla="val 50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6632" y="1856231"/>
            <a:ext cx="3108960" cy="384048"/>
          </a:xfrm>
          <a:prstGeom prst="rect">
            <a:avLst/>
          </a:prstGeom>
          <a:noFill/>
        </p:spPr>
        <p:txBody>
          <a:bodyPr wrap="square" lIns="0" tIns="0" rIns="0" bIns="0" anchor="t">
            <a:spAutoFit/>
          </a:bodyPr>
          <a:lstStyle/>
          <a:p>
            <a:pPr algn="l">
              <a:lnSpc>
                <a:spcPct val="112000"/>
              </a:lnSpc>
              <a:spcAft>
                <a:spcPts val="500"/>
              </a:spcAft>
            </a:pPr>
            <a:r>
              <a:rPr sz="1500" b="1">
                <a:solidFill>
                  <a:srgbClr val="4A7DB5"/>
                </a:solidFill>
                <a:latin typeface="微软雅黑"/>
              </a:rPr>
              <a:t>不需要估读</a:t>
            </a:r>
          </a:p>
        </p:txBody>
      </p:sp>
      <p:sp>
        <p:nvSpPr>
          <p:cNvPr id="12" name="TextBox 11"/>
          <p:cNvSpPr txBox="1"/>
          <p:nvPr/>
        </p:nvSpPr>
        <p:spPr>
          <a:xfrm>
            <a:off x="5056632" y="2249424"/>
            <a:ext cx="3108960" cy="566928"/>
          </a:xfrm>
          <a:prstGeom prst="rect">
            <a:avLst/>
          </a:prstGeom>
          <a:noFill/>
        </p:spPr>
        <p:txBody>
          <a:bodyPr wrap="square" lIns="0" tIns="0" rIns="0" bIns="0" anchor="t">
            <a:spAutoFit/>
          </a:bodyPr>
          <a:lstStyle/>
          <a:p>
            <a:pPr algn="l">
              <a:lnSpc>
                <a:spcPct val="112000"/>
              </a:lnSpc>
              <a:spcAft>
                <a:spcPts val="500"/>
              </a:spcAft>
            </a:pPr>
            <a:r>
              <a:rPr sz="1250" b="1">
                <a:solidFill>
                  <a:srgbClr val="2B2B2B"/>
                </a:solidFill>
                <a:latin typeface="微软雅黑"/>
              </a:rPr>
              <a:t>对齐式 · 数字式 · 跳动式</a:t>
            </a:r>
          </a:p>
          <a:p>
            <a:pPr algn="l">
              <a:lnSpc>
                <a:spcPct val="112000"/>
              </a:lnSpc>
              <a:spcAft>
                <a:spcPts val="500"/>
              </a:spcAft>
            </a:pPr>
            <a:r>
              <a:rPr sz="1150" b="0">
                <a:solidFill>
                  <a:srgbClr val="6B6B6B"/>
                </a:solidFill>
                <a:latin typeface="微软雅黑"/>
              </a:rPr>
              <a:t>读数由结构『卡』出来，没有中间态</a:t>
            </a:r>
          </a:p>
        </p:txBody>
      </p:sp>
      <p:sp>
        <p:nvSpPr>
          <p:cNvPr id="13" name="TextBox 12"/>
          <p:cNvSpPr txBox="1"/>
          <p:nvPr/>
        </p:nvSpPr>
        <p:spPr>
          <a:xfrm>
            <a:off x="5056632" y="3017520"/>
            <a:ext cx="3108960" cy="640080"/>
          </a:xfrm>
          <a:prstGeom prst="rect">
            <a:avLst/>
          </a:prstGeom>
          <a:noFill/>
        </p:spPr>
        <p:txBody>
          <a:bodyPr wrap="square" lIns="0" tIns="0" rIns="0" bIns="0" anchor="t">
            <a:spAutoFit/>
          </a:bodyPr>
          <a:lstStyle/>
          <a:p>
            <a:pPr algn="l">
              <a:lnSpc>
                <a:spcPct val="112000"/>
              </a:lnSpc>
              <a:spcAft>
                <a:spcPts val="500"/>
              </a:spcAft>
            </a:pPr>
            <a:r>
              <a:rPr sz="1200" b="0">
                <a:solidFill>
                  <a:srgbClr val="1E3A5C"/>
                </a:solidFill>
                <a:latin typeface="微软雅黑"/>
              </a:rPr>
              <a:t>游标卡尺 · 电子表 · 数字仪表 · 机械停表</a:t>
            </a:r>
          </a:p>
        </p:txBody>
      </p:sp>
      <p:sp>
        <p:nvSpPr>
          <p:cNvPr id="14" name="Rounded Rectangle 13"/>
          <p:cNvSpPr/>
          <p:nvPr/>
        </p:nvSpPr>
        <p:spPr>
          <a:xfrm>
            <a:off x="1554480" y="4041648"/>
            <a:ext cx="603504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37360" y="4041648"/>
            <a:ext cx="5669279" cy="548640"/>
          </a:xfrm>
          <a:prstGeom prst="rect">
            <a:avLst/>
          </a:prstGeom>
          <a:noFill/>
        </p:spPr>
        <p:txBody>
          <a:bodyPr wrap="square" lIns="0" tIns="0" rIns="0" bIns="0" anchor="ctr">
            <a:spAutoFit/>
          </a:bodyPr>
          <a:lstStyle/>
          <a:p>
            <a:pPr algn="ctr">
              <a:lnSpc>
                <a:spcPct val="112000"/>
              </a:lnSpc>
              <a:spcAft>
                <a:spcPts val="500"/>
              </a:spcAft>
            </a:pPr>
            <a:r>
              <a:rPr sz="1350" b="0">
                <a:solidFill>
                  <a:srgbClr val="FFFFFF"/>
                </a:solidFill>
                <a:latin typeface="微软雅黑"/>
              </a:rPr>
              <a:t>判断口诀：</a:t>
            </a:r>
            <a:r>
              <a:rPr sz="1450" b="1">
                <a:solidFill>
                  <a:srgbClr val="FFD88A"/>
                </a:solidFill>
                <a:latin typeface="微软雅黑"/>
              </a:rPr>
              <a:t>连续要估，对齐、数字不估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拓展：游标卡尺 —— 不估读</a:t>
            </a:r>
          </a:p>
        </p:txBody>
      </p:sp>
      <p:pic>
        <p:nvPicPr>
          <p:cNvPr id="3" name="Picture 2" descr="caliper_read.png"/>
          <p:cNvPicPr>
            <a:picLocks noChangeAspect="1"/>
          </p:cNvPicPr>
          <p:nvPr/>
        </p:nvPicPr>
        <p:blipFill>
          <a:blip r:embed="rId2"/>
          <a:stretch>
            <a:fillRect/>
          </a:stretch>
        </p:blipFill>
        <p:spPr>
          <a:xfrm>
            <a:off x="685800" y="1005840"/>
            <a:ext cx="5029200" cy="1950098"/>
          </a:xfrm>
          <a:prstGeom prst="rect">
            <a:avLst/>
          </a:prstGeom>
        </p:spPr>
      </p:pic>
      <p:sp>
        <p:nvSpPr>
          <p:cNvPr id="4" name="TextBox 3"/>
          <p:cNvSpPr txBox="1"/>
          <p:nvPr/>
        </p:nvSpPr>
        <p:spPr>
          <a:xfrm>
            <a:off x="5989320" y="1097280"/>
            <a:ext cx="2788920" cy="960120"/>
          </a:xfrm>
          <a:prstGeom prst="rect">
            <a:avLst/>
          </a:prstGeom>
          <a:noFill/>
        </p:spPr>
        <p:txBody>
          <a:bodyPr wrap="square" lIns="0" tIns="0" rIns="0" bIns="0" anchor="t">
            <a:spAutoFit/>
          </a:bodyPr>
          <a:lstStyle/>
          <a:p>
            <a:pPr algn="l">
              <a:lnSpc>
                <a:spcPct val="112000"/>
              </a:lnSpc>
              <a:spcAft>
                <a:spcPts val="500"/>
              </a:spcAft>
            </a:pPr>
            <a:r>
              <a:rPr sz="1300" b="1">
                <a:solidFill>
                  <a:srgbClr val="C00000"/>
                </a:solidFill>
                <a:latin typeface="微软雅黑"/>
              </a:rPr>
              <a:t>原理</a:t>
            </a:r>
          </a:p>
          <a:p>
            <a:pPr algn="l">
              <a:lnSpc>
                <a:spcPct val="112000"/>
              </a:lnSpc>
              <a:spcAft>
                <a:spcPts val="500"/>
              </a:spcAft>
            </a:pPr>
            <a:r>
              <a:rPr sz="1150" b="0">
                <a:solidFill>
                  <a:srgbClr val="2B2B2B"/>
                </a:solidFill>
                <a:latin typeface="微软雅黑"/>
              </a:rPr>
              <a:t>游标把主尺最小格再细分：10 分度时游标 10 格 = 主尺 9 mm，每格差 0.1 mm</a:t>
            </a:r>
          </a:p>
        </p:txBody>
      </p:sp>
      <p:sp>
        <p:nvSpPr>
          <p:cNvPr id="5" name="TextBox 4"/>
          <p:cNvSpPr txBox="1"/>
          <p:nvPr/>
        </p:nvSpPr>
        <p:spPr>
          <a:xfrm>
            <a:off x="5989320" y="2148840"/>
            <a:ext cx="2788920" cy="777240"/>
          </a:xfrm>
          <a:prstGeom prst="rect">
            <a:avLst/>
          </a:prstGeom>
          <a:noFill/>
        </p:spPr>
        <p:txBody>
          <a:bodyPr wrap="square" lIns="0" tIns="0" rIns="0" bIns="0" anchor="t">
            <a:spAutoFit/>
          </a:bodyPr>
          <a:lstStyle/>
          <a:p>
            <a:pPr algn="l">
              <a:lnSpc>
                <a:spcPct val="112000"/>
              </a:lnSpc>
              <a:spcAft>
                <a:spcPts val="500"/>
              </a:spcAft>
            </a:pPr>
            <a:r>
              <a:rPr sz="1200" b="1">
                <a:solidFill>
                  <a:srgbClr val="1E3A5C"/>
                </a:solidFill>
                <a:latin typeface="微软雅黑"/>
              </a:rPr>
              <a:t>读数 = 主尺整毫米 + 对齐格数 × 精度</a:t>
            </a:r>
          </a:p>
          <a:p>
            <a:pPr algn="l">
              <a:lnSpc>
                <a:spcPct val="112000"/>
              </a:lnSpc>
              <a:spcAft>
                <a:spcPts val="500"/>
              </a:spcAft>
            </a:pPr>
            <a:r>
              <a:rPr sz="1250" b="0">
                <a:solidFill>
                  <a:srgbClr val="2B2B2B"/>
                </a:solidFill>
                <a:latin typeface="微软雅黑"/>
              </a:rPr>
              <a:t>21 + 4 × 0.1 = </a:t>
            </a:r>
            <a:r>
              <a:rPr sz="1400" b="1">
                <a:solidFill>
                  <a:srgbClr val="C00000"/>
                </a:solidFill>
                <a:latin typeface="微软雅黑"/>
              </a:rPr>
              <a:t>21.4 mm</a:t>
            </a:r>
          </a:p>
        </p:txBody>
      </p:sp>
      <p:sp>
        <p:nvSpPr>
          <p:cNvPr id="6" name="TextBox 5"/>
          <p:cNvSpPr txBox="1"/>
          <p:nvPr/>
        </p:nvSpPr>
        <p:spPr>
          <a:xfrm>
            <a:off x="5989320" y="3017520"/>
            <a:ext cx="2788920" cy="685800"/>
          </a:xfrm>
          <a:prstGeom prst="rect">
            <a:avLst/>
          </a:prstGeom>
          <a:noFill/>
        </p:spPr>
        <p:txBody>
          <a:bodyPr wrap="square" lIns="0" tIns="0" rIns="0" bIns="0" anchor="t">
            <a:spAutoFit/>
          </a:bodyPr>
          <a:lstStyle/>
          <a:p>
            <a:pPr algn="l">
              <a:lnSpc>
                <a:spcPct val="112000"/>
              </a:lnSpc>
              <a:spcAft>
                <a:spcPts val="500"/>
              </a:spcAft>
            </a:pPr>
            <a:r>
              <a:rPr sz="1050" b="0">
                <a:solidFill>
                  <a:srgbClr val="6B6B6B"/>
                </a:solidFill>
                <a:latin typeface="微软雅黑"/>
              </a:rPr>
              <a:t>10 分度→0.1　20 分度→0.05　50 分度→0.02 (mm)</a:t>
            </a:r>
          </a:p>
        </p:txBody>
      </p:sp>
      <p:sp>
        <p:nvSpPr>
          <p:cNvPr id="7" name="Rounded Rectangle 6"/>
          <p:cNvSpPr/>
          <p:nvPr/>
        </p:nvSpPr>
        <p:spPr>
          <a:xfrm>
            <a:off x="822960" y="3977639"/>
            <a:ext cx="7498079" cy="548640"/>
          </a:xfrm>
          <a:prstGeom prst="roundRect">
            <a:avLst>
              <a:gd name="adj" fmla="val 26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977639"/>
            <a:ext cx="7132319"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游标卡尺</a:t>
            </a:r>
            <a:r>
              <a:rPr sz="1400" b="1">
                <a:solidFill>
                  <a:srgbClr val="FFD88A"/>
                </a:solidFill>
                <a:latin typeface="微软雅黑"/>
              </a:rPr>
              <a:t>不估读</a:t>
            </a:r>
            <a:r>
              <a:rPr sz="1300" b="0">
                <a:solidFill>
                  <a:srgbClr val="FFFFFF"/>
                </a:solidFill>
                <a:latin typeface="微软雅黑"/>
              </a:rPr>
              <a:t> —— 『对齐』的设计本身代替了估读，读到精度位即可</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拓展：螺旋测微器 —— 必估读</a:t>
            </a:r>
          </a:p>
        </p:txBody>
      </p:sp>
      <p:pic>
        <p:nvPicPr>
          <p:cNvPr id="3" name="Picture 2" descr="micrometer_read.png"/>
          <p:cNvPicPr>
            <a:picLocks noChangeAspect="1"/>
          </p:cNvPicPr>
          <p:nvPr/>
        </p:nvPicPr>
        <p:blipFill>
          <a:blip r:embed="rId2"/>
          <a:stretch>
            <a:fillRect/>
          </a:stretch>
        </p:blipFill>
        <p:spPr>
          <a:xfrm>
            <a:off x="640080" y="1005840"/>
            <a:ext cx="5120640" cy="2194560"/>
          </a:xfrm>
          <a:prstGeom prst="rect">
            <a:avLst/>
          </a:prstGeom>
        </p:spPr>
      </p:pic>
      <p:sp>
        <p:nvSpPr>
          <p:cNvPr id="4" name="TextBox 3"/>
          <p:cNvSpPr txBox="1"/>
          <p:nvPr/>
        </p:nvSpPr>
        <p:spPr>
          <a:xfrm>
            <a:off x="5989320" y="1097280"/>
            <a:ext cx="2788920" cy="960120"/>
          </a:xfrm>
          <a:prstGeom prst="rect">
            <a:avLst/>
          </a:prstGeom>
          <a:noFill/>
        </p:spPr>
        <p:txBody>
          <a:bodyPr wrap="square" lIns="0" tIns="0" rIns="0" bIns="0" anchor="t">
            <a:spAutoFit/>
          </a:bodyPr>
          <a:lstStyle/>
          <a:p>
            <a:pPr algn="l">
              <a:lnSpc>
                <a:spcPct val="112000"/>
              </a:lnSpc>
              <a:spcAft>
                <a:spcPts val="500"/>
              </a:spcAft>
            </a:pPr>
            <a:r>
              <a:rPr sz="1300" b="1">
                <a:solidFill>
                  <a:srgbClr val="C00000"/>
                </a:solidFill>
                <a:latin typeface="微软雅黑"/>
              </a:rPr>
              <a:t>原理</a:t>
            </a:r>
          </a:p>
          <a:p>
            <a:pPr algn="l">
              <a:lnSpc>
                <a:spcPct val="112000"/>
              </a:lnSpc>
              <a:spcAft>
                <a:spcPts val="500"/>
              </a:spcAft>
            </a:pPr>
            <a:r>
              <a:rPr sz="1150" b="0">
                <a:solidFill>
                  <a:srgbClr val="2B2B2B"/>
                </a:solidFill>
                <a:latin typeface="微软雅黑"/>
              </a:rPr>
              <a:t>把直线移动放大成旋转：螺距 0.5 mm、可动刻度 50 格，转 1 格前进 0.01 mm</a:t>
            </a:r>
          </a:p>
        </p:txBody>
      </p:sp>
      <p:sp>
        <p:nvSpPr>
          <p:cNvPr id="5" name="TextBox 4"/>
          <p:cNvSpPr txBox="1"/>
          <p:nvPr/>
        </p:nvSpPr>
        <p:spPr>
          <a:xfrm>
            <a:off x="5989320" y="2148840"/>
            <a:ext cx="2788920" cy="868680"/>
          </a:xfrm>
          <a:prstGeom prst="rect">
            <a:avLst/>
          </a:prstGeom>
          <a:noFill/>
        </p:spPr>
        <p:txBody>
          <a:bodyPr wrap="square" lIns="0" tIns="0" rIns="0" bIns="0" anchor="t">
            <a:spAutoFit/>
          </a:bodyPr>
          <a:lstStyle/>
          <a:p>
            <a:pPr algn="l">
              <a:lnSpc>
                <a:spcPct val="112000"/>
              </a:lnSpc>
              <a:spcAft>
                <a:spcPts val="500"/>
              </a:spcAft>
            </a:pPr>
            <a:r>
              <a:rPr sz="1200" b="1">
                <a:solidFill>
                  <a:srgbClr val="1E3A5C"/>
                </a:solidFill>
                <a:latin typeface="微软雅黑"/>
              </a:rPr>
              <a:t>读数 = 固定刻度 + 可动刻度 × 0.01</a:t>
            </a:r>
          </a:p>
          <a:p>
            <a:pPr algn="l">
              <a:lnSpc>
                <a:spcPct val="112000"/>
              </a:lnSpc>
              <a:spcAft>
                <a:spcPts val="500"/>
              </a:spcAft>
            </a:pPr>
            <a:r>
              <a:rPr sz="1250" b="0">
                <a:solidFill>
                  <a:srgbClr val="2B2B2B"/>
                </a:solidFill>
                <a:latin typeface="微软雅黑"/>
              </a:rPr>
              <a:t>5.5 + 20.0 × 0.01 = </a:t>
            </a:r>
            <a:r>
              <a:rPr sz="1400" b="1">
                <a:solidFill>
                  <a:srgbClr val="C00000"/>
                </a:solidFill>
                <a:latin typeface="微软雅黑"/>
              </a:rPr>
              <a:t>5.700 mm</a:t>
            </a:r>
          </a:p>
        </p:txBody>
      </p:sp>
      <p:sp>
        <p:nvSpPr>
          <p:cNvPr id="6" name="TextBox 5"/>
          <p:cNvSpPr txBox="1"/>
          <p:nvPr/>
        </p:nvSpPr>
        <p:spPr>
          <a:xfrm>
            <a:off x="5989320" y="3108960"/>
            <a:ext cx="2788920" cy="548640"/>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末位『0』就是估读出来的</a:t>
            </a:r>
          </a:p>
        </p:txBody>
      </p:sp>
      <p:sp>
        <p:nvSpPr>
          <p:cNvPr id="7" name="Rounded Rectangle 6"/>
          <p:cNvSpPr/>
          <p:nvPr/>
        </p:nvSpPr>
        <p:spPr>
          <a:xfrm>
            <a:off x="822960" y="3977639"/>
            <a:ext cx="7498079"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977639"/>
            <a:ext cx="7132319"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螺旋测微器</a:t>
            </a:r>
            <a:r>
              <a:rPr sz="1400" b="1">
                <a:solidFill>
                  <a:srgbClr val="FFD88A"/>
                </a:solidFill>
                <a:latin typeface="微软雅黑"/>
              </a:rPr>
              <a:t>必须估读</a:t>
            </a:r>
            <a:r>
              <a:rPr sz="1300" b="0">
                <a:solidFill>
                  <a:srgbClr val="FFFFFF"/>
                </a:solidFill>
                <a:latin typeface="微软雅黑"/>
              </a:rPr>
              <a:t> —— 在 0.01 mm 之后再估一位，读到 0.001 mm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三把『尺』：越来越精</a:t>
            </a:r>
          </a:p>
        </p:txBody>
      </p:sp>
      <p:sp>
        <p:nvSpPr>
          <p:cNvPr id="3" name="Rounded Rectangle 2"/>
          <p:cNvSpPr/>
          <p:nvPr/>
        </p:nvSpPr>
        <p:spPr>
          <a:xfrm>
            <a:off x="530352" y="1280160"/>
            <a:ext cx="2487168"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30352" y="1371600"/>
            <a:ext cx="82296" cy="205740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1463039"/>
            <a:ext cx="2075688" cy="411480"/>
          </a:xfrm>
          <a:prstGeom prst="rect">
            <a:avLst/>
          </a:prstGeom>
          <a:noFill/>
        </p:spPr>
        <p:txBody>
          <a:bodyPr wrap="square" lIns="0" tIns="0" rIns="0" bIns="0" anchor="t">
            <a:spAutoFit/>
          </a:bodyPr>
          <a:lstStyle/>
          <a:p>
            <a:pPr algn="l">
              <a:lnSpc>
                <a:spcPct val="112000"/>
              </a:lnSpc>
              <a:spcAft>
                <a:spcPts val="500"/>
              </a:spcAft>
            </a:pPr>
            <a:r>
              <a:rPr sz="1600" b="1">
                <a:solidFill>
                  <a:srgbClr val="C00000"/>
                </a:solidFill>
                <a:latin typeface="微软雅黑"/>
              </a:rPr>
              <a:t>刻度尺</a:t>
            </a:r>
          </a:p>
        </p:txBody>
      </p:sp>
      <p:sp>
        <p:nvSpPr>
          <p:cNvPr id="6" name="TextBox 5"/>
          <p:cNvSpPr txBox="1"/>
          <p:nvPr/>
        </p:nvSpPr>
        <p:spPr>
          <a:xfrm>
            <a:off x="758952" y="1938528"/>
            <a:ext cx="2075688" cy="384048"/>
          </a:xfrm>
          <a:prstGeom prst="rect">
            <a:avLst/>
          </a:prstGeom>
          <a:noFill/>
        </p:spPr>
        <p:txBody>
          <a:bodyPr wrap="square" lIns="0" tIns="0" rIns="0" bIns="0" anchor="t">
            <a:spAutoFit/>
          </a:bodyPr>
          <a:lstStyle/>
          <a:p>
            <a:pPr algn="l">
              <a:lnSpc>
                <a:spcPct val="112000"/>
              </a:lnSpc>
              <a:spcAft>
                <a:spcPts val="500"/>
              </a:spcAft>
            </a:pPr>
            <a:r>
              <a:rPr sz="1200" b="0">
                <a:solidFill>
                  <a:srgbClr val="6B6B6B"/>
                </a:solidFill>
                <a:latin typeface="微软雅黑"/>
              </a:rPr>
              <a:t>精度：</a:t>
            </a:r>
            <a:r>
              <a:rPr sz="1250" b="1">
                <a:solidFill>
                  <a:srgbClr val="2B2B2B"/>
                </a:solidFill>
                <a:latin typeface="微软雅黑"/>
              </a:rPr>
              <a:t>1 mm</a:t>
            </a:r>
          </a:p>
        </p:txBody>
      </p:sp>
      <p:sp>
        <p:nvSpPr>
          <p:cNvPr id="7" name="Rounded Rectangle 6"/>
          <p:cNvSpPr/>
          <p:nvPr/>
        </p:nvSpPr>
        <p:spPr>
          <a:xfrm>
            <a:off x="758952" y="2395728"/>
            <a:ext cx="1051560" cy="329184"/>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 y="2395728"/>
            <a:ext cx="1051560" cy="329184"/>
          </a:xfrm>
          <a:prstGeom prst="rect">
            <a:avLst/>
          </a:prstGeom>
          <a:noFill/>
        </p:spPr>
        <p:txBody>
          <a:bodyPr wrap="square" lIns="0" tIns="0" rIns="0" bIns="0" anchor="ctr">
            <a:spAutoFit/>
          </a:bodyPr>
          <a:lstStyle/>
          <a:p>
            <a:pPr algn="ctr">
              <a:lnSpc>
                <a:spcPct val="112000"/>
              </a:lnSpc>
              <a:spcAft>
                <a:spcPts val="500"/>
              </a:spcAft>
            </a:pPr>
            <a:r>
              <a:rPr sz="1200" b="1">
                <a:solidFill>
                  <a:srgbClr val="FFFFFF"/>
                </a:solidFill>
                <a:latin typeface="微软雅黑"/>
              </a:rPr>
              <a:t>要估读</a:t>
            </a:r>
          </a:p>
        </p:txBody>
      </p:sp>
      <p:sp>
        <p:nvSpPr>
          <p:cNvPr id="9" name="TextBox 8"/>
          <p:cNvSpPr txBox="1"/>
          <p:nvPr/>
        </p:nvSpPr>
        <p:spPr>
          <a:xfrm>
            <a:off x="758952" y="2852928"/>
            <a:ext cx="2075688" cy="548640"/>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读到分度值下一位</a:t>
            </a:r>
          </a:p>
        </p:txBody>
      </p:sp>
      <p:sp>
        <p:nvSpPr>
          <p:cNvPr id="10" name="Rounded Rectangle 9"/>
          <p:cNvSpPr/>
          <p:nvPr/>
        </p:nvSpPr>
        <p:spPr>
          <a:xfrm>
            <a:off x="3328416" y="1280160"/>
            <a:ext cx="2487168"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328416" y="1371600"/>
            <a:ext cx="82296" cy="2057400"/>
          </a:xfrm>
          <a:prstGeom prst="roundRect">
            <a:avLst>
              <a:gd name="adj" fmla="val 50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57016" y="1463039"/>
            <a:ext cx="2075688" cy="411480"/>
          </a:xfrm>
          <a:prstGeom prst="rect">
            <a:avLst/>
          </a:prstGeom>
          <a:noFill/>
        </p:spPr>
        <p:txBody>
          <a:bodyPr wrap="square" lIns="0" tIns="0" rIns="0" bIns="0" anchor="t">
            <a:spAutoFit/>
          </a:bodyPr>
          <a:lstStyle/>
          <a:p>
            <a:pPr algn="l">
              <a:lnSpc>
                <a:spcPct val="112000"/>
              </a:lnSpc>
              <a:spcAft>
                <a:spcPts val="500"/>
              </a:spcAft>
            </a:pPr>
            <a:r>
              <a:rPr sz="1600" b="1">
                <a:solidFill>
                  <a:srgbClr val="4A7DB5"/>
                </a:solidFill>
                <a:latin typeface="微软雅黑"/>
              </a:rPr>
              <a:t>游标卡尺</a:t>
            </a:r>
          </a:p>
        </p:txBody>
      </p:sp>
      <p:sp>
        <p:nvSpPr>
          <p:cNvPr id="13" name="TextBox 12"/>
          <p:cNvSpPr txBox="1"/>
          <p:nvPr/>
        </p:nvSpPr>
        <p:spPr>
          <a:xfrm>
            <a:off x="3557016" y="1938528"/>
            <a:ext cx="2075688" cy="384048"/>
          </a:xfrm>
          <a:prstGeom prst="rect">
            <a:avLst/>
          </a:prstGeom>
          <a:noFill/>
        </p:spPr>
        <p:txBody>
          <a:bodyPr wrap="square" lIns="0" tIns="0" rIns="0" bIns="0" anchor="t">
            <a:spAutoFit/>
          </a:bodyPr>
          <a:lstStyle/>
          <a:p>
            <a:pPr algn="l">
              <a:lnSpc>
                <a:spcPct val="112000"/>
              </a:lnSpc>
              <a:spcAft>
                <a:spcPts val="500"/>
              </a:spcAft>
            </a:pPr>
            <a:r>
              <a:rPr sz="1200" b="0">
                <a:solidFill>
                  <a:srgbClr val="6B6B6B"/>
                </a:solidFill>
                <a:latin typeface="微软雅黑"/>
              </a:rPr>
              <a:t>精度：</a:t>
            </a:r>
            <a:r>
              <a:rPr sz="1250" b="1">
                <a:solidFill>
                  <a:srgbClr val="2B2B2B"/>
                </a:solidFill>
                <a:latin typeface="微软雅黑"/>
              </a:rPr>
              <a:t>0.1 / 0.05 / 0.02 mm</a:t>
            </a:r>
          </a:p>
        </p:txBody>
      </p:sp>
      <p:sp>
        <p:nvSpPr>
          <p:cNvPr id="14" name="Rounded Rectangle 13"/>
          <p:cNvSpPr/>
          <p:nvPr/>
        </p:nvSpPr>
        <p:spPr>
          <a:xfrm>
            <a:off x="3557016" y="2395728"/>
            <a:ext cx="1051560" cy="329184"/>
          </a:xfrm>
          <a:prstGeom prst="roundRect">
            <a:avLst>
              <a:gd name="adj" fmla="val 50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57016" y="2395728"/>
            <a:ext cx="1051560" cy="329184"/>
          </a:xfrm>
          <a:prstGeom prst="rect">
            <a:avLst/>
          </a:prstGeom>
          <a:noFill/>
        </p:spPr>
        <p:txBody>
          <a:bodyPr wrap="square" lIns="0" tIns="0" rIns="0" bIns="0" anchor="ctr">
            <a:spAutoFit/>
          </a:bodyPr>
          <a:lstStyle/>
          <a:p>
            <a:pPr algn="ctr">
              <a:lnSpc>
                <a:spcPct val="112000"/>
              </a:lnSpc>
              <a:spcAft>
                <a:spcPts val="500"/>
              </a:spcAft>
            </a:pPr>
            <a:r>
              <a:rPr sz="1200" b="1">
                <a:solidFill>
                  <a:srgbClr val="FFFFFF"/>
                </a:solidFill>
                <a:latin typeface="微软雅黑"/>
              </a:rPr>
              <a:t>不估读</a:t>
            </a:r>
          </a:p>
        </p:txBody>
      </p:sp>
      <p:sp>
        <p:nvSpPr>
          <p:cNvPr id="16" name="TextBox 15"/>
          <p:cNvSpPr txBox="1"/>
          <p:nvPr/>
        </p:nvSpPr>
        <p:spPr>
          <a:xfrm>
            <a:off x="3557016" y="2852928"/>
            <a:ext cx="2075688" cy="548640"/>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对齐设计代替估读</a:t>
            </a:r>
          </a:p>
        </p:txBody>
      </p:sp>
      <p:sp>
        <p:nvSpPr>
          <p:cNvPr id="17" name="Rounded Rectangle 16"/>
          <p:cNvSpPr/>
          <p:nvPr/>
        </p:nvSpPr>
        <p:spPr>
          <a:xfrm>
            <a:off x="6126480" y="1280160"/>
            <a:ext cx="2487168"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26480" y="1371600"/>
            <a:ext cx="82296" cy="2057400"/>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1463039"/>
            <a:ext cx="2075688" cy="411480"/>
          </a:xfrm>
          <a:prstGeom prst="rect">
            <a:avLst/>
          </a:prstGeom>
          <a:noFill/>
        </p:spPr>
        <p:txBody>
          <a:bodyPr wrap="square" lIns="0" tIns="0" rIns="0" bIns="0" anchor="t">
            <a:spAutoFit/>
          </a:bodyPr>
          <a:lstStyle/>
          <a:p>
            <a:pPr algn="l">
              <a:lnSpc>
                <a:spcPct val="112000"/>
              </a:lnSpc>
              <a:spcAft>
                <a:spcPts val="500"/>
              </a:spcAft>
            </a:pPr>
            <a:r>
              <a:rPr sz="1600" b="1">
                <a:solidFill>
                  <a:srgbClr val="E8922A"/>
                </a:solidFill>
                <a:latin typeface="微软雅黑"/>
              </a:rPr>
              <a:t>螺旋测微器</a:t>
            </a:r>
          </a:p>
        </p:txBody>
      </p:sp>
      <p:sp>
        <p:nvSpPr>
          <p:cNvPr id="20" name="TextBox 19"/>
          <p:cNvSpPr txBox="1"/>
          <p:nvPr/>
        </p:nvSpPr>
        <p:spPr>
          <a:xfrm>
            <a:off x="6355080" y="1938528"/>
            <a:ext cx="2075688" cy="384048"/>
          </a:xfrm>
          <a:prstGeom prst="rect">
            <a:avLst/>
          </a:prstGeom>
          <a:noFill/>
        </p:spPr>
        <p:txBody>
          <a:bodyPr wrap="square" lIns="0" tIns="0" rIns="0" bIns="0" anchor="t">
            <a:spAutoFit/>
          </a:bodyPr>
          <a:lstStyle/>
          <a:p>
            <a:pPr algn="l">
              <a:lnSpc>
                <a:spcPct val="112000"/>
              </a:lnSpc>
              <a:spcAft>
                <a:spcPts val="500"/>
              </a:spcAft>
            </a:pPr>
            <a:r>
              <a:rPr sz="1200" b="0">
                <a:solidFill>
                  <a:srgbClr val="6B6B6B"/>
                </a:solidFill>
                <a:latin typeface="微软雅黑"/>
              </a:rPr>
              <a:t>精度：</a:t>
            </a:r>
            <a:r>
              <a:rPr sz="1250" b="1">
                <a:solidFill>
                  <a:srgbClr val="2B2B2B"/>
                </a:solidFill>
                <a:latin typeface="微软雅黑"/>
              </a:rPr>
              <a:t>0.01 mm</a:t>
            </a:r>
          </a:p>
        </p:txBody>
      </p:sp>
      <p:sp>
        <p:nvSpPr>
          <p:cNvPr id="21" name="Rounded Rectangle 20"/>
          <p:cNvSpPr/>
          <p:nvPr/>
        </p:nvSpPr>
        <p:spPr>
          <a:xfrm>
            <a:off x="6355080" y="2395728"/>
            <a:ext cx="1051560" cy="329184"/>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2395728"/>
            <a:ext cx="1051560" cy="329184"/>
          </a:xfrm>
          <a:prstGeom prst="rect">
            <a:avLst/>
          </a:prstGeom>
          <a:noFill/>
        </p:spPr>
        <p:txBody>
          <a:bodyPr wrap="square" lIns="0" tIns="0" rIns="0" bIns="0" anchor="ctr">
            <a:spAutoFit/>
          </a:bodyPr>
          <a:lstStyle/>
          <a:p>
            <a:pPr algn="ctr">
              <a:lnSpc>
                <a:spcPct val="112000"/>
              </a:lnSpc>
              <a:spcAft>
                <a:spcPts val="500"/>
              </a:spcAft>
            </a:pPr>
            <a:r>
              <a:rPr sz="1200" b="1">
                <a:solidFill>
                  <a:srgbClr val="FFFFFF"/>
                </a:solidFill>
                <a:latin typeface="微软雅黑"/>
              </a:rPr>
              <a:t>必估读</a:t>
            </a:r>
          </a:p>
        </p:txBody>
      </p:sp>
      <p:sp>
        <p:nvSpPr>
          <p:cNvPr id="23" name="TextBox 22"/>
          <p:cNvSpPr txBox="1"/>
          <p:nvPr/>
        </p:nvSpPr>
        <p:spPr>
          <a:xfrm>
            <a:off x="6355080" y="2852928"/>
            <a:ext cx="2075688" cy="548640"/>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精度位后再估一位</a:t>
            </a:r>
          </a:p>
        </p:txBody>
      </p:sp>
      <p:sp>
        <p:nvSpPr>
          <p:cNvPr id="24" name="Rounded Rectangle 23"/>
          <p:cNvSpPr/>
          <p:nvPr/>
        </p:nvSpPr>
        <p:spPr>
          <a:xfrm>
            <a:off x="1463040" y="3931920"/>
            <a:ext cx="621792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5920" y="3931920"/>
            <a:ext cx="5852159" cy="548640"/>
          </a:xfrm>
          <a:prstGeom prst="rect">
            <a:avLst/>
          </a:prstGeom>
          <a:noFill/>
        </p:spPr>
        <p:txBody>
          <a:bodyPr wrap="square" lIns="0" tIns="0" rIns="0" bIns="0" anchor="ctr">
            <a:spAutoFit/>
          </a:bodyPr>
          <a:lstStyle/>
          <a:p>
            <a:pPr algn="ctr">
              <a:lnSpc>
                <a:spcPct val="112000"/>
              </a:lnSpc>
              <a:spcAft>
                <a:spcPts val="500"/>
              </a:spcAft>
            </a:pPr>
            <a:r>
              <a:rPr sz="1350" b="0">
                <a:solidFill>
                  <a:srgbClr val="FFFFFF"/>
                </a:solidFill>
                <a:latin typeface="微软雅黑"/>
              </a:rPr>
              <a:t>对比记忆：</a:t>
            </a:r>
            <a:r>
              <a:rPr sz="1500" b="1">
                <a:solidFill>
                  <a:srgbClr val="FFD88A"/>
                </a:solidFill>
                <a:latin typeface="微软雅黑"/>
              </a:rPr>
              <a:t>卡尺不估，千分尺必估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时间的测量：单位与工具</a:t>
            </a:r>
          </a:p>
        </p:txBody>
      </p:sp>
      <p:sp>
        <p:nvSpPr>
          <p:cNvPr id="3" name="TextBox 2"/>
          <p:cNvSpPr txBox="1"/>
          <p:nvPr/>
        </p:nvSpPr>
        <p:spPr>
          <a:xfrm>
            <a:off x="822960" y="1115568"/>
            <a:ext cx="7498079" cy="384048"/>
          </a:xfrm>
          <a:prstGeom prst="rect">
            <a:avLst/>
          </a:prstGeom>
          <a:noFill/>
        </p:spPr>
        <p:txBody>
          <a:bodyPr wrap="square" lIns="0" tIns="0" rIns="0" bIns="0" anchor="t">
            <a:spAutoFit/>
          </a:bodyPr>
          <a:lstStyle/>
          <a:p>
            <a:pPr algn="l">
              <a:lnSpc>
                <a:spcPct val="112000"/>
              </a:lnSpc>
              <a:spcAft>
                <a:spcPts val="500"/>
              </a:spcAft>
            </a:pPr>
            <a:r>
              <a:rPr sz="1400" b="0">
                <a:solidFill>
                  <a:srgbClr val="2B2B2B"/>
                </a:solidFill>
                <a:latin typeface="微软雅黑"/>
              </a:rPr>
              <a:t>SI 基本单位：</a:t>
            </a:r>
            <a:r>
              <a:rPr sz="1600" b="1">
                <a:solidFill>
                  <a:srgbClr val="C00000"/>
                </a:solidFill>
                <a:latin typeface="微软雅黑"/>
              </a:rPr>
              <a:t>秒（s）</a:t>
            </a:r>
            <a:r>
              <a:rPr sz="1300" b="0">
                <a:solidFill>
                  <a:srgbClr val="6B6B6B"/>
                </a:solidFill>
                <a:latin typeface="微软雅黑"/>
              </a:rPr>
              <a:t>　常用：h · min · s</a:t>
            </a:r>
          </a:p>
        </p:txBody>
      </p:sp>
      <p:sp>
        <p:nvSpPr>
          <p:cNvPr id="4" name="Rounded Rectangle 3"/>
          <p:cNvSpPr/>
          <p:nvPr/>
        </p:nvSpPr>
        <p:spPr>
          <a:xfrm>
            <a:off x="2834640" y="1600200"/>
            <a:ext cx="868680" cy="50292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834640" y="1600200"/>
            <a:ext cx="868680" cy="502920"/>
          </a:xfrm>
          <a:prstGeom prst="rect">
            <a:avLst/>
          </a:prstGeom>
          <a:noFill/>
        </p:spPr>
        <p:txBody>
          <a:bodyPr wrap="square" lIns="0" tIns="0" rIns="0" bIns="0" anchor="ctr">
            <a:spAutoFit/>
          </a:bodyPr>
          <a:lstStyle/>
          <a:p>
            <a:pPr algn="ctr">
              <a:lnSpc>
                <a:spcPct val="112000"/>
              </a:lnSpc>
              <a:spcAft>
                <a:spcPts val="500"/>
              </a:spcAft>
            </a:pPr>
            <a:r>
              <a:rPr sz="1400" b="1">
                <a:solidFill>
                  <a:srgbClr val="C00000"/>
                </a:solidFill>
                <a:latin typeface="微软雅黑"/>
              </a:rPr>
              <a:t>h</a:t>
            </a:r>
          </a:p>
        </p:txBody>
      </p:sp>
      <p:sp>
        <p:nvSpPr>
          <p:cNvPr id="6" name="TextBox 5"/>
          <p:cNvSpPr txBox="1"/>
          <p:nvPr/>
        </p:nvSpPr>
        <p:spPr>
          <a:xfrm>
            <a:off x="3730752" y="1581912"/>
            <a:ext cx="402336" cy="256032"/>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×60</a:t>
            </a:r>
          </a:p>
        </p:txBody>
      </p:sp>
      <p:sp>
        <p:nvSpPr>
          <p:cNvPr id="7" name="Right Arrow 6"/>
          <p:cNvSpPr/>
          <p:nvPr/>
        </p:nvSpPr>
        <p:spPr>
          <a:xfrm>
            <a:off x="3767328" y="1856232"/>
            <a:ext cx="329184" cy="164592"/>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160520" y="1600200"/>
            <a:ext cx="868680" cy="50292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60520" y="1600200"/>
            <a:ext cx="868680" cy="502920"/>
          </a:xfrm>
          <a:prstGeom prst="rect">
            <a:avLst/>
          </a:prstGeom>
          <a:noFill/>
        </p:spPr>
        <p:txBody>
          <a:bodyPr wrap="square" lIns="0" tIns="0" rIns="0" bIns="0" anchor="ctr">
            <a:spAutoFit/>
          </a:bodyPr>
          <a:lstStyle/>
          <a:p>
            <a:pPr algn="ctr">
              <a:lnSpc>
                <a:spcPct val="112000"/>
              </a:lnSpc>
              <a:spcAft>
                <a:spcPts val="500"/>
              </a:spcAft>
            </a:pPr>
            <a:r>
              <a:rPr sz="1400" b="1">
                <a:solidFill>
                  <a:srgbClr val="C00000"/>
                </a:solidFill>
                <a:latin typeface="微软雅黑"/>
              </a:rPr>
              <a:t>min</a:t>
            </a:r>
          </a:p>
        </p:txBody>
      </p:sp>
      <p:sp>
        <p:nvSpPr>
          <p:cNvPr id="10" name="TextBox 9"/>
          <p:cNvSpPr txBox="1"/>
          <p:nvPr/>
        </p:nvSpPr>
        <p:spPr>
          <a:xfrm>
            <a:off x="5056631" y="1581912"/>
            <a:ext cx="402336" cy="256032"/>
          </a:xfrm>
          <a:prstGeom prst="rect">
            <a:avLst/>
          </a:prstGeom>
          <a:noFill/>
        </p:spPr>
        <p:txBody>
          <a:bodyPr wrap="square" lIns="0" tIns="0" rIns="0" bIns="0" anchor="t">
            <a:spAutoFit/>
          </a:bodyPr>
          <a:lstStyle/>
          <a:p>
            <a:pPr algn="ctr">
              <a:lnSpc>
                <a:spcPct val="112000"/>
              </a:lnSpc>
              <a:spcAft>
                <a:spcPts val="500"/>
              </a:spcAft>
            </a:pPr>
            <a:r>
              <a:rPr sz="1000" b="0">
                <a:solidFill>
                  <a:srgbClr val="6B6B6B"/>
                </a:solidFill>
                <a:latin typeface="微软雅黑"/>
              </a:rPr>
              <a:t>×60</a:t>
            </a:r>
          </a:p>
        </p:txBody>
      </p:sp>
      <p:sp>
        <p:nvSpPr>
          <p:cNvPr id="11" name="Right Arrow 10"/>
          <p:cNvSpPr/>
          <p:nvPr/>
        </p:nvSpPr>
        <p:spPr>
          <a:xfrm>
            <a:off x="5093208" y="1856232"/>
            <a:ext cx="329184" cy="164592"/>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486400" y="1600200"/>
            <a:ext cx="868680" cy="502920"/>
          </a:xfrm>
          <a:prstGeom prst="roundRect">
            <a:avLst>
              <a:gd name="adj" fmla="val 1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0" y="1600200"/>
            <a:ext cx="868680" cy="50292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s</a:t>
            </a:r>
          </a:p>
        </p:txBody>
      </p:sp>
      <p:sp>
        <p:nvSpPr>
          <p:cNvPr id="14" name="Rounded Rectangle 13"/>
          <p:cNvSpPr/>
          <p:nvPr/>
        </p:nvSpPr>
        <p:spPr>
          <a:xfrm>
            <a:off x="521208" y="2487168"/>
            <a:ext cx="1517904"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1208" y="2615184"/>
            <a:ext cx="1517904" cy="365760"/>
          </a:xfrm>
          <a:prstGeom prst="rect">
            <a:avLst/>
          </a:prstGeom>
          <a:noFill/>
        </p:spPr>
        <p:txBody>
          <a:bodyPr wrap="square" lIns="0" tIns="0" rIns="0" bIns="0" anchor="t">
            <a:spAutoFit/>
          </a:bodyPr>
          <a:lstStyle/>
          <a:p>
            <a:pPr algn="ctr">
              <a:lnSpc>
                <a:spcPct val="112000"/>
              </a:lnSpc>
              <a:spcAft>
                <a:spcPts val="500"/>
              </a:spcAft>
            </a:pPr>
            <a:r>
              <a:rPr sz="1350" b="1">
                <a:solidFill>
                  <a:srgbClr val="C00000"/>
                </a:solidFill>
                <a:latin typeface="微软雅黑"/>
              </a:rPr>
              <a:t>日晷</a:t>
            </a:r>
          </a:p>
        </p:txBody>
      </p:sp>
      <p:sp>
        <p:nvSpPr>
          <p:cNvPr id="16" name="TextBox 15"/>
          <p:cNvSpPr txBox="1"/>
          <p:nvPr/>
        </p:nvSpPr>
        <p:spPr>
          <a:xfrm>
            <a:off x="521208" y="2990088"/>
            <a:ext cx="1517904" cy="347472"/>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看太阳影子</a:t>
            </a:r>
          </a:p>
        </p:txBody>
      </p:sp>
      <p:sp>
        <p:nvSpPr>
          <p:cNvPr id="17" name="Right Arrow 16"/>
          <p:cNvSpPr/>
          <p:nvPr/>
        </p:nvSpPr>
        <p:spPr>
          <a:xfrm>
            <a:off x="2020824" y="2871216"/>
            <a:ext cx="164592" cy="146304"/>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167128" y="2487168"/>
            <a:ext cx="1517904"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67128" y="2615184"/>
            <a:ext cx="1517904" cy="365760"/>
          </a:xfrm>
          <a:prstGeom prst="rect">
            <a:avLst/>
          </a:prstGeom>
          <a:noFill/>
        </p:spPr>
        <p:txBody>
          <a:bodyPr wrap="square" lIns="0" tIns="0" rIns="0" bIns="0" anchor="t">
            <a:spAutoFit/>
          </a:bodyPr>
          <a:lstStyle/>
          <a:p>
            <a:pPr algn="ctr">
              <a:lnSpc>
                <a:spcPct val="112000"/>
              </a:lnSpc>
              <a:spcAft>
                <a:spcPts val="500"/>
              </a:spcAft>
            </a:pPr>
            <a:r>
              <a:rPr sz="1350" b="1">
                <a:solidFill>
                  <a:srgbClr val="C00000"/>
                </a:solidFill>
                <a:latin typeface="微软雅黑"/>
              </a:rPr>
              <a:t>沙漏</a:t>
            </a:r>
          </a:p>
        </p:txBody>
      </p:sp>
      <p:sp>
        <p:nvSpPr>
          <p:cNvPr id="20" name="TextBox 19"/>
          <p:cNvSpPr txBox="1"/>
          <p:nvPr/>
        </p:nvSpPr>
        <p:spPr>
          <a:xfrm>
            <a:off x="2167128" y="2990088"/>
            <a:ext cx="1517904" cy="347472"/>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固定时段</a:t>
            </a:r>
          </a:p>
        </p:txBody>
      </p:sp>
      <p:sp>
        <p:nvSpPr>
          <p:cNvPr id="21" name="Right Arrow 20"/>
          <p:cNvSpPr/>
          <p:nvPr/>
        </p:nvSpPr>
        <p:spPr>
          <a:xfrm>
            <a:off x="3666744" y="2871216"/>
            <a:ext cx="164592" cy="146304"/>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813048" y="2487168"/>
            <a:ext cx="1517904"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13048" y="2615184"/>
            <a:ext cx="1517904" cy="365760"/>
          </a:xfrm>
          <a:prstGeom prst="rect">
            <a:avLst/>
          </a:prstGeom>
          <a:noFill/>
        </p:spPr>
        <p:txBody>
          <a:bodyPr wrap="square" lIns="0" tIns="0" rIns="0" bIns="0" anchor="t">
            <a:spAutoFit/>
          </a:bodyPr>
          <a:lstStyle/>
          <a:p>
            <a:pPr algn="ctr">
              <a:lnSpc>
                <a:spcPct val="112000"/>
              </a:lnSpc>
              <a:spcAft>
                <a:spcPts val="500"/>
              </a:spcAft>
            </a:pPr>
            <a:r>
              <a:rPr sz="1350" b="1">
                <a:solidFill>
                  <a:srgbClr val="C00000"/>
                </a:solidFill>
                <a:latin typeface="微软雅黑"/>
              </a:rPr>
              <a:t>摆钟</a:t>
            </a:r>
          </a:p>
        </p:txBody>
      </p:sp>
      <p:sp>
        <p:nvSpPr>
          <p:cNvPr id="24" name="TextBox 23"/>
          <p:cNvSpPr txBox="1"/>
          <p:nvPr/>
        </p:nvSpPr>
        <p:spPr>
          <a:xfrm>
            <a:off x="3813048" y="2990088"/>
            <a:ext cx="1517904" cy="347472"/>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摆的等时性</a:t>
            </a:r>
          </a:p>
        </p:txBody>
      </p:sp>
      <p:sp>
        <p:nvSpPr>
          <p:cNvPr id="25" name="Right Arrow 24"/>
          <p:cNvSpPr/>
          <p:nvPr/>
        </p:nvSpPr>
        <p:spPr>
          <a:xfrm>
            <a:off x="5312664" y="2871216"/>
            <a:ext cx="164592" cy="146304"/>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458968" y="2487168"/>
            <a:ext cx="1517904"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58968" y="2615184"/>
            <a:ext cx="1517904" cy="365760"/>
          </a:xfrm>
          <a:prstGeom prst="rect">
            <a:avLst/>
          </a:prstGeom>
          <a:noFill/>
        </p:spPr>
        <p:txBody>
          <a:bodyPr wrap="square" lIns="0" tIns="0" rIns="0" bIns="0" anchor="t">
            <a:spAutoFit/>
          </a:bodyPr>
          <a:lstStyle/>
          <a:p>
            <a:pPr algn="ctr">
              <a:lnSpc>
                <a:spcPct val="112000"/>
              </a:lnSpc>
              <a:spcAft>
                <a:spcPts val="500"/>
              </a:spcAft>
            </a:pPr>
            <a:r>
              <a:rPr sz="1350" b="1">
                <a:solidFill>
                  <a:srgbClr val="C00000"/>
                </a:solidFill>
                <a:latin typeface="微软雅黑"/>
              </a:rPr>
              <a:t>停表</a:t>
            </a:r>
          </a:p>
        </p:txBody>
      </p:sp>
      <p:sp>
        <p:nvSpPr>
          <p:cNvPr id="28" name="TextBox 27"/>
          <p:cNvSpPr txBox="1"/>
          <p:nvPr/>
        </p:nvSpPr>
        <p:spPr>
          <a:xfrm>
            <a:off x="5458968" y="2990088"/>
            <a:ext cx="1517904" cy="347472"/>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实验室常用</a:t>
            </a:r>
          </a:p>
        </p:txBody>
      </p:sp>
      <p:sp>
        <p:nvSpPr>
          <p:cNvPr id="29" name="Right Arrow 28"/>
          <p:cNvSpPr/>
          <p:nvPr/>
        </p:nvSpPr>
        <p:spPr>
          <a:xfrm>
            <a:off x="6958584" y="2871216"/>
            <a:ext cx="164592" cy="146304"/>
          </a:xfrm>
          <a:prstGeom prst="rightArrow">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104888" y="2487168"/>
            <a:ext cx="1517904" cy="91440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104888" y="2615184"/>
            <a:ext cx="1517904" cy="365760"/>
          </a:xfrm>
          <a:prstGeom prst="rect">
            <a:avLst/>
          </a:prstGeom>
          <a:noFill/>
        </p:spPr>
        <p:txBody>
          <a:bodyPr wrap="square" lIns="0" tIns="0" rIns="0" bIns="0" anchor="t">
            <a:spAutoFit/>
          </a:bodyPr>
          <a:lstStyle/>
          <a:p>
            <a:pPr algn="ctr">
              <a:lnSpc>
                <a:spcPct val="112000"/>
              </a:lnSpc>
              <a:spcAft>
                <a:spcPts val="500"/>
              </a:spcAft>
            </a:pPr>
            <a:r>
              <a:rPr sz="1350" b="1">
                <a:solidFill>
                  <a:srgbClr val="C00000"/>
                </a:solidFill>
                <a:latin typeface="微软雅黑"/>
              </a:rPr>
              <a:t>原子钟</a:t>
            </a:r>
          </a:p>
        </p:txBody>
      </p:sp>
      <p:sp>
        <p:nvSpPr>
          <p:cNvPr id="32" name="TextBox 31"/>
          <p:cNvSpPr txBox="1"/>
          <p:nvPr/>
        </p:nvSpPr>
        <p:spPr>
          <a:xfrm>
            <a:off x="7104888" y="2990088"/>
            <a:ext cx="1517904" cy="347472"/>
          </a:xfrm>
          <a:prstGeom prst="rect">
            <a:avLst/>
          </a:prstGeom>
          <a:noFill/>
        </p:spPr>
        <p:txBody>
          <a:bodyPr wrap="square" lIns="0" tIns="0" rIns="0" bIns="0" anchor="t">
            <a:spAutoFit/>
          </a:bodyPr>
          <a:lstStyle/>
          <a:p>
            <a:pPr algn="ctr">
              <a:lnSpc>
                <a:spcPct val="112000"/>
              </a:lnSpc>
              <a:spcAft>
                <a:spcPts val="500"/>
              </a:spcAft>
            </a:pPr>
            <a:r>
              <a:rPr sz="1050" b="0">
                <a:solidFill>
                  <a:srgbClr val="6B6B6B"/>
                </a:solidFill>
                <a:latin typeface="微软雅黑"/>
              </a:rPr>
              <a:t>定义『秒』</a:t>
            </a:r>
          </a:p>
        </p:txBody>
      </p:sp>
      <p:sp>
        <p:nvSpPr>
          <p:cNvPr id="33" name="Rounded Rectangle 32"/>
          <p:cNvSpPr/>
          <p:nvPr/>
        </p:nvSpPr>
        <p:spPr>
          <a:xfrm>
            <a:off x="1371600" y="3931920"/>
            <a:ext cx="640080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554480" y="3931920"/>
            <a:ext cx="6035040"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测量工具在进化，但『比较』的本质从未改变</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停表怎么读？</a:t>
            </a:r>
          </a:p>
        </p:txBody>
      </p:sp>
      <p:pic>
        <p:nvPicPr>
          <p:cNvPr id="3" name="Picture 2" descr="stopwatch.png"/>
          <p:cNvPicPr>
            <a:picLocks noChangeAspect="1"/>
          </p:cNvPicPr>
          <p:nvPr/>
        </p:nvPicPr>
        <p:blipFill>
          <a:blip r:embed="rId2"/>
          <a:stretch>
            <a:fillRect/>
          </a:stretch>
        </p:blipFill>
        <p:spPr>
          <a:xfrm>
            <a:off x="960120" y="1005840"/>
            <a:ext cx="3088640" cy="3291840"/>
          </a:xfrm>
          <a:prstGeom prst="rect">
            <a:avLst/>
          </a:prstGeom>
        </p:spPr>
      </p:pic>
      <p:sp>
        <p:nvSpPr>
          <p:cNvPr id="4" name="TextBox 3"/>
          <p:cNvSpPr txBox="1"/>
          <p:nvPr/>
        </p:nvSpPr>
        <p:spPr>
          <a:xfrm>
            <a:off x="4663440" y="1188720"/>
            <a:ext cx="3657600" cy="731520"/>
          </a:xfrm>
          <a:prstGeom prst="rect">
            <a:avLst/>
          </a:prstGeom>
          <a:noFill/>
        </p:spPr>
        <p:txBody>
          <a:bodyPr wrap="square" lIns="0" tIns="0" rIns="0" bIns="0" anchor="t">
            <a:spAutoFit/>
          </a:bodyPr>
          <a:lstStyle/>
          <a:p>
            <a:pPr algn="l">
              <a:lnSpc>
                <a:spcPct val="112000"/>
              </a:lnSpc>
              <a:spcAft>
                <a:spcPts val="500"/>
              </a:spcAft>
            </a:pPr>
            <a:r>
              <a:rPr sz="1350" b="1">
                <a:solidFill>
                  <a:srgbClr val="2B2B2B"/>
                </a:solidFill>
                <a:latin typeface="微软雅黑"/>
              </a:rPr>
              <a:t>两个表盘，分工明确：</a:t>
            </a:r>
          </a:p>
          <a:p>
            <a:pPr algn="l">
              <a:lnSpc>
                <a:spcPct val="112000"/>
              </a:lnSpc>
              <a:spcAft>
                <a:spcPts val="500"/>
              </a:spcAft>
            </a:pPr>
            <a:r>
              <a:rPr sz="1300" b="1">
                <a:solidFill>
                  <a:srgbClr val="1E3A5C"/>
                </a:solidFill>
                <a:latin typeface="微软雅黑"/>
              </a:rPr>
              <a:t>小盘 → 分钟　·　大盘 → 秒</a:t>
            </a:r>
          </a:p>
        </p:txBody>
      </p:sp>
      <p:sp>
        <p:nvSpPr>
          <p:cNvPr id="5" name="TextBox 4"/>
          <p:cNvSpPr txBox="1"/>
          <p:nvPr/>
        </p:nvSpPr>
        <p:spPr>
          <a:xfrm>
            <a:off x="4663440" y="2057400"/>
            <a:ext cx="3657600" cy="914400"/>
          </a:xfrm>
          <a:prstGeom prst="rect">
            <a:avLst/>
          </a:prstGeom>
          <a:noFill/>
        </p:spPr>
        <p:txBody>
          <a:bodyPr wrap="square" lIns="0" tIns="0" rIns="0" bIns="0" anchor="t">
            <a:spAutoFit/>
          </a:bodyPr>
          <a:lstStyle/>
          <a:p>
            <a:pPr algn="l">
              <a:lnSpc>
                <a:spcPct val="112000"/>
              </a:lnSpc>
              <a:spcAft>
                <a:spcPts val="500"/>
              </a:spcAft>
            </a:pPr>
            <a:r>
              <a:rPr sz="1250" b="1">
                <a:solidFill>
                  <a:srgbClr val="C00000"/>
                </a:solidFill>
                <a:latin typeface="微软雅黑"/>
              </a:rPr>
              <a:t>读数 = 小盘的分 + 大盘的秒</a:t>
            </a:r>
          </a:p>
          <a:p>
            <a:pPr algn="l">
              <a:lnSpc>
                <a:spcPct val="112000"/>
              </a:lnSpc>
              <a:spcAft>
                <a:spcPts val="500"/>
              </a:spcAft>
            </a:pPr>
            <a:r>
              <a:rPr sz="1250" b="0">
                <a:solidFill>
                  <a:srgbClr val="2B2B2B"/>
                </a:solidFill>
                <a:latin typeface="微软雅黑"/>
              </a:rPr>
              <a:t>图中：小盘 3 min + 大盘 10 s</a:t>
            </a:r>
          </a:p>
          <a:p>
            <a:pPr algn="l">
              <a:lnSpc>
                <a:spcPct val="112000"/>
              </a:lnSpc>
              <a:spcAft>
                <a:spcPts val="500"/>
              </a:spcAft>
            </a:pPr>
            <a:r>
              <a:rPr sz="1250" b="0">
                <a:solidFill>
                  <a:srgbClr val="2B2B2B"/>
                </a:solidFill>
                <a:latin typeface="微软雅黑"/>
              </a:rPr>
              <a:t>= 3 min 10 s = </a:t>
            </a:r>
            <a:r>
              <a:rPr sz="1400" b="1">
                <a:solidFill>
                  <a:srgbClr val="C00000"/>
                </a:solidFill>
                <a:latin typeface="微软雅黑"/>
              </a:rPr>
              <a:t>190 s</a:t>
            </a:r>
          </a:p>
        </p:txBody>
      </p:sp>
      <p:sp>
        <p:nvSpPr>
          <p:cNvPr id="6" name="TextBox 5"/>
          <p:cNvSpPr txBox="1"/>
          <p:nvPr/>
        </p:nvSpPr>
        <p:spPr>
          <a:xfrm>
            <a:off x="4663440" y="3108960"/>
            <a:ext cx="3657600" cy="548640"/>
          </a:xfrm>
          <a:prstGeom prst="rect">
            <a:avLst/>
          </a:prstGeom>
          <a:noFill/>
        </p:spPr>
        <p:txBody>
          <a:bodyPr wrap="square" lIns="0" tIns="0" rIns="0" bIns="0" anchor="t">
            <a:spAutoFit/>
          </a:bodyPr>
          <a:lstStyle/>
          <a:p>
            <a:pPr algn="l">
              <a:lnSpc>
                <a:spcPct val="112000"/>
              </a:lnSpc>
              <a:spcAft>
                <a:spcPts val="500"/>
              </a:spcAft>
            </a:pPr>
            <a:r>
              <a:rPr sz="1100" b="0">
                <a:solidFill>
                  <a:srgbClr val="6B6B6B"/>
                </a:solidFill>
                <a:latin typeface="微软雅黑"/>
              </a:rPr>
              <a:t>注意小盘是否过半格，决定大盘按前半圈还是后半圈读</a:t>
            </a:r>
          </a:p>
        </p:txBody>
      </p:sp>
      <p:sp>
        <p:nvSpPr>
          <p:cNvPr id="7" name="Rounded Rectangle 6"/>
          <p:cNvSpPr/>
          <p:nvPr/>
        </p:nvSpPr>
        <p:spPr>
          <a:xfrm>
            <a:off x="822960" y="3977639"/>
            <a:ext cx="7498079" cy="548640"/>
          </a:xfrm>
          <a:prstGeom prst="roundRect">
            <a:avLst>
              <a:gd name="adj" fmla="val 26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977639"/>
            <a:ext cx="7132319" cy="548640"/>
          </a:xfrm>
          <a:prstGeom prst="rect">
            <a:avLst/>
          </a:prstGeom>
          <a:noFill/>
        </p:spPr>
        <p:txBody>
          <a:bodyPr wrap="square" lIns="0" tIns="0" rIns="0" bIns="0" anchor="ctr">
            <a:spAutoFit/>
          </a:bodyPr>
          <a:lstStyle/>
          <a:p>
            <a:pPr algn="ctr">
              <a:lnSpc>
                <a:spcPct val="112000"/>
              </a:lnSpc>
              <a:spcAft>
                <a:spcPts val="500"/>
              </a:spcAft>
            </a:pPr>
            <a:r>
              <a:rPr sz="1300" b="0">
                <a:solidFill>
                  <a:srgbClr val="FFFFFF"/>
                </a:solidFill>
                <a:latin typeface="微软雅黑"/>
              </a:rPr>
              <a:t>机械停表指针『跳』着走 —— 属于跳动式，</a:t>
            </a:r>
            <a:r>
              <a:rPr sz="1400" b="1">
                <a:solidFill>
                  <a:srgbClr val="FFD88A"/>
                </a:solidFill>
                <a:latin typeface="微软雅黑"/>
              </a:rPr>
              <a:t>不估读</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误差 ≠ 错误</a:t>
            </a:r>
          </a:p>
        </p:txBody>
      </p:sp>
      <p:sp>
        <p:nvSpPr>
          <p:cNvPr id="3" name="Rounded Rectangle 2"/>
          <p:cNvSpPr/>
          <p:nvPr/>
        </p:nvSpPr>
        <p:spPr>
          <a:xfrm>
            <a:off x="822960" y="1280160"/>
            <a:ext cx="3611880"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371600"/>
            <a:ext cx="82296" cy="2148839"/>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70432" y="1444752"/>
            <a:ext cx="3108960" cy="384048"/>
          </a:xfrm>
          <a:prstGeom prst="rect">
            <a:avLst/>
          </a:prstGeom>
          <a:noFill/>
        </p:spPr>
        <p:txBody>
          <a:bodyPr wrap="square" lIns="0" tIns="0" rIns="0" bIns="0" anchor="t">
            <a:spAutoFit/>
          </a:bodyPr>
          <a:lstStyle/>
          <a:p>
            <a:pPr algn="l">
              <a:lnSpc>
                <a:spcPct val="112000"/>
              </a:lnSpc>
              <a:spcAft>
                <a:spcPts val="500"/>
              </a:spcAft>
            </a:pPr>
            <a:r>
              <a:rPr sz="1600" b="1">
                <a:solidFill>
                  <a:srgbClr val="C00000"/>
                </a:solidFill>
                <a:latin typeface="微软雅黑"/>
              </a:rPr>
              <a:t>误差</a:t>
            </a:r>
          </a:p>
        </p:txBody>
      </p:sp>
      <p:sp>
        <p:nvSpPr>
          <p:cNvPr id="6" name="TextBox 5"/>
          <p:cNvSpPr txBox="1"/>
          <p:nvPr/>
        </p:nvSpPr>
        <p:spPr>
          <a:xfrm>
            <a:off x="1170432" y="1847088"/>
            <a:ext cx="3108960" cy="384048"/>
          </a:xfrm>
          <a:prstGeom prst="rect">
            <a:avLst/>
          </a:prstGeom>
          <a:noFill/>
        </p:spPr>
        <p:txBody>
          <a:bodyPr wrap="square" lIns="0" tIns="0" rIns="0" bIns="0" anchor="t">
            <a:spAutoFit/>
          </a:bodyPr>
          <a:lstStyle/>
          <a:p>
            <a:pPr algn="l">
              <a:lnSpc>
                <a:spcPct val="112000"/>
              </a:lnSpc>
              <a:spcAft>
                <a:spcPts val="500"/>
              </a:spcAft>
            </a:pPr>
            <a:r>
              <a:rPr sz="1250" b="1">
                <a:solidFill>
                  <a:srgbClr val="2B2B2B"/>
                </a:solidFill>
                <a:latin typeface="微软雅黑"/>
              </a:rPr>
              <a:t>不可避免，只能减小</a:t>
            </a:r>
          </a:p>
        </p:txBody>
      </p:sp>
      <p:sp>
        <p:nvSpPr>
          <p:cNvPr id="7" name="TextBox 6"/>
          <p:cNvSpPr txBox="1"/>
          <p:nvPr/>
        </p:nvSpPr>
        <p:spPr>
          <a:xfrm>
            <a:off x="1170432" y="2249424"/>
            <a:ext cx="3108960" cy="566928"/>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来源：工具精度有限、估读、环境影响</a:t>
            </a:r>
          </a:p>
        </p:txBody>
      </p:sp>
      <p:sp>
        <p:nvSpPr>
          <p:cNvPr id="8" name="TextBox 7"/>
          <p:cNvSpPr txBox="1"/>
          <p:nvPr/>
        </p:nvSpPr>
        <p:spPr>
          <a:xfrm>
            <a:off x="1170432" y="2834640"/>
            <a:ext cx="3108960" cy="68580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减小办法：多次测量取</a:t>
            </a:r>
            <a:r>
              <a:rPr sz="1200" b="1">
                <a:solidFill>
                  <a:srgbClr val="C00000"/>
                </a:solidFill>
                <a:latin typeface="微软雅黑"/>
              </a:rPr>
              <a:t>平均值</a:t>
            </a:r>
            <a:r>
              <a:rPr sz="1150" b="0">
                <a:solidFill>
                  <a:srgbClr val="2B2B2B"/>
                </a:solidFill>
                <a:latin typeface="微软雅黑"/>
              </a:rPr>
              <a:t>、换精密仪器、改进方法</a:t>
            </a:r>
          </a:p>
        </p:txBody>
      </p:sp>
      <p:sp>
        <p:nvSpPr>
          <p:cNvPr id="9" name="Rounded Rectangle 8"/>
          <p:cNvSpPr/>
          <p:nvPr/>
        </p:nvSpPr>
        <p:spPr>
          <a:xfrm>
            <a:off x="4709160" y="1280160"/>
            <a:ext cx="3611880" cy="23317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709160" y="1371600"/>
            <a:ext cx="82296" cy="2148839"/>
          </a:xfrm>
          <a:prstGeom prst="roundRect">
            <a:avLst>
              <a:gd name="adj" fmla="val 50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6632" y="1444752"/>
            <a:ext cx="3108960" cy="384048"/>
          </a:xfrm>
          <a:prstGeom prst="rect">
            <a:avLst/>
          </a:prstGeom>
          <a:noFill/>
        </p:spPr>
        <p:txBody>
          <a:bodyPr wrap="square" lIns="0" tIns="0" rIns="0" bIns="0" anchor="t">
            <a:spAutoFit/>
          </a:bodyPr>
          <a:lstStyle/>
          <a:p>
            <a:pPr algn="l">
              <a:lnSpc>
                <a:spcPct val="112000"/>
              </a:lnSpc>
              <a:spcAft>
                <a:spcPts val="500"/>
              </a:spcAft>
            </a:pPr>
            <a:r>
              <a:rPr sz="1600" b="1">
                <a:solidFill>
                  <a:srgbClr val="1E3A5C"/>
                </a:solidFill>
                <a:latin typeface="微软雅黑"/>
              </a:rPr>
              <a:t>错误</a:t>
            </a:r>
          </a:p>
        </p:txBody>
      </p:sp>
      <p:sp>
        <p:nvSpPr>
          <p:cNvPr id="12" name="TextBox 11"/>
          <p:cNvSpPr txBox="1"/>
          <p:nvPr/>
        </p:nvSpPr>
        <p:spPr>
          <a:xfrm>
            <a:off x="5056632" y="1847088"/>
            <a:ext cx="3108960" cy="384048"/>
          </a:xfrm>
          <a:prstGeom prst="rect">
            <a:avLst/>
          </a:prstGeom>
          <a:noFill/>
        </p:spPr>
        <p:txBody>
          <a:bodyPr wrap="square" lIns="0" tIns="0" rIns="0" bIns="0" anchor="t">
            <a:spAutoFit/>
          </a:bodyPr>
          <a:lstStyle/>
          <a:p>
            <a:pPr algn="l">
              <a:lnSpc>
                <a:spcPct val="112000"/>
              </a:lnSpc>
              <a:spcAft>
                <a:spcPts val="500"/>
              </a:spcAft>
            </a:pPr>
            <a:r>
              <a:rPr sz="1250" b="1">
                <a:solidFill>
                  <a:srgbClr val="2B2B2B"/>
                </a:solidFill>
                <a:latin typeface="微软雅黑"/>
              </a:rPr>
              <a:t>本不该发生，必须改正</a:t>
            </a:r>
          </a:p>
        </p:txBody>
      </p:sp>
      <p:sp>
        <p:nvSpPr>
          <p:cNvPr id="13" name="TextBox 12"/>
          <p:cNvSpPr txBox="1"/>
          <p:nvPr/>
        </p:nvSpPr>
        <p:spPr>
          <a:xfrm>
            <a:off x="5056632" y="2249424"/>
            <a:ext cx="3108960" cy="566928"/>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例如：视线不垂直（斜视）、没对准零刻度、忘写单位</a:t>
            </a:r>
          </a:p>
        </p:txBody>
      </p:sp>
      <p:sp>
        <p:nvSpPr>
          <p:cNvPr id="14" name="TextBox 13"/>
          <p:cNvSpPr txBox="1"/>
          <p:nvPr/>
        </p:nvSpPr>
        <p:spPr>
          <a:xfrm>
            <a:off x="5056632" y="2834640"/>
            <a:ext cx="3108960" cy="68580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只要操作规范，错误可以</a:t>
            </a:r>
            <a:r>
              <a:rPr sz="1200" b="1">
                <a:solidFill>
                  <a:srgbClr val="1E3A5C"/>
                </a:solidFill>
                <a:latin typeface="微软雅黑"/>
              </a:rPr>
              <a:t>完全避免</a:t>
            </a:r>
          </a:p>
        </p:txBody>
      </p:sp>
      <p:sp>
        <p:nvSpPr>
          <p:cNvPr id="15" name="Rounded Rectangle 14"/>
          <p:cNvSpPr/>
          <p:nvPr/>
        </p:nvSpPr>
        <p:spPr>
          <a:xfrm>
            <a:off x="1463040" y="3977639"/>
            <a:ext cx="6217920"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45920" y="3977639"/>
            <a:ext cx="5852159" cy="548640"/>
          </a:xfrm>
          <a:prstGeom prst="rect">
            <a:avLst/>
          </a:prstGeom>
          <a:noFill/>
        </p:spPr>
        <p:txBody>
          <a:bodyPr wrap="square" lIns="0" tIns="0" rIns="0" bIns="0" anchor="ctr">
            <a:spAutoFit/>
          </a:bodyPr>
          <a:lstStyle/>
          <a:p>
            <a:pPr algn="ctr">
              <a:lnSpc>
                <a:spcPct val="112000"/>
              </a:lnSpc>
              <a:spcAft>
                <a:spcPts val="500"/>
              </a:spcAft>
            </a:pPr>
            <a:r>
              <a:rPr sz="1400" b="1">
                <a:solidFill>
                  <a:srgbClr val="FFFFFF"/>
                </a:solidFill>
                <a:latin typeface="微软雅黑"/>
              </a:rPr>
              <a:t>多次测量取平均值，减小的是误差，改不了错误</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动手：测一测，记一记</a:t>
            </a:r>
          </a:p>
        </p:txBody>
      </p:sp>
      <p:sp>
        <p:nvSpPr>
          <p:cNvPr id="3" name="Rounded Rectangle 2"/>
          <p:cNvSpPr/>
          <p:nvPr/>
        </p:nvSpPr>
        <p:spPr>
          <a:xfrm>
            <a:off x="822960" y="1280160"/>
            <a:ext cx="4846320"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371600"/>
            <a:ext cx="82296" cy="54864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70432" y="1380744"/>
            <a:ext cx="4389120" cy="329184"/>
          </a:xfrm>
          <a:prstGeom prst="rect">
            <a:avLst/>
          </a:prstGeom>
          <a:noFill/>
        </p:spPr>
        <p:txBody>
          <a:bodyPr wrap="square" lIns="0" tIns="0" rIns="0" bIns="0" anchor="t">
            <a:spAutoFit/>
          </a:bodyPr>
          <a:lstStyle/>
          <a:p>
            <a:pPr algn="l">
              <a:lnSpc>
                <a:spcPct val="112000"/>
              </a:lnSpc>
              <a:spcAft>
                <a:spcPts val="500"/>
              </a:spcAft>
            </a:pPr>
            <a:r>
              <a:rPr sz="1350" b="1">
                <a:solidFill>
                  <a:srgbClr val="2B2B2B"/>
                </a:solidFill>
                <a:latin typeface="微软雅黑"/>
              </a:rPr>
              <a:t>① 测课本的长和宽</a:t>
            </a:r>
          </a:p>
        </p:txBody>
      </p:sp>
      <p:sp>
        <p:nvSpPr>
          <p:cNvPr id="6" name="TextBox 5"/>
          <p:cNvSpPr txBox="1"/>
          <p:nvPr/>
        </p:nvSpPr>
        <p:spPr>
          <a:xfrm>
            <a:off x="1170432" y="1691639"/>
            <a:ext cx="4389120" cy="292608"/>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用刻度尺，每人测 3 次，取平均值</a:t>
            </a:r>
          </a:p>
        </p:txBody>
      </p:sp>
      <p:sp>
        <p:nvSpPr>
          <p:cNvPr id="7" name="Rounded Rectangle 6"/>
          <p:cNvSpPr/>
          <p:nvPr/>
        </p:nvSpPr>
        <p:spPr>
          <a:xfrm>
            <a:off x="822960" y="2121408"/>
            <a:ext cx="4846320"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2212848"/>
            <a:ext cx="82296" cy="54864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2221991"/>
            <a:ext cx="4389120" cy="329184"/>
          </a:xfrm>
          <a:prstGeom prst="rect">
            <a:avLst/>
          </a:prstGeom>
          <a:noFill/>
        </p:spPr>
        <p:txBody>
          <a:bodyPr wrap="square" lIns="0" tIns="0" rIns="0" bIns="0" anchor="t">
            <a:spAutoFit/>
          </a:bodyPr>
          <a:lstStyle/>
          <a:p>
            <a:pPr algn="l">
              <a:lnSpc>
                <a:spcPct val="112000"/>
              </a:lnSpc>
              <a:spcAft>
                <a:spcPts val="500"/>
              </a:spcAft>
            </a:pPr>
            <a:r>
              <a:rPr sz="1350" b="1">
                <a:solidFill>
                  <a:srgbClr val="2B2B2B"/>
                </a:solidFill>
                <a:latin typeface="微软雅黑"/>
              </a:rPr>
              <a:t>② 测一张纸的厚度</a:t>
            </a:r>
          </a:p>
        </p:txBody>
      </p:sp>
      <p:sp>
        <p:nvSpPr>
          <p:cNvPr id="10" name="TextBox 9"/>
          <p:cNvSpPr txBox="1"/>
          <p:nvPr/>
        </p:nvSpPr>
        <p:spPr>
          <a:xfrm>
            <a:off x="1170432" y="2532888"/>
            <a:ext cx="4389120" cy="292608"/>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积累法：量 100 张总厚度 ÷ 100</a:t>
            </a:r>
          </a:p>
        </p:txBody>
      </p:sp>
      <p:sp>
        <p:nvSpPr>
          <p:cNvPr id="11" name="Rounded Rectangle 10"/>
          <p:cNvSpPr/>
          <p:nvPr/>
        </p:nvSpPr>
        <p:spPr>
          <a:xfrm>
            <a:off x="822960" y="2962656"/>
            <a:ext cx="4846320"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22960" y="3054096"/>
            <a:ext cx="82296" cy="548640"/>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3063240"/>
            <a:ext cx="4389120" cy="329184"/>
          </a:xfrm>
          <a:prstGeom prst="rect">
            <a:avLst/>
          </a:prstGeom>
          <a:noFill/>
        </p:spPr>
        <p:txBody>
          <a:bodyPr wrap="square" lIns="0" tIns="0" rIns="0" bIns="0" anchor="t">
            <a:spAutoFit/>
          </a:bodyPr>
          <a:lstStyle/>
          <a:p>
            <a:pPr algn="l">
              <a:lnSpc>
                <a:spcPct val="112000"/>
              </a:lnSpc>
              <a:spcAft>
                <a:spcPts val="500"/>
              </a:spcAft>
            </a:pPr>
            <a:r>
              <a:rPr sz="1350" b="1">
                <a:solidFill>
                  <a:srgbClr val="2B2B2B"/>
                </a:solidFill>
                <a:latin typeface="微软雅黑"/>
              </a:rPr>
              <a:t>③ 测 10 次脉搏的时间</a:t>
            </a:r>
          </a:p>
        </p:txBody>
      </p:sp>
      <p:sp>
        <p:nvSpPr>
          <p:cNvPr id="14" name="TextBox 13"/>
          <p:cNvSpPr txBox="1"/>
          <p:nvPr/>
        </p:nvSpPr>
        <p:spPr>
          <a:xfrm>
            <a:off x="1170432" y="3374136"/>
            <a:ext cx="4389120" cy="292608"/>
          </a:xfrm>
          <a:prstGeom prst="rect">
            <a:avLst/>
          </a:prstGeom>
          <a:noFill/>
        </p:spPr>
        <p:txBody>
          <a:bodyPr wrap="square" lIns="0" tIns="0" rIns="0" bIns="0" anchor="t">
            <a:spAutoFit/>
          </a:bodyPr>
          <a:lstStyle/>
          <a:p>
            <a:pPr algn="l">
              <a:lnSpc>
                <a:spcPct val="112000"/>
              </a:lnSpc>
              <a:spcAft>
                <a:spcPts val="500"/>
              </a:spcAft>
            </a:pPr>
            <a:r>
              <a:rPr sz="1150" b="0">
                <a:solidFill>
                  <a:srgbClr val="6B6B6B"/>
                </a:solidFill>
                <a:latin typeface="微软雅黑"/>
              </a:rPr>
              <a:t>用停表，算出 1 次脉搏约多少秒</a:t>
            </a:r>
          </a:p>
        </p:txBody>
      </p:sp>
      <p:sp>
        <p:nvSpPr>
          <p:cNvPr id="15" name="Rounded Rectangle 14"/>
          <p:cNvSpPr/>
          <p:nvPr/>
        </p:nvSpPr>
        <p:spPr>
          <a:xfrm>
            <a:off x="5897880" y="1280160"/>
            <a:ext cx="2606040" cy="241401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897880" y="1371600"/>
            <a:ext cx="82296" cy="2231136"/>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444752"/>
            <a:ext cx="2148840" cy="365760"/>
          </a:xfrm>
          <a:prstGeom prst="rect">
            <a:avLst/>
          </a:prstGeom>
          <a:noFill/>
        </p:spPr>
        <p:txBody>
          <a:bodyPr wrap="square" lIns="0" tIns="0" rIns="0" bIns="0" anchor="t">
            <a:spAutoFit/>
          </a:bodyPr>
          <a:lstStyle/>
          <a:p>
            <a:pPr algn="l">
              <a:lnSpc>
                <a:spcPct val="112000"/>
              </a:lnSpc>
              <a:spcAft>
                <a:spcPts val="500"/>
              </a:spcAft>
            </a:pPr>
            <a:r>
              <a:rPr sz="1350" b="1">
                <a:solidFill>
                  <a:srgbClr val="E8922A"/>
                </a:solidFill>
                <a:latin typeface="微软雅黑"/>
              </a:rPr>
              <a:t>记录要求</a:t>
            </a:r>
          </a:p>
        </p:txBody>
      </p:sp>
      <p:sp>
        <p:nvSpPr>
          <p:cNvPr id="18" name="TextBox 17"/>
          <p:cNvSpPr txBox="1"/>
          <p:nvPr/>
        </p:nvSpPr>
        <p:spPr>
          <a:xfrm>
            <a:off x="6217920" y="1828800"/>
            <a:ext cx="2148840" cy="173736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 结果必须带单位</a:t>
            </a:r>
          </a:p>
          <a:p>
            <a:pPr algn="l">
              <a:lnSpc>
                <a:spcPct val="112000"/>
              </a:lnSpc>
              <a:spcAft>
                <a:spcPts val="500"/>
              </a:spcAft>
            </a:pPr>
            <a:r>
              <a:rPr sz="1150" b="0">
                <a:solidFill>
                  <a:srgbClr val="2B2B2B"/>
                </a:solidFill>
                <a:latin typeface="微软雅黑"/>
              </a:rPr>
              <a:t>· 刻度尺读数别漏估读位</a:t>
            </a:r>
          </a:p>
          <a:p>
            <a:pPr algn="l">
              <a:lnSpc>
                <a:spcPct val="112000"/>
              </a:lnSpc>
              <a:spcAft>
                <a:spcPts val="500"/>
              </a:spcAft>
            </a:pPr>
            <a:r>
              <a:rPr sz="1150" b="0">
                <a:solidFill>
                  <a:srgbClr val="2B2B2B"/>
                </a:solidFill>
                <a:latin typeface="微软雅黑"/>
              </a:rPr>
              <a:t>· 三次数据 + 平均值都记录</a:t>
            </a:r>
          </a:p>
          <a:p>
            <a:pPr algn="l">
              <a:lnSpc>
                <a:spcPct val="112000"/>
              </a:lnSpc>
              <a:spcAft>
                <a:spcPts val="500"/>
              </a:spcAft>
            </a:pPr>
            <a:r>
              <a:rPr sz="1150" b="0">
                <a:solidFill>
                  <a:srgbClr val="2B2B2B"/>
                </a:solidFill>
                <a:latin typeface="微软雅黑"/>
              </a:rPr>
              <a:t>· 停表读数不估读</a:t>
            </a:r>
          </a:p>
        </p:txBody>
      </p:sp>
      <p:sp>
        <p:nvSpPr>
          <p:cNvPr id="19" name="Rounded Rectangle 18"/>
          <p:cNvSpPr/>
          <p:nvPr/>
        </p:nvSpPr>
        <p:spPr>
          <a:xfrm>
            <a:off x="1371600" y="4041648"/>
            <a:ext cx="6400800" cy="548640"/>
          </a:xfrm>
          <a:prstGeom prst="roundRect">
            <a:avLst>
              <a:gd name="adj" fmla="val 26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554480" y="4041648"/>
            <a:ext cx="6035040" cy="548640"/>
          </a:xfrm>
          <a:prstGeom prst="rect">
            <a:avLst/>
          </a:prstGeom>
          <a:noFill/>
        </p:spPr>
        <p:txBody>
          <a:bodyPr wrap="square" lIns="0" tIns="0" rIns="0" bIns="0" anchor="ctr">
            <a:spAutoFit/>
          </a:bodyPr>
          <a:lstStyle/>
          <a:p>
            <a:pPr algn="ctr">
              <a:lnSpc>
                <a:spcPct val="112000"/>
              </a:lnSpc>
              <a:spcAft>
                <a:spcPts val="500"/>
              </a:spcAft>
            </a:pPr>
            <a:r>
              <a:rPr sz="1350" b="1">
                <a:solidFill>
                  <a:srgbClr val="FFFFFF"/>
                </a:solidFill>
                <a:latin typeface="微软雅黑"/>
              </a:rPr>
              <a:t>讨论：三次结果为什么不完全一样？这是误差还是错误？</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sz="2300" b="1">
                <a:solidFill>
                  <a:srgbClr val="C00000"/>
                </a:solidFill>
              </a:rPr>
              <a:t>一页带走 · 本课要点</a:t>
            </a:r>
          </a:p>
        </p:txBody>
      </p:sp>
      <p:sp>
        <p:nvSpPr>
          <p:cNvPr id="3" name="Rounded Rectangle 2"/>
          <p:cNvSpPr/>
          <p:nvPr/>
        </p:nvSpPr>
        <p:spPr>
          <a:xfrm>
            <a:off x="822960" y="1280160"/>
            <a:ext cx="3794760" cy="11704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22960" y="1371600"/>
            <a:ext cx="82296" cy="987552"/>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 y="1426463"/>
            <a:ext cx="3383280" cy="384048"/>
          </a:xfrm>
          <a:prstGeom prst="rect">
            <a:avLst/>
          </a:prstGeom>
          <a:noFill/>
        </p:spPr>
        <p:txBody>
          <a:bodyPr wrap="square" lIns="0" tIns="0" rIns="0" bIns="0" anchor="t">
            <a:spAutoFit/>
          </a:bodyPr>
          <a:lstStyle/>
          <a:p>
            <a:pPr algn="l">
              <a:lnSpc>
                <a:spcPct val="112000"/>
              </a:lnSpc>
              <a:spcAft>
                <a:spcPts val="500"/>
              </a:spcAft>
            </a:pPr>
            <a:r>
              <a:rPr sz="1400" b="1">
                <a:solidFill>
                  <a:srgbClr val="C00000"/>
                </a:solidFill>
                <a:latin typeface="微软雅黑"/>
              </a:rPr>
              <a:t>测量 = 比较</a:t>
            </a:r>
          </a:p>
        </p:txBody>
      </p:sp>
      <p:sp>
        <p:nvSpPr>
          <p:cNvPr id="6" name="TextBox 5"/>
          <p:cNvSpPr txBox="1"/>
          <p:nvPr/>
        </p:nvSpPr>
        <p:spPr>
          <a:xfrm>
            <a:off x="1115568" y="1828800"/>
            <a:ext cx="3383280" cy="54864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结果必须『数值 + 单位』，单位是比较的标准</a:t>
            </a:r>
          </a:p>
        </p:txBody>
      </p:sp>
      <p:sp>
        <p:nvSpPr>
          <p:cNvPr id="7" name="Rounded Rectangle 6"/>
          <p:cNvSpPr/>
          <p:nvPr/>
        </p:nvSpPr>
        <p:spPr>
          <a:xfrm>
            <a:off x="4846320" y="1280160"/>
            <a:ext cx="3794760" cy="11704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846320" y="1371600"/>
            <a:ext cx="82296" cy="987552"/>
          </a:xfrm>
          <a:prstGeom prst="roundRect">
            <a:avLst>
              <a:gd name="adj" fmla="val 50000"/>
            </a:avLst>
          </a:prstGeom>
          <a:solidFill>
            <a:srgbClr val="E89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138928" y="1426463"/>
            <a:ext cx="3383280" cy="384048"/>
          </a:xfrm>
          <a:prstGeom prst="rect">
            <a:avLst/>
          </a:prstGeom>
          <a:noFill/>
        </p:spPr>
        <p:txBody>
          <a:bodyPr wrap="square" lIns="0" tIns="0" rIns="0" bIns="0" anchor="t">
            <a:spAutoFit/>
          </a:bodyPr>
          <a:lstStyle/>
          <a:p>
            <a:pPr algn="l">
              <a:lnSpc>
                <a:spcPct val="112000"/>
              </a:lnSpc>
              <a:spcAft>
                <a:spcPts val="500"/>
              </a:spcAft>
            </a:pPr>
            <a:r>
              <a:rPr sz="1400" b="1">
                <a:solidFill>
                  <a:srgbClr val="E8922A"/>
                </a:solidFill>
                <a:latin typeface="微软雅黑"/>
              </a:rPr>
              <a:t>为什么估读</a:t>
            </a:r>
          </a:p>
        </p:txBody>
      </p:sp>
      <p:sp>
        <p:nvSpPr>
          <p:cNvPr id="10" name="TextBox 9"/>
          <p:cNvSpPr txBox="1"/>
          <p:nvPr/>
        </p:nvSpPr>
        <p:spPr>
          <a:xfrm>
            <a:off x="5138928" y="1828800"/>
            <a:ext cx="3383280" cy="54864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量是连续的、刻度是离散的，估一位更逼近真实</a:t>
            </a:r>
          </a:p>
        </p:txBody>
      </p:sp>
      <p:sp>
        <p:nvSpPr>
          <p:cNvPr id="11" name="Rounded Rectangle 10"/>
          <p:cNvSpPr/>
          <p:nvPr/>
        </p:nvSpPr>
        <p:spPr>
          <a:xfrm>
            <a:off x="822960" y="2578608"/>
            <a:ext cx="3794760" cy="11704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822960" y="2670048"/>
            <a:ext cx="82296" cy="987552"/>
          </a:xfrm>
          <a:prstGeom prst="roundRect">
            <a:avLst>
              <a:gd name="adj" fmla="val 50000"/>
            </a:avLst>
          </a:prstGeom>
          <a:solidFill>
            <a:srgbClr val="4A7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2724912"/>
            <a:ext cx="3383280" cy="384048"/>
          </a:xfrm>
          <a:prstGeom prst="rect">
            <a:avLst/>
          </a:prstGeom>
          <a:noFill/>
        </p:spPr>
        <p:txBody>
          <a:bodyPr wrap="square" lIns="0" tIns="0" rIns="0" bIns="0" anchor="t">
            <a:spAutoFit/>
          </a:bodyPr>
          <a:lstStyle/>
          <a:p>
            <a:pPr algn="l">
              <a:lnSpc>
                <a:spcPct val="112000"/>
              </a:lnSpc>
              <a:spcAft>
                <a:spcPts val="500"/>
              </a:spcAft>
            </a:pPr>
            <a:r>
              <a:rPr sz="1400" b="1">
                <a:solidFill>
                  <a:srgbClr val="4A7DB5"/>
                </a:solidFill>
                <a:latin typeface="微软雅黑"/>
              </a:rPr>
              <a:t>要不要估读，看原理</a:t>
            </a:r>
          </a:p>
        </p:txBody>
      </p:sp>
      <p:sp>
        <p:nvSpPr>
          <p:cNvPr id="14" name="TextBox 13"/>
          <p:cNvSpPr txBox="1"/>
          <p:nvPr/>
        </p:nvSpPr>
        <p:spPr>
          <a:xfrm>
            <a:off x="1115568" y="3127248"/>
            <a:ext cx="3383280" cy="54864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连续刻度要估；游标卡尺、数字式、停表不估；千分尺必估</a:t>
            </a:r>
          </a:p>
        </p:txBody>
      </p:sp>
      <p:sp>
        <p:nvSpPr>
          <p:cNvPr id="15" name="Rounded Rectangle 14"/>
          <p:cNvSpPr/>
          <p:nvPr/>
        </p:nvSpPr>
        <p:spPr>
          <a:xfrm>
            <a:off x="4846320" y="2578608"/>
            <a:ext cx="3794760" cy="1170432"/>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846320" y="2670048"/>
            <a:ext cx="82296" cy="987552"/>
          </a:xfrm>
          <a:prstGeom prst="roundRect">
            <a:avLst>
              <a:gd name="adj" fmla="val 50000"/>
            </a:avLst>
          </a:prstGeom>
          <a:solidFill>
            <a:srgbClr val="1E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2724912"/>
            <a:ext cx="3383280" cy="384048"/>
          </a:xfrm>
          <a:prstGeom prst="rect">
            <a:avLst/>
          </a:prstGeom>
          <a:noFill/>
        </p:spPr>
        <p:txBody>
          <a:bodyPr wrap="square" lIns="0" tIns="0" rIns="0" bIns="0" anchor="t">
            <a:spAutoFit/>
          </a:bodyPr>
          <a:lstStyle/>
          <a:p>
            <a:pPr algn="l">
              <a:lnSpc>
                <a:spcPct val="112000"/>
              </a:lnSpc>
              <a:spcAft>
                <a:spcPts val="500"/>
              </a:spcAft>
            </a:pPr>
            <a:r>
              <a:rPr sz="1400" b="1">
                <a:solidFill>
                  <a:srgbClr val="1E3A5C"/>
                </a:solidFill>
                <a:latin typeface="微软雅黑"/>
              </a:rPr>
              <a:t>误差 ≠ 错误</a:t>
            </a:r>
          </a:p>
        </p:txBody>
      </p:sp>
      <p:sp>
        <p:nvSpPr>
          <p:cNvPr id="18" name="TextBox 17"/>
          <p:cNvSpPr txBox="1"/>
          <p:nvPr/>
        </p:nvSpPr>
        <p:spPr>
          <a:xfrm>
            <a:off x="5138928" y="3127248"/>
            <a:ext cx="3383280" cy="548640"/>
          </a:xfrm>
          <a:prstGeom prst="rect">
            <a:avLst/>
          </a:prstGeom>
          <a:noFill/>
        </p:spPr>
        <p:txBody>
          <a:bodyPr wrap="square" lIns="0" tIns="0" rIns="0" bIns="0" anchor="t">
            <a:spAutoFit/>
          </a:bodyPr>
          <a:lstStyle/>
          <a:p>
            <a:pPr algn="l">
              <a:lnSpc>
                <a:spcPct val="112000"/>
              </a:lnSpc>
              <a:spcAft>
                <a:spcPts val="500"/>
              </a:spcAft>
            </a:pPr>
            <a:r>
              <a:rPr sz="1150" b="0">
                <a:solidFill>
                  <a:srgbClr val="2B2B2B"/>
                </a:solidFill>
                <a:latin typeface="微软雅黑"/>
              </a:rPr>
              <a:t>误差只能减小（取平均），错误必须改正</a:t>
            </a:r>
          </a:p>
        </p:txBody>
      </p:sp>
      <p:sp>
        <p:nvSpPr>
          <p:cNvPr id="19" name="Rounded Rectangle 18"/>
          <p:cNvSpPr/>
          <p:nvPr/>
        </p:nvSpPr>
        <p:spPr>
          <a:xfrm>
            <a:off x="1737360" y="4041648"/>
            <a:ext cx="5669280" cy="548640"/>
          </a:xfrm>
          <a:prstGeom prst="roundRect">
            <a:avLst>
              <a:gd name="adj" fmla="val 2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920240" y="4041648"/>
            <a:ext cx="5303520" cy="548640"/>
          </a:xfrm>
          <a:prstGeom prst="rect">
            <a:avLst/>
          </a:prstGeom>
          <a:noFill/>
        </p:spPr>
        <p:txBody>
          <a:bodyPr wrap="square" lIns="0" tIns="0" rIns="0" bIns="0" anchor="ctr">
            <a:spAutoFit/>
          </a:bodyPr>
          <a:lstStyle/>
          <a:p>
            <a:pPr algn="ctr">
              <a:lnSpc>
                <a:spcPct val="112000"/>
              </a:lnSpc>
              <a:spcAft>
                <a:spcPts val="500"/>
              </a:spcAft>
            </a:pPr>
            <a:r>
              <a:rPr sz="1350" b="1">
                <a:solidFill>
                  <a:srgbClr val="FFFFFF"/>
                </a:solidFill>
                <a:latin typeface="微软雅黑"/>
              </a:rPr>
              <a:t>下一课预告：用好这些『尺』，去测量运动 —— 速度</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4220</TotalTime>
  <Words>5293</Words>
  <Application>Microsoft Office PowerPoint</Application>
  <PresentationFormat>全屏显示(16:9)</PresentationFormat>
  <Paragraphs>412</Paragraphs>
  <Slides>22</Slides>
  <Notes>4</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22</vt:i4>
      </vt:variant>
    </vt:vector>
  </HeadingPairs>
  <TitlesOfParts>
    <vt:vector size="28" baseType="lpstr">
      <vt:lpstr>Microsoft YaHei</vt:lpstr>
      <vt:lpstr>Microsoft YaHei</vt:lpstr>
      <vt:lpstr>Arial</vt:lpstr>
      <vt:lpstr>Consolas</vt:lpstr>
      <vt:lpstr>Office Theme</vt:lpstr>
      <vt:lpstr>自定义设计方案</vt:lpstr>
      <vt:lpstr>初级物理 · 长度/时间的测量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钰钧 靳</cp:lastModifiedBy>
  <cp:revision>27</cp:revision>
  <dcterms:created xsi:type="dcterms:W3CDTF">2026-05-28T07:48:24Z</dcterms:created>
  <dcterms:modified xsi:type="dcterms:W3CDTF">2026-07-15T00:33:51Z</dcterms:modified>
</cp:coreProperties>
</file>